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2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3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4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c6d7aff2-2d76-48fe-603b-93d9a6b53260}">
          <p14:sldIdLst>
            <p14:sldId id="256"/>
            <p14:sldId id="257"/>
          </p14:sldIdLst>
        </p14:section>
        <p14:section name="Introdução" id="{ce67a014-a57b-b01f-3ba3-3a634784cc75}">
          <p14:sldIdLst>
            <p14:sldId id="258"/>
            <p14:sldId id="259"/>
            <p14:sldId id="260"/>
          </p14:sldIdLst>
        </p14:section>
        <p14:section name="Revisão da literatura" id="{5507edbe-414a-799b-16a9-6453be90a794}">
          <p14:sldIdLst>
            <p14:sldId id="261"/>
          </p14:sldIdLst>
        </p14:section>
        <p14:section name="Metodologia" id="{181c0ce3-936a-0f3f-5d9d-7a017368a933}">
          <p14:sldIdLst>
            <p14:sldId id="262"/>
            <p14:sldId id="263"/>
            <p14:sldId id="264"/>
          </p14:sldIdLst>
        </p14:section>
        <p14:section name="Resultados" id="{2abfb4e2-5d7d-0093-57d5-a0627dda8215}">
          <p14:sldIdLst>
            <p14:sldId id="265"/>
            <p14:sldId id="266"/>
            <p14:sldId id="267"/>
            <p14:sldId id="268"/>
            <p14:sldId id="269"/>
          </p14:sldIdLst>
        </p14:section>
        <p14:section name="Sistema" id="{6660c81a-b5ad-7408-4f01-5b13f6fa4633}">
          <p14:sldIdLst>
            <p14:sldId id="270"/>
            <p14:sldId id="271"/>
          </p14:sldIdLst>
        </p14:section>
        <p14:section name="Conclusões" id="{b6c6fb05-20b3-bf72-6287-33e8628d4cd8}">
          <p14:sldIdLst>
            <p14:sldId id="272"/>
            <p14:sldId id="273"/>
            <p14:sldId id="274"/>
            <p14:sldId id="275"/>
          </p14:sldIdLst>
        </p14:section>
        <p14:section name="Reserva" id="{248be05e-9cb4-3c3f-619b-65cc56626a55}">
          <p14:sldIdLst>
            <p14:sldId id="276"/>
            <p14:sldId id="277"/>
            <p14:sldId id="27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Publicações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8FA3B8"/>
              </a:solidFill>
              <a:effectLst/>
            </c:spPr>
          </c:dPt>
          <c:dPt>
            <c:idx val="1"/>
            <c:bubble3D val="0"/>
            <c:spPr>
              <a:solidFill>
                <a:srgbClr val="C8102E"/>
              </a:solidFill>
              <a:effectLst/>
            </c:spPr>
          </c:dPt>
          <c:dPt>
            <c:idx val="2"/>
            <c:bubble3D val="0"/>
            <c:spPr>
              <a:solidFill>
                <a:srgbClr val="E8B931"/>
              </a:solidFill>
              <a:effectLst/>
            </c:spPr>
          </c:dPt>
          <c:dPt>
            <c:idx val="3"/>
            <c:bubble3D val="0"/>
            <c:spPr>
              <a:solidFill>
                <a:srgbClr val="2E6F9E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numFmt formatCode="General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Normal</c:v>
                </c:pt>
                <c:pt idx="1">
                  <c:v>Mobilização Hostil</c:v>
                </c:pt>
                <c:pt idx="2">
                  <c:v>Desinformação</c:v>
                </c:pt>
                <c:pt idx="3">
                  <c:v>Discurso de Ódio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1664</c:v>
                </c:pt>
                <c:pt idx="1">
                  <c:v>364</c:v>
                </c:pt>
                <c:pt idx="2">
                  <c:v>326</c:v>
                </c:pt>
                <c:pt idx="3">
                  <c:v>283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200">
              <a:solidFill>
                <a:srgbClr val="1B2733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F1-macro</c:v>
                </c:pt>
              </c:strCache>
            </c:strRef>
          </c:tx>
          <c:spPr>
            <a:solidFill>
              <a:srgbClr val="8FA3B8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1B27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FA3B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FA3B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E6F9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02A43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SVM</c:v>
                  </c:pt>
                  <c:pt idx="1">
                    <c:v>Floresta Aleatória</c:v>
                  </c:pt>
                  <c:pt idx="2">
                    <c:v>Bi-LSTM</c:v>
                  </c:pt>
                  <c:pt idx="3">
                    <c:v>BERTimbau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0.633</c:v>
                </c:pt>
                <c:pt idx="1">
                  <c:v>0.659</c:v>
                </c:pt>
                <c:pt idx="2">
                  <c:v>0.66</c:v>
                </c:pt>
                <c:pt idx="3">
                  <c:v>0.807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1" i="0" strike="noStrike" sz="1400" u="none">
                  <a:solidFill>
                    <a:srgbClr val="1B2733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B273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E3E8EF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5B6B7F"/>
                    </a:solidFill>
                    <a:latin typeface="+mn-lt"/>
                  </a:defRPr>
                </a:pPr>
                <a:r>
                  <a:rPr sz="1100" b="0" i="0" u="none" strike="noStrike">
                    <a:solidFill>
                      <a:srgbClr val="5B6B7F"/>
                    </a:solidFill>
                    <a:latin typeface="+mn-lt"/>
                  </a:rPr>
                  <a:t>F1-macro (teste, n = 3 987)</a:t>
                </a:r>
              </a:p>
            </c:rich>
          </c:tx>
          <c:layout/>
          <c:overlay val="0"/>
        </c:title>
        <c:numFmt formatCode="0.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Corpus público (n = 3 632)</c:v>
                </c:pt>
              </c:strCache>
            </c:strRef>
          </c:tx>
          <c:spPr>
            <a:solidFill>
              <a:srgbClr val="2E6F9E"/>
            </a:solidFill>
            <a:effectLst/>
          </c:spPr>
          <c:invertIfNegative val="0"/>
          <c:dLbls>
            <c:numFmt formatCode="0.00;;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7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Normal</c:v>
                  </c:pt>
                  <c:pt idx="1">
                    <c:v>Desinformação</c:v>
                  </c:pt>
                  <c:pt idx="2">
                    <c:v>Discurso de Ódio</c:v>
                  </c:pt>
                  <c:pt idx="3">
                    <c:v>Mobilização Hostil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0.963</c:v>
                </c:pt>
                <c:pt idx="1">
                  <c:v>0.992</c:v>
                </c:pt>
                <c:pt idx="2">
                  <c:v>0.802</c:v>
                </c:pt>
                <c:pt idx="3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Piloto angolano (n = 355)</c:v>
                </c:pt>
              </c:strCache>
            </c:strRef>
          </c:tx>
          <c:spPr>
            <a:solidFill>
              <a:srgbClr val="C8102E"/>
            </a:solidFill>
            <a:effectLst/>
          </c:spPr>
          <c:invertIfNegative val="0"/>
          <c:dLbls>
            <c:numFmt formatCode="0.00;;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7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Normal</c:v>
                  </c:pt>
                  <c:pt idx="1">
                    <c:v>Desinformação</c:v>
                  </c:pt>
                  <c:pt idx="2">
                    <c:v>Discurso de Ódio</c:v>
                  </c:pt>
                  <c:pt idx="3">
                    <c:v>Mobilização Hostil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0.825</c:v>
                </c:pt>
                <c:pt idx="1">
                  <c:v>0.235</c:v>
                </c:pt>
                <c:pt idx="2">
                  <c:v>0.518</c:v>
                </c:pt>
                <c:pt idx="3">
                  <c:v>0.554</c:v>
                </c:pt>
              </c:numCache>
            </c:numRef>
          </c:val>
        </c:ser>
        <c:dLbls>
          <c:numFmt formatCode="0.00;;;" sourceLinked="0"/>
          <c:txPr>
            <a:bodyPr/>
            <a:lstStyle/>
            <a:p>
              <a:pPr>
                <a:defRPr b="0" i="0" strike="noStrike" sz="1200" u="none">
                  <a:solidFill>
                    <a:srgbClr val="1B2733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73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E3E8EF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solidFill>
                <a:srgbClr val="1B2733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BERTimbau</c:v>
                </c:pt>
              </c:strCache>
            </c:strRef>
          </c:tx>
          <c:spPr>
            <a:solidFill>
              <a:srgbClr val="102A43"/>
            </a:solidFill>
            <a:ln w="31750" cap="flat">
              <a:solidFill>
                <a:srgbClr val="102A43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102A43"/>
              </a:solidFill>
              <a:ln w="9525" cap="flat">
                <a:solidFill>
                  <a:srgbClr val="102A43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0%</c:v>
                  </c:pt>
                  <c:pt idx="1">
                    <c:v>10%</c:v>
                  </c:pt>
                  <c:pt idx="2">
                    <c:v>20%</c:v>
                  </c:pt>
                  <c:pt idx="3">
                    <c:v>30%</c:v>
                  </c:pt>
                  <c:pt idx="4">
                    <c:v>40%</c:v>
                  </c:pt>
                  <c:pt idx="5">
                    <c:v>50%</c:v>
                  </c:pt>
                  <c:pt idx="6">
                    <c:v>60%</c:v>
                  </c:pt>
                  <c:pt idx="7">
                    <c:v>70%</c:v>
                  </c:pt>
                  <c:pt idx="8">
                    <c:v>80%</c:v>
                  </c:pt>
                  <c:pt idx="9">
                    <c:v>90%</c:v>
                  </c:pt>
                  <c:pt idx="10">
                    <c:v>100%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0</c:v>
                </c:pt>
                <c:pt idx="1">
                  <c:v>34.9</c:v>
                </c:pt>
                <c:pt idx="2">
                  <c:v>68.1</c:v>
                </c:pt>
                <c:pt idx="3">
                  <c:v>89.3</c:v>
                </c:pt>
                <c:pt idx="4">
                  <c:v>96.6</c:v>
                </c:pt>
                <c:pt idx="5">
                  <c:v>99</c:v>
                </c:pt>
                <c:pt idx="6">
                  <c:v>99.6</c:v>
                </c:pt>
                <c:pt idx="7">
                  <c:v>99.8</c:v>
                </c:pt>
                <c:pt idx="8">
                  <c:v>99.9</c:v>
                </c:pt>
                <c:pt idx="9">
                  <c:v>100</c:v>
                </c:pt>
                <c:pt idx="10">
                  <c:v>100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Bi-LSTM</c:v>
                </c:pt>
              </c:strCache>
            </c:strRef>
          </c:tx>
          <c:spPr>
            <a:solidFill>
              <a:srgbClr val="2E6F9E"/>
            </a:solidFill>
            <a:ln w="31750" cap="flat">
              <a:solidFill>
                <a:srgbClr val="2E6F9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E6F9E"/>
              </a:solidFill>
              <a:ln w="9525" cap="flat">
                <a:solidFill>
                  <a:srgbClr val="2E6F9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0%</c:v>
                  </c:pt>
                  <c:pt idx="1">
                    <c:v>10%</c:v>
                  </c:pt>
                  <c:pt idx="2">
                    <c:v>20%</c:v>
                  </c:pt>
                  <c:pt idx="3">
                    <c:v>30%</c:v>
                  </c:pt>
                  <c:pt idx="4">
                    <c:v>40%</c:v>
                  </c:pt>
                  <c:pt idx="5">
                    <c:v>50%</c:v>
                  </c:pt>
                  <c:pt idx="6">
                    <c:v>60%</c:v>
                  </c:pt>
                  <c:pt idx="7">
                    <c:v>70%</c:v>
                  </c:pt>
                  <c:pt idx="8">
                    <c:v>80%</c:v>
                  </c:pt>
                  <c:pt idx="9">
                    <c:v>90%</c:v>
                  </c:pt>
                  <c:pt idx="10">
                    <c:v>100%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0</c:v>
                </c:pt>
                <c:pt idx="1">
                  <c:v>32</c:v>
                </c:pt>
                <c:pt idx="2">
                  <c:v>56.9</c:v>
                </c:pt>
                <c:pt idx="3">
                  <c:v>73.7</c:v>
                </c:pt>
                <c:pt idx="4">
                  <c:v>82.2</c:v>
                </c:pt>
                <c:pt idx="5">
                  <c:v>88.8</c:v>
                </c:pt>
                <c:pt idx="6">
                  <c:v>92.9</c:v>
                </c:pt>
                <c:pt idx="7">
                  <c:v>96</c:v>
                </c:pt>
                <c:pt idx="8">
                  <c:v>97.7</c:v>
                </c:pt>
                <c:pt idx="9">
                  <c:v>99.2</c:v>
                </c:pt>
                <c:pt idx="10">
                  <c:v>100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Floresta Aleatória</c:v>
                </c:pt>
              </c:strCache>
            </c:strRef>
          </c:tx>
          <c:spPr>
            <a:solidFill>
              <a:srgbClr val="E8B931"/>
            </a:solidFill>
            <a:ln w="31750" cap="flat">
              <a:solidFill>
                <a:srgbClr val="E8B93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E8B931"/>
              </a:solidFill>
              <a:ln w="9525" cap="flat">
                <a:solidFill>
                  <a:srgbClr val="E8B93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0%</c:v>
                  </c:pt>
                  <c:pt idx="1">
                    <c:v>10%</c:v>
                  </c:pt>
                  <c:pt idx="2">
                    <c:v>20%</c:v>
                  </c:pt>
                  <c:pt idx="3">
                    <c:v>30%</c:v>
                  </c:pt>
                  <c:pt idx="4">
                    <c:v>40%</c:v>
                  </c:pt>
                  <c:pt idx="5">
                    <c:v>50%</c:v>
                  </c:pt>
                  <c:pt idx="6">
                    <c:v>60%</c:v>
                  </c:pt>
                  <c:pt idx="7">
                    <c:v>70%</c:v>
                  </c:pt>
                  <c:pt idx="8">
                    <c:v>80%</c:v>
                  </c:pt>
                  <c:pt idx="9">
                    <c:v>90%</c:v>
                  </c:pt>
                  <c:pt idx="10">
                    <c:v>100%</c:v>
                  </c:pt>
                </c:lvl>
              </c:multiLvlStrCache>
            </c:multiLvl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0</c:v>
                </c:pt>
                <c:pt idx="1">
                  <c:v>32.9</c:v>
                </c:pt>
                <c:pt idx="2">
                  <c:v>57.2</c:v>
                </c:pt>
                <c:pt idx="3">
                  <c:v>73.7</c:v>
                </c:pt>
                <c:pt idx="4">
                  <c:v>82.6</c:v>
                </c:pt>
                <c:pt idx="5">
                  <c:v>88.5</c:v>
                </c:pt>
                <c:pt idx="6">
                  <c:v>91.9</c:v>
                </c:pt>
                <c:pt idx="7">
                  <c:v>94.1</c:v>
                </c:pt>
                <c:pt idx="8">
                  <c:v>96.2</c:v>
                </c:pt>
                <c:pt idx="9">
                  <c:v>98.7</c:v>
                </c:pt>
                <c:pt idx="10">
                  <c:v>100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Ordem aleatória</c:v>
                </c:pt>
              </c:strCache>
            </c:strRef>
          </c:tx>
          <c:spPr>
            <a:solidFill>
              <a:srgbClr val="B8C4D1"/>
            </a:solidFill>
            <a:ln w="31750" cap="flat">
              <a:solidFill>
                <a:srgbClr val="B8C4D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B8C4D1"/>
              </a:solidFill>
              <a:ln w="9525" cap="flat">
                <a:solidFill>
                  <a:srgbClr val="B8C4D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0%</c:v>
                  </c:pt>
                  <c:pt idx="1">
                    <c:v>10%</c:v>
                  </c:pt>
                  <c:pt idx="2">
                    <c:v>20%</c:v>
                  </c:pt>
                  <c:pt idx="3">
                    <c:v>30%</c:v>
                  </c:pt>
                  <c:pt idx="4">
                    <c:v>40%</c:v>
                  </c:pt>
                  <c:pt idx="5">
                    <c:v>50%</c:v>
                  </c:pt>
                  <c:pt idx="6">
                    <c:v>60%</c:v>
                  </c:pt>
                  <c:pt idx="7">
                    <c:v>70%</c:v>
                  </c:pt>
                  <c:pt idx="8">
                    <c:v>80%</c:v>
                  </c:pt>
                  <c:pt idx="9">
                    <c:v>90%</c:v>
                  </c:pt>
                  <c:pt idx="10">
                    <c:v>100%</c:v>
                  </c:pt>
                </c:lvl>
              </c:multiLvlStrCache>
            </c:multiLvlStrRef>
          </c:cat>
          <c:val>
            <c:numRef>
              <c:f>Sheet1!$E$2:$E$12</c:f>
              <c:numCache>
                <c:formatCode>General</c:formatCode>
                <c:ptCount val="11"/>
                <c:pt idx="0">
                  <c:v>0</c:v>
                </c:pt>
                <c:pt idx="1">
                  <c:v>10</c:v>
                </c:pt>
                <c:pt idx="2">
                  <c:v>20</c:v>
                </c:pt>
                <c:pt idx="3">
                  <c:v>30</c:v>
                </c:pt>
                <c:pt idx="4">
                  <c:v>40</c:v>
                </c:pt>
                <c:pt idx="5">
                  <c:v>50</c:v>
                </c:pt>
                <c:pt idx="6">
                  <c:v>60</c:v>
                </c:pt>
                <c:pt idx="7">
                  <c:v>70</c:v>
                </c:pt>
                <c:pt idx="8">
                  <c:v>80</c:v>
                </c:pt>
                <c:pt idx="9">
                  <c:v>90</c:v>
                </c:pt>
                <c:pt idx="10">
                  <c:v>100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5B6B7F"/>
                    </a:solidFill>
                    <a:latin typeface="+mn-lt"/>
                  </a:defRPr>
                </a:pPr>
                <a:r>
                  <a:rPr sz="1100" b="0" i="0" u="none" strike="noStrike">
                    <a:solidFill>
                      <a:srgbClr val="5B6B7F"/>
                    </a:solidFill>
                    <a:latin typeface="+mn-lt"/>
                  </a:rPr>
                  <a:t>Fracção da fila revista, por prioridade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B273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E3E8EF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5B6B7F"/>
                    </a:solidFill>
                    <a:latin typeface="+mn-lt"/>
                  </a:defRPr>
                </a:pPr>
                <a:r>
                  <a:rPr sz="1100" b="0" i="0" u="none" strike="noStrike">
                    <a:solidFill>
                      <a:srgbClr val="5B6B7F"/>
                    </a:solidFill>
                    <a:latin typeface="+mn-lt"/>
                  </a:rPr>
                  <a:t>Ameaças encontradas</a:t>
                </a:r>
              </a:p>
            </c:rich>
          </c:tx>
          <c:layout/>
          <c:overlay val="0"/>
        </c:title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1B2733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Tempo deste diapositivo: 0:30 (relógio no fim: 0:30 de 20:00).
Cumprimentar o Presidente do Júri, os membros do júri, os orientadores e o público. Apresentar o título e o enquadramento: dissertação de mestrado em Engenharia e Ciência de Dados. Anunciar que a exposição dura 20 minutos e inclui uma demonstração do sistema.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Tempo deste diapositivo: 0:30 (relógio no fim: 1:00 de 20:00).
Apresentar a estrutura: seis partes. Indicar que a parte maior é a do sistema, com demonstração ao vivo, e que no topo de cada diapositivo se vê em que parte estamos.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Tempo deste diapositivo: 1:00 (relógio no fim: 2:00 de 20:00).
O fenómeno tem escala: 17,6 milhões de utilizadores da Internet e 5,5 milhões de identidades em redes sociais. Dois episódios mostram o peso político: a campanha «2022 Vais Gostar», que passou das redes para a rua, e os protestos de Agosto de 2025. O problema para as estruturas de segurança é o volume: não é possível ler tudo, e as ferramentas comerciais não foram pensadas para o português de Angola.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Tempo deste diapositivo: 1:00 (relógio no fim: 3:00 de 20:00).
A pergunta de partida e as quatro hipóteses, cada uma com critério quantitativo. H1 compara algoritmos; H2 mede tempo; H3 antecedência; H4 a queda em conteúdo angolano. Ler devagar a pergunta.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Tempo deste diapositivo: 0:45 (relógio no fim: 3:45 de 20:00).
O objectivo geral e os cinco objectivos específicos. Ligar cada um à hipótese que o testa: OE2 com a H1, OE3 com a H4, OE4 com a H2 e a H3. O OE1 (corpus) e o OE5 (quadro ético e legal) não têm hipótese: são de construção e normativos.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Tempo deste diapositivo: 1:15 (relógio no fim: 5:00 de 20:00).
Três conclusões da literatura. Os sistemas internacionais (MediFor, Palantir, EU DisinfoLab) não estão disponíveis ou criam dependência externa. Os recursos de PLN em português são brasileiros, e a desinformação vem de notícias completas. Os classificadores generalizam mal entre domínios e variedades, e manter um humano no circuito exige contramedidas contra o viés de automação.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Tempo deste diapositivo: 0:45 (relógio no fim: 5:45 de 20:00).
Paradigma pragmático e aplicado, abordagem quantitativa. Três fases: dados, modelos e sistema. As revisões feitas no sistema podem voltar a alimentar o treino.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Tempo deste diapositivo: 1:00 (relógio no fim: 6:45 de 20:00).
O corpus angolano: 2 637 publicações públicas, sobretudo comentários do YouTube pela interface oficial, anotadas por três anotadores com κ de Fleiss de 0,718, acordo substancial. Nos desacordos, prevalece a categoria mais grave. Notar que a Mobilização Hostil só existe no piloto.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Tempo deste diapositivo: 1:00 (relógio no fim: 7:45 de 20:00).
O piloto, por si só, é pequeno. Juntou-se a três corpora públicos brasileiros, num total de 26 859 registos. Quatro modelos de três gerações. Protocolo definido antes de ver o teste: F1-macro com IC por bootstrap e McNemar com Bonferroni. Atenção: 91% do teste é brasileiro, por isso a H4 separa os dois domínios.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Tempo deste diapositivo: 1:00 (relógio no fim: 8:45 de 20:00).
O BERTimbau obteve F1-macro de 0,807, com intervalo que não se sobrepõe aos outros; a diferença é de 14,6 a 17,4 p.p., com p &lt; 10^-47. O Bi-LSTM não se distingue da Floresta Aleatória: por isso a H1 fica parcialmente confirmada. A explicação provável é o pré-treino.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Tempo deste diapositivo: 1:00 (relógio no fim: 9:45 de 20:00).
Este é o resultado central. No corpus público o F1-macro é 0,919; no piloto angolano cai para 0,533: 38,6 pontos. A maior queda é na Desinformação, de 0,99 para 0,24: o modelo aprendeu o estilo das notícias do Fake.br, não o fenómeno. A estimativa realista para Angola é 0,53, e é essa que o sistema mostra ao analista.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Tempo deste diapositivo: 0:50 (relógio no fim: 10:35 de 20:00).
Como o sistema usa as probabilidades para ordenar a fila, medi também o esforço de revisão. Com o BERTimbau, rever um quarto da fila encontra 80% das ameaças. Mas a ordem reflecte a confiança e não a gravidade: a Mobilização Hostil fica a meio da fila. E 11,8% das ameaças ficam entre os itens que o modelo considera Normais: é isso que justifica a amostra de controlo.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Tempo deste diapositivo: 0:45 (relógio no fim: 11:20 de 20:00).
A H2 foi medida com o protótipo num computador modesto, sem GPU: 0,63 segundos por publicação. Com a gravação por sublotes, as primeiras publicações chegam à fila em 36 segundos, e todas em menos de 60 segundos em recolhas até cerca de 64 publicações. A H3 não pôde ser testada por falta de um corpus datado.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Tempo deste diapositivo: 0:55 (relógio no fim: 12:15 de 20:00).
Antes do sistema, digo o que os resultados não permitem afirmar. O piloto é pequeno, sobretudo na Mobilização Hostil (47 exemplos de teste). 91% do teste é brasileiro. A desinformação disponível são notícias. Não separei língua, plataforma e registo. A utilidade para analistas e a antecipação não foram medidas. E o protótipo não teve auditoria de segurança independente.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Tempo deste diapositivo: 1:00 (relógio no fim: 13:15 de 20:00).
Os resultados ditaram o desenho: o modelo não decide, ordena. Arquitectura leve, num único servidor, software livre e sem dependência da Internet. Salvaguardas: anonimização à entrada, sem perfis, revisão humana obrigatória, auditoria. Passo agora para a demonstração.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Tempo deste diapositivo: 4:00 (relógio no fim: 17:15 de 20:00).
ANTES DA SESSÃO: arrancar o servidor com «python uan.py servir --demonstracao», entrar como demo.analista num separador e como demo.supervisor noutro. Ao chegar a este diapositivo, mudar para o navegador (Alt+Tab).
Roteiro com tempos:
1) Panorama (0:25): o que foi recolhido e sinalizado.
2) Fila e amostra de controlo (1:00): ler uma publicação, decidir com a tecla, desfazer com U; mostrar as probabilidades e o realce do lugar; referir a revisão cega; abrir a amostra de controlo.
3) Alertas e mapa (1:00): sino, mapa com cartão de uma província, reprodução semana a semana.
4) Sobre o modelo (0:30): o desempenho em Angola, 0,53, está à vista do analista.
5) Fontes e contas (0:40): recolha automática com a estimativa da quota; ligação «Esqueceu-se da palavra-passe?» e pedido ao supervisor.
Passagens para o navegador e de regresso: 0:25.
Se a demonstração falhar, usar os diapositivos de reserva A, B e C, no fim.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Tempo deste diapositivo: 0:55 (relógio no fim: 18:10 de 20:00).
Síntese das hipóteses. H1 parcialmente confirmada; H2 confirmada com condições; H3 não testada; H4 confirmada com reservas. Dizer com clareza o que não foi demonstrado: a utilidade da fila com analistas reais e a antecipação.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Tempo deste diapositivo: 0:45 (relógio no fim: 18:55 de 20:00).
Três conclusões e os quatro contributos. Mensagem central: o modelo ordena o trabalho, o analista decide; em Angola o desempenho realista é 0,53.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Tempo deste diapositivo: 0:50 (relógio no fim: 19:45 de 20:00).
As recomendações, separadas das conclusões como pedem as Normas da UAN. As três primeiras são condições para qualquer uso institucional; as outras três são trabalho futuro. Fechar com: o investimento que mais rende são dados angolanos anotados.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Tempo deste diapositivo: 0:15 (relógio no fim: 20:00 de 20:00).
Agradecer e passar a palavra ao Presidente do Júri. Os diapositivos seguintes são de reserva, para a demonstração ou para as perguntas.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Diapositivo de reserva: usar se a demonstração ao vivo falhar ou para responder a perguntas.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Diapositivo de reserva: usar se a demonstração ao vivo falhar ou para responder a perguntas.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Diapositivo de reserva: usar se a demonstração ao vivo falhar ou para responder a perguntas.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749808"/>
            <a:ext cx="11094415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b="1" dirty="0">
                <a:solidFill>
                  <a:srgbClr val="102A43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indent="0" marL="0">
              <a:buNone/>
            </a:pPr>
            <a:r>
              <a:rPr lang="en-US" sz="2800" b="1" dirty="0">
                <a:solidFill>
                  <a:srgbClr val="102A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Título</a:t>
            </a:r>
            <a:endParaRPr lang="en-US" sz="2800" dirty="0"/>
          </a:p>
        </p:txBody>
      </p:sp>
      <p:sp>
        <p:nvSpPr>
          <p:cNvPr id="3" name="Text 0"/>
          <p:cNvSpPr/>
          <p:nvPr/>
        </p:nvSpPr>
        <p:spPr>
          <a:xfrm>
            <a:off x="548640" y="64739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Manuel Gonga Muinga · Defesa de dissertação · UAN, 2026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SCURO">
    <p:bg>
      <p:bgPr>
        <a:solidFill>
          <a:srgbClr val="10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ndo-logos"/>
          <p:cNvSpPr/>
          <p:nvPr/>
        </p:nvSpPr>
        <p:spPr>
          <a:xfrm>
            <a:off x="548640" y="411480"/>
            <a:ext cx="210312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logo-UAN" descr="logo_u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502920"/>
            <a:ext cx="758952" cy="777240"/>
          </a:xfrm>
          <a:prstGeom prst="rect">
            <a:avLst/>
          </a:prstGeom>
        </p:spPr>
      </p:pic>
      <p:pic>
        <p:nvPicPr>
          <p:cNvPr id="4" name="logo-FE" descr="logo_f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9928" y="502920"/>
            <a:ext cx="740664" cy="7772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2880360" y="502920"/>
            <a:ext cx="5486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UNIVERSIDADE AGOSTINHO NETO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FACULDADE DE ENGENHARIA</a:t>
            </a:r>
            <a:endParaRPr lang="en-US" sz="1400" dirty="0"/>
          </a:p>
        </p:txBody>
      </p:sp>
      <p:sp>
        <p:nvSpPr>
          <p:cNvPr id="6" name="titulo"/>
          <p:cNvSpPr txBox="1"/>
          <p:nvPr/>
        </p:nvSpPr>
        <p:spPr>
          <a:xfrm>
            <a:off x="548640" y="1783080"/>
            <a:ext cx="10607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Monitoramento inteligente de ameaças em redes sociais em Angola para o apoio à defesa e segurança nacional</a:t>
            </a:r>
            <a:endParaRPr lang="en-US" sz="32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342900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B931"/>
                </a:solidFill>
              </a:rPr>
              <a:t>Dissertação para obtenção do grau de Mestre em Engenharia e Ciência de Dados</a:t>
            </a:r>
            <a:endParaRPr lang="en-US" sz="18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4160520"/>
            <a:ext cx="7772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B8C4D1"/>
                </a:solidFill>
              </a:rPr>
              <a:t>Mestrando: </a:t>
            </a:r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FFFFFF"/>
                </a:solidFill>
              </a:rPr>
              <a:t>Manuel Gonga Muinga, Engenheiro Electrotécnico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B8C4D1"/>
                </a:solidFill>
              </a:rPr>
              <a:t>Orientador: </a:t>
            </a:r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FFFFFF"/>
                </a:solidFill>
              </a:rPr>
              <a:t>Professor Doutor Joaquim Fortes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B8C4D1"/>
                </a:solidFill>
              </a:rPr>
              <a:t>Co-orientador: </a:t>
            </a:r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FFFFFF"/>
                </a:solidFill>
              </a:rPr>
              <a:t>Professor Doutor Judice Cumbunga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Luanda, 2026</a:t>
            </a:r>
            <a:endParaRPr lang="en-US" sz="1600" dirty="0"/>
          </a:p>
        </p:txBody>
      </p:sp>
    </p:spTree>
  </p:cSld>
  <p:clrMapOvr>
    <a:masterClrMapping/>
  </p:clrMapOvr>
  <p:transition spd="med">
    <p:push dir="u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749808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02A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Agenda</a:t>
            </a:r>
            <a:endParaRPr lang="en-US" sz="2800" dirty="0"/>
          </a:p>
        </p:txBody>
      </p:sp>
      <p:sp>
        <p:nvSpPr>
          <p:cNvPr id="4" name="agenda-cartao-1"/>
          <p:cNvSpPr/>
          <p:nvPr/>
        </p:nvSpPr>
        <p:spPr>
          <a:xfrm>
            <a:off x="548640" y="1737360"/>
            <a:ext cx="5440680" cy="1188720"/>
          </a:xfrm>
          <a:prstGeom prst="roundRect">
            <a:avLst>
              <a:gd name="adj" fmla="val 6154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77240" y="2011680"/>
            <a:ext cx="640080" cy="640080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20116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1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1600200" y="1892808"/>
            <a:ext cx="34290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A43"/>
                </a:solidFill>
              </a:rPr>
              <a:t>Introdução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Contexto, pergunta, hipóteses e objectivos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4983480" y="210312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2E6F9E"/>
                </a:solidFill>
              </a:rPr>
              <a:t>2:45</a:t>
            </a:r>
            <a:endParaRPr lang="en-US" sz="1600" dirty="0"/>
          </a:p>
        </p:txBody>
      </p:sp>
      <p:sp>
        <p:nvSpPr>
          <p:cNvPr id="9" name="agenda-cartao-2"/>
          <p:cNvSpPr/>
          <p:nvPr/>
        </p:nvSpPr>
        <p:spPr>
          <a:xfrm>
            <a:off x="6172200" y="1737360"/>
            <a:ext cx="5440680" cy="1188720"/>
          </a:xfrm>
          <a:prstGeom prst="roundRect">
            <a:avLst>
              <a:gd name="adj" fmla="val 6154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400800" y="2011680"/>
            <a:ext cx="640080" cy="640080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400800" y="20116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2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7223760" y="1892808"/>
            <a:ext cx="34290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A43"/>
                </a:solidFill>
              </a:rPr>
              <a:t>Revisão da literatura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 que se sabe e a lacuna para Angola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10607040" y="210312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2E6F9E"/>
                </a:solidFill>
              </a:rPr>
              <a:t>1:15</a:t>
            </a:r>
            <a:endParaRPr lang="en-US" sz="1600" dirty="0"/>
          </a:p>
        </p:txBody>
      </p:sp>
      <p:sp>
        <p:nvSpPr>
          <p:cNvPr id="14" name="agenda-cartao-3"/>
          <p:cNvSpPr/>
          <p:nvPr/>
        </p:nvSpPr>
        <p:spPr>
          <a:xfrm>
            <a:off x="548640" y="3154680"/>
            <a:ext cx="5440680" cy="1188720"/>
          </a:xfrm>
          <a:prstGeom prst="roundRect">
            <a:avLst>
              <a:gd name="adj" fmla="val 6154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777240" y="3429000"/>
            <a:ext cx="640080" cy="640080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77240" y="3429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3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1600200" y="3310128"/>
            <a:ext cx="34290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A43"/>
                </a:solidFill>
              </a:rPr>
              <a:t>Metodologia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Desenho, corpus angolano, corpus híbrido e modelos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4983480" y="352044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2E6F9E"/>
                </a:solidFill>
              </a:rPr>
              <a:t>2:45</a:t>
            </a:r>
            <a:endParaRPr lang="en-US" sz="1600" dirty="0"/>
          </a:p>
        </p:txBody>
      </p:sp>
      <p:sp>
        <p:nvSpPr>
          <p:cNvPr id="19" name="agenda-cartao-4"/>
          <p:cNvSpPr/>
          <p:nvPr/>
        </p:nvSpPr>
        <p:spPr>
          <a:xfrm>
            <a:off x="6172200" y="3154680"/>
            <a:ext cx="5440680" cy="1188720"/>
          </a:xfrm>
          <a:prstGeom prst="roundRect">
            <a:avLst>
              <a:gd name="adj" fmla="val 6154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400800" y="3429000"/>
            <a:ext cx="640080" cy="640080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400800" y="3429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4</a:t>
            </a:r>
            <a:endParaRPr lang="en-US" sz="2000" dirty="0"/>
          </a:p>
        </p:txBody>
      </p:sp>
      <p:sp>
        <p:nvSpPr>
          <p:cNvPr id="22" name="Text 19"/>
          <p:cNvSpPr txBox="1"/>
          <p:nvPr/>
        </p:nvSpPr>
        <p:spPr>
          <a:xfrm>
            <a:off x="7223760" y="3310128"/>
            <a:ext cx="34290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A43"/>
                </a:solidFill>
              </a:rPr>
              <a:t>Resultados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Modelos, lacuna de domínio, fila, tempo e limitações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10607040" y="352044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2E6F9E"/>
                </a:solidFill>
              </a:rPr>
              <a:t>4:30</a:t>
            </a:r>
            <a:endParaRPr lang="en-US" sz="1600" dirty="0"/>
          </a:p>
        </p:txBody>
      </p:sp>
      <p:sp>
        <p:nvSpPr>
          <p:cNvPr id="24" name="agenda-cartao-5"/>
          <p:cNvSpPr/>
          <p:nvPr/>
        </p:nvSpPr>
        <p:spPr>
          <a:xfrm>
            <a:off x="548640" y="4572000"/>
            <a:ext cx="5440680" cy="1188720"/>
          </a:xfrm>
          <a:prstGeom prst="roundRect">
            <a:avLst>
              <a:gd name="adj" fmla="val 6154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777240" y="4846320"/>
            <a:ext cx="640080" cy="640080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77240" y="4846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5</a:t>
            </a:r>
            <a:endParaRPr lang="en-US" sz="2000" dirty="0"/>
          </a:p>
        </p:txBody>
      </p:sp>
      <p:sp>
        <p:nvSpPr>
          <p:cNvPr id="27" name="Text 24"/>
          <p:cNvSpPr txBox="1"/>
          <p:nvPr/>
        </p:nvSpPr>
        <p:spPr>
          <a:xfrm>
            <a:off x="1600200" y="4727448"/>
            <a:ext cx="34290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A43"/>
                </a:solidFill>
              </a:rPr>
              <a:t>Sistema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Arquitectura e demonstração ao vivo</a:t>
            </a:r>
            <a:endParaRPr lang="en-US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4983480" y="493776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C8102E"/>
                </a:solidFill>
              </a:rPr>
              <a:t>5:00</a:t>
            </a:r>
            <a:endParaRPr lang="en-US" sz="1600" dirty="0"/>
          </a:p>
        </p:txBody>
      </p:sp>
      <p:sp>
        <p:nvSpPr>
          <p:cNvPr id="29" name="agenda-cartao-6"/>
          <p:cNvSpPr/>
          <p:nvPr/>
        </p:nvSpPr>
        <p:spPr>
          <a:xfrm>
            <a:off x="6172200" y="4572000"/>
            <a:ext cx="5440680" cy="1188720"/>
          </a:xfrm>
          <a:prstGeom prst="roundRect">
            <a:avLst>
              <a:gd name="adj" fmla="val 6154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400800" y="4846320"/>
            <a:ext cx="640080" cy="640080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400800" y="4846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6</a:t>
            </a:r>
            <a:endParaRPr lang="en-US" sz="2000" dirty="0"/>
          </a:p>
        </p:txBody>
      </p:sp>
      <p:sp>
        <p:nvSpPr>
          <p:cNvPr id="32" name="Text 29"/>
          <p:cNvSpPr txBox="1"/>
          <p:nvPr/>
        </p:nvSpPr>
        <p:spPr>
          <a:xfrm>
            <a:off x="7223760" y="4727448"/>
            <a:ext cx="34290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A43"/>
                </a:solidFill>
              </a:rPr>
              <a:t>Conclusões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Hipóteses, conclusões e recomendações</a:t>
            </a:r>
            <a:endParaRPr lang="en-US" sz="1800" dirty="0"/>
          </a:p>
        </p:txBody>
      </p:sp>
      <p:sp>
        <p:nvSpPr>
          <p:cNvPr id="33" name="Text 30"/>
          <p:cNvSpPr txBox="1"/>
          <p:nvPr/>
        </p:nvSpPr>
        <p:spPr>
          <a:xfrm>
            <a:off x="10607040" y="493776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2E6F9E"/>
                </a:solidFill>
              </a:rPr>
              <a:t>2:45</a:t>
            </a:r>
            <a:endParaRPr lang="en-US" sz="1600" dirty="0"/>
          </a:p>
        </p:txBody>
      </p:sp>
      <p:sp>
        <p:nvSpPr>
          <p:cNvPr id="34" name="Text 31"/>
          <p:cNvSpPr txBox="1"/>
          <p:nvPr/>
        </p:nvSpPr>
        <p:spPr>
          <a:xfrm>
            <a:off x="548640" y="60350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F"/>
                </a:solidFill>
              </a:rPr>
              <a:t>Exposição: 20 minutos. A abertura (capa e agenda) ocupa 1:00 e as seis partes somam 19:00.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genda-1"/>
          <p:cNvSpPr/>
          <p:nvPr/>
        </p:nvSpPr>
        <p:spPr>
          <a:xfrm>
            <a:off x="548640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102A43"/>
          </a:solidFill>
          <a:ln w="9525">
            <a:solidFill>
              <a:srgbClr val="102A43"/>
            </a:solidFill>
            <a:prstDash val="solid"/>
          </a:ln>
        </p:spPr>
      </p:sp>
      <p:sp>
        <p:nvSpPr>
          <p:cNvPr id="3" name="agenda-texto-1"/>
          <p:cNvSpPr txBox="1"/>
          <p:nvPr/>
        </p:nvSpPr>
        <p:spPr>
          <a:xfrm>
            <a:off x="548640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1. Introdução</a:t>
            </a:r>
            <a:endParaRPr lang="en-US" sz="1100" dirty="0"/>
          </a:p>
        </p:txBody>
      </p:sp>
      <p:sp>
        <p:nvSpPr>
          <p:cNvPr id="4" name="agenda-2"/>
          <p:cNvSpPr/>
          <p:nvPr/>
        </p:nvSpPr>
        <p:spPr>
          <a:xfrm>
            <a:off x="2415997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5" name="agenda-texto-2"/>
          <p:cNvSpPr txBox="1"/>
          <p:nvPr/>
        </p:nvSpPr>
        <p:spPr>
          <a:xfrm>
            <a:off x="2415997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96A3"/>
                </a:solidFill>
              </a:rPr>
              <a:t>2. Revisão da literatura</a:t>
            </a:r>
            <a:endParaRPr lang="en-US" sz="1100" dirty="0"/>
          </a:p>
        </p:txBody>
      </p:sp>
      <p:sp>
        <p:nvSpPr>
          <p:cNvPr id="6" name="agenda-3"/>
          <p:cNvSpPr/>
          <p:nvPr/>
        </p:nvSpPr>
        <p:spPr>
          <a:xfrm>
            <a:off x="4283354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7" name="agenda-texto-3"/>
          <p:cNvSpPr txBox="1"/>
          <p:nvPr/>
        </p:nvSpPr>
        <p:spPr>
          <a:xfrm>
            <a:off x="4283354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96A3"/>
                </a:solidFill>
              </a:rPr>
              <a:t>3. Metodologia</a:t>
            </a:r>
            <a:endParaRPr lang="en-US" sz="1100" dirty="0"/>
          </a:p>
        </p:txBody>
      </p:sp>
      <p:sp>
        <p:nvSpPr>
          <p:cNvPr id="8" name="agenda-4"/>
          <p:cNvSpPr/>
          <p:nvPr/>
        </p:nvSpPr>
        <p:spPr>
          <a:xfrm>
            <a:off x="6150712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9" name="agenda-texto-4"/>
          <p:cNvSpPr txBox="1"/>
          <p:nvPr/>
        </p:nvSpPr>
        <p:spPr>
          <a:xfrm>
            <a:off x="6150712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96A3"/>
                </a:solidFill>
              </a:rPr>
              <a:t>4. Resultados</a:t>
            </a:r>
            <a:endParaRPr lang="en-US" sz="1100" dirty="0"/>
          </a:p>
        </p:txBody>
      </p:sp>
      <p:sp>
        <p:nvSpPr>
          <p:cNvPr id="10" name="agenda-5"/>
          <p:cNvSpPr/>
          <p:nvPr/>
        </p:nvSpPr>
        <p:spPr>
          <a:xfrm>
            <a:off x="8018069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11" name="agenda-texto-5"/>
          <p:cNvSpPr txBox="1"/>
          <p:nvPr/>
        </p:nvSpPr>
        <p:spPr>
          <a:xfrm>
            <a:off x="8018069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96A3"/>
                </a:solidFill>
              </a:rPr>
              <a:t>5. Sistema</a:t>
            </a:r>
            <a:endParaRPr lang="en-US" sz="1100" dirty="0"/>
          </a:p>
        </p:txBody>
      </p:sp>
      <p:sp>
        <p:nvSpPr>
          <p:cNvPr id="12" name="agenda-6"/>
          <p:cNvSpPr/>
          <p:nvPr/>
        </p:nvSpPr>
        <p:spPr>
          <a:xfrm>
            <a:off x="9885426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13" name="agenda-texto-6"/>
          <p:cNvSpPr txBox="1"/>
          <p:nvPr/>
        </p:nvSpPr>
        <p:spPr>
          <a:xfrm>
            <a:off x="9885426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96A3"/>
                </a:solidFill>
              </a:rPr>
              <a:t>6. Conclusões</a:t>
            </a:r>
            <a:endParaRPr lang="en-US" sz="1100" dirty="0"/>
          </a:p>
        </p:txBody>
      </p:sp>
      <p:sp>
        <p:nvSpPr>
          <p:cNvPr id="15" name="Text 0"/>
          <p:cNvSpPr/>
          <p:nvPr>
            <p:ph idx="100" type="title" hasCustomPrompt="1"/>
          </p:nvPr>
        </p:nvSpPr>
        <p:spPr>
          <a:xfrm>
            <a:off x="548640" y="749808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02A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Milhões de angolanos nas redes, poucos analistas para as ler</a:t>
            </a:r>
            <a:endParaRPr lang="en-US" sz="2800" dirty="0"/>
          </a:p>
        </p:txBody>
      </p:sp>
      <p:sp>
        <p:nvSpPr>
          <p:cNvPr id="16" name="estatistica-1"/>
          <p:cNvSpPr/>
          <p:nvPr/>
        </p:nvSpPr>
        <p:spPr>
          <a:xfrm>
            <a:off x="548640" y="1783080"/>
            <a:ext cx="2148840" cy="2377440"/>
          </a:xfrm>
          <a:prstGeom prst="roundRect">
            <a:avLst>
              <a:gd name="adj" fmla="val 3404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85800" y="1965960"/>
            <a:ext cx="1874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02A43"/>
                </a:solidFill>
              </a:rPr>
              <a:t>17,6 M</a:t>
            </a:r>
            <a:endParaRPr lang="en-US" sz="3800" dirty="0"/>
          </a:p>
        </p:txBody>
      </p:sp>
      <p:sp>
        <p:nvSpPr>
          <p:cNvPr id="18" name="Text 15"/>
          <p:cNvSpPr txBox="1"/>
          <p:nvPr/>
        </p:nvSpPr>
        <p:spPr>
          <a:xfrm>
            <a:off x="685800" y="2834640"/>
            <a:ext cx="1874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utilizadores da Internet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</a:rPr>
              <a:t>44,8% da população</a:t>
            </a:r>
            <a:endParaRPr lang="en-US" sz="1400" dirty="0"/>
          </a:p>
        </p:txBody>
      </p:sp>
      <p:sp>
        <p:nvSpPr>
          <p:cNvPr id="19" name="estatistica-2"/>
          <p:cNvSpPr/>
          <p:nvPr/>
        </p:nvSpPr>
        <p:spPr>
          <a:xfrm>
            <a:off x="2880360" y="1783080"/>
            <a:ext cx="2148840" cy="2377440"/>
          </a:xfrm>
          <a:prstGeom prst="roundRect">
            <a:avLst>
              <a:gd name="adj" fmla="val 3404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3017520" y="1965960"/>
            <a:ext cx="1874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8102E"/>
                </a:solidFill>
              </a:rPr>
              <a:t>5,50 M</a:t>
            </a:r>
            <a:endParaRPr lang="en-US" sz="3800" dirty="0"/>
          </a:p>
        </p:txBody>
      </p:sp>
      <p:sp>
        <p:nvSpPr>
          <p:cNvPr id="21" name="Text 18"/>
          <p:cNvSpPr txBox="1"/>
          <p:nvPr/>
        </p:nvSpPr>
        <p:spPr>
          <a:xfrm>
            <a:off x="3017520" y="2834640"/>
            <a:ext cx="1874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identidades em redes sociais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</a:rPr>
              <a:t>14,0% da população</a:t>
            </a:r>
            <a:endParaRPr lang="en-US" sz="1400" dirty="0"/>
          </a:p>
        </p:txBody>
      </p:sp>
      <p:sp>
        <p:nvSpPr>
          <p:cNvPr id="22" name="estatistica-3"/>
          <p:cNvSpPr/>
          <p:nvPr/>
        </p:nvSpPr>
        <p:spPr>
          <a:xfrm>
            <a:off x="5212080" y="1783080"/>
            <a:ext cx="2148840" cy="2377440"/>
          </a:xfrm>
          <a:prstGeom prst="roundRect">
            <a:avLst>
              <a:gd name="adj" fmla="val 3404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349240" y="1965960"/>
            <a:ext cx="1874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02A43"/>
                </a:solidFill>
              </a:rPr>
              <a:t>30,6 M</a:t>
            </a:r>
            <a:endParaRPr lang="en-US" sz="3800" dirty="0"/>
          </a:p>
        </p:txBody>
      </p:sp>
      <p:sp>
        <p:nvSpPr>
          <p:cNvPr id="24" name="Text 21"/>
          <p:cNvSpPr txBox="1"/>
          <p:nvPr/>
        </p:nvSpPr>
        <p:spPr>
          <a:xfrm>
            <a:off x="5349240" y="2834640"/>
            <a:ext cx="1874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ligações móveis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</a:rPr>
              <a:t>o telemóvel é o acesso principal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548640" y="425196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B6B7F"/>
                </a:solidFill>
              </a:rPr>
              <a:t>Fonte: Kemp (2025), dados de Outubro de 2025.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7726680" y="1783080"/>
            <a:ext cx="39319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102A43"/>
                </a:solidFill>
              </a:rPr>
              <a:t>Da rede para a rua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 campanha «2022 Vais Gostar» começou nas redes e terminou em manifestações em várias províncias (Hassane, 2021).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Nos protestos de Agosto de 2025 circularam conteúdos sintéticos para influenciar a narrativa (Cintra, 2025).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O limite é humano: há mais publicações do que analistas, e as ferramentas comerciais não foram feitas para o português de Angola.</a:t>
            </a:r>
            <a:endParaRPr lang="en-US" sz="1400" dirty="0"/>
          </a:p>
        </p:txBody>
      </p:sp>
      <p:sp>
        <p:nvSpPr>
          <p:cNvPr id="27" name="icone-circulo"/>
          <p:cNvSpPr/>
          <p:nvPr/>
        </p:nvSpPr>
        <p:spPr>
          <a:xfrm>
            <a:off x="548640" y="4892040"/>
            <a:ext cx="685800" cy="685800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pic>
        <p:nvPicPr>
          <p:cNvPr id="28" name="i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0090" y="5063490"/>
            <a:ext cx="342900" cy="342900"/>
          </a:xfrm>
          <a:prstGeom prst="rect">
            <a:avLst/>
          </a:prstGeom>
        </p:spPr>
      </p:pic>
      <p:sp>
        <p:nvSpPr>
          <p:cNvPr id="29" name="Text 25"/>
          <p:cNvSpPr txBox="1"/>
          <p:nvPr/>
        </p:nvSpPr>
        <p:spPr>
          <a:xfrm>
            <a:off x="1463040" y="4892040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</a:rPr>
              <a:t>Ideia central: um sistema que ajude o analista a decidir o que ler primeiro, sem decidir por ele.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  <p:transition spd="med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genda-1"/>
          <p:cNvSpPr/>
          <p:nvPr/>
        </p:nvSpPr>
        <p:spPr>
          <a:xfrm>
            <a:off x="548640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102A43"/>
          </a:solidFill>
          <a:ln w="9525">
            <a:solidFill>
              <a:srgbClr val="102A43"/>
            </a:solidFill>
            <a:prstDash val="solid"/>
          </a:ln>
        </p:spPr>
      </p:sp>
      <p:sp>
        <p:nvSpPr>
          <p:cNvPr id="3" name="agenda-texto-1"/>
          <p:cNvSpPr txBox="1"/>
          <p:nvPr/>
        </p:nvSpPr>
        <p:spPr>
          <a:xfrm>
            <a:off x="548640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1. Introdução</a:t>
            </a:r>
            <a:endParaRPr lang="en-US" sz="1100" dirty="0"/>
          </a:p>
        </p:txBody>
      </p:sp>
      <p:sp>
        <p:nvSpPr>
          <p:cNvPr id="4" name="agenda-2"/>
          <p:cNvSpPr/>
          <p:nvPr/>
        </p:nvSpPr>
        <p:spPr>
          <a:xfrm>
            <a:off x="2415997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5" name="agenda-texto-2"/>
          <p:cNvSpPr txBox="1"/>
          <p:nvPr/>
        </p:nvSpPr>
        <p:spPr>
          <a:xfrm>
            <a:off x="2415997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96A3"/>
                </a:solidFill>
              </a:rPr>
              <a:t>2. Revisão da literatura</a:t>
            </a:r>
            <a:endParaRPr lang="en-US" sz="1100" dirty="0"/>
          </a:p>
        </p:txBody>
      </p:sp>
      <p:sp>
        <p:nvSpPr>
          <p:cNvPr id="6" name="agenda-3"/>
          <p:cNvSpPr/>
          <p:nvPr/>
        </p:nvSpPr>
        <p:spPr>
          <a:xfrm>
            <a:off x="4283354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7" name="agenda-texto-3"/>
          <p:cNvSpPr txBox="1"/>
          <p:nvPr/>
        </p:nvSpPr>
        <p:spPr>
          <a:xfrm>
            <a:off x="4283354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96A3"/>
                </a:solidFill>
              </a:rPr>
              <a:t>3. Metodologia</a:t>
            </a:r>
            <a:endParaRPr lang="en-US" sz="1100" dirty="0"/>
          </a:p>
        </p:txBody>
      </p:sp>
      <p:sp>
        <p:nvSpPr>
          <p:cNvPr id="8" name="agenda-4"/>
          <p:cNvSpPr/>
          <p:nvPr/>
        </p:nvSpPr>
        <p:spPr>
          <a:xfrm>
            <a:off x="6150712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9" name="agenda-texto-4"/>
          <p:cNvSpPr txBox="1"/>
          <p:nvPr/>
        </p:nvSpPr>
        <p:spPr>
          <a:xfrm>
            <a:off x="6150712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96A3"/>
                </a:solidFill>
              </a:rPr>
              <a:t>4. Resultados</a:t>
            </a:r>
            <a:endParaRPr lang="en-US" sz="1100" dirty="0"/>
          </a:p>
        </p:txBody>
      </p:sp>
      <p:sp>
        <p:nvSpPr>
          <p:cNvPr id="10" name="agenda-5"/>
          <p:cNvSpPr/>
          <p:nvPr/>
        </p:nvSpPr>
        <p:spPr>
          <a:xfrm>
            <a:off x="8018069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11" name="agenda-texto-5"/>
          <p:cNvSpPr txBox="1"/>
          <p:nvPr/>
        </p:nvSpPr>
        <p:spPr>
          <a:xfrm>
            <a:off x="8018069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96A3"/>
                </a:solidFill>
              </a:rPr>
              <a:t>5. Sistema</a:t>
            </a:r>
            <a:endParaRPr lang="en-US" sz="1100" dirty="0"/>
          </a:p>
        </p:txBody>
      </p:sp>
      <p:sp>
        <p:nvSpPr>
          <p:cNvPr id="12" name="agenda-6"/>
          <p:cNvSpPr/>
          <p:nvPr/>
        </p:nvSpPr>
        <p:spPr>
          <a:xfrm>
            <a:off x="9885426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13" name="agenda-texto-6"/>
          <p:cNvSpPr txBox="1"/>
          <p:nvPr/>
        </p:nvSpPr>
        <p:spPr>
          <a:xfrm>
            <a:off x="9885426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96A3"/>
                </a:solidFill>
              </a:rPr>
              <a:t>6. Conclusões</a:t>
            </a:r>
            <a:endParaRPr lang="en-US" sz="1100" dirty="0"/>
          </a:p>
        </p:txBody>
      </p:sp>
      <p:sp>
        <p:nvSpPr>
          <p:cNvPr id="15" name="Text 0"/>
          <p:cNvSpPr/>
          <p:nvPr>
            <p:ph idx="100" type="title" hasCustomPrompt="1"/>
          </p:nvPr>
        </p:nvSpPr>
        <p:spPr>
          <a:xfrm>
            <a:off x="548640" y="749808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02A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Pergunta de partida e hipóteses</a:t>
            </a:r>
            <a:endParaRPr lang="en-US" sz="2800" dirty="0"/>
          </a:p>
        </p:txBody>
      </p:sp>
      <p:sp>
        <p:nvSpPr>
          <p:cNvPr id="16" name="pergunta"/>
          <p:cNvSpPr/>
          <p:nvPr/>
        </p:nvSpPr>
        <p:spPr>
          <a:xfrm>
            <a:off x="548640" y="1691640"/>
            <a:ext cx="11094415" cy="1005840"/>
          </a:xfrm>
          <a:prstGeom prst="roundRect">
            <a:avLst>
              <a:gd name="adj" fmla="val 727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2960" y="1691640"/>
            <a:ext cx="105457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FFFFFF"/>
                </a:solidFill>
              </a:rPr>
              <a:t>Em que medida um sistema baseado em aprendizagem automática consegue apoiar, de forma fiável e juridicamente responsável, a triagem de publicações ameaçadoras em redes sociais angolanas?</a:t>
            </a:r>
            <a:endParaRPr lang="en-US" sz="1700" dirty="0"/>
          </a:p>
        </p:txBody>
      </p:sp>
      <p:sp>
        <p:nvSpPr>
          <p:cNvPr id="18" name="hipotese-H1"/>
          <p:cNvSpPr/>
          <p:nvPr/>
        </p:nvSpPr>
        <p:spPr>
          <a:xfrm>
            <a:off x="548640" y="2971800"/>
            <a:ext cx="5440680" cy="1234440"/>
          </a:xfrm>
          <a:prstGeom prst="roundRect">
            <a:avLst>
              <a:gd name="adj" fmla="val 5926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31520" y="3154680"/>
            <a:ext cx="822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102E"/>
                </a:solidFill>
              </a:rPr>
              <a:t>H1</a:t>
            </a:r>
            <a:endParaRPr lang="en-US" sz="2800" dirty="0"/>
          </a:p>
        </p:txBody>
      </p:sp>
      <p:sp>
        <p:nvSpPr>
          <p:cNvPr id="20" name="Text 17"/>
          <p:cNvSpPr txBox="1"/>
          <p:nvPr/>
        </p:nvSpPr>
        <p:spPr>
          <a:xfrm>
            <a:off x="1600200" y="3108960"/>
            <a:ext cx="4206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</a:rPr>
              <a:t>Os modelos profundos superam os clássicos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ΔF1-macro ≥ 5 p.p. e p &lt; 0,05 (McNemar com Bonferroni)</a:t>
            </a:r>
            <a:endParaRPr lang="en-US" sz="1600" dirty="0"/>
          </a:p>
        </p:txBody>
      </p:sp>
      <p:sp>
        <p:nvSpPr>
          <p:cNvPr id="21" name="hipotese-H2"/>
          <p:cNvSpPr/>
          <p:nvPr/>
        </p:nvSpPr>
        <p:spPr>
          <a:xfrm>
            <a:off x="6172200" y="2971800"/>
            <a:ext cx="5440680" cy="1234440"/>
          </a:xfrm>
          <a:prstGeom prst="roundRect">
            <a:avLst>
              <a:gd name="adj" fmla="val 5926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355080" y="3154680"/>
            <a:ext cx="822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102E"/>
                </a:solidFill>
              </a:rPr>
              <a:t>H2</a:t>
            </a:r>
            <a:endParaRPr lang="en-US" sz="2800" dirty="0"/>
          </a:p>
        </p:txBody>
      </p:sp>
      <p:sp>
        <p:nvSpPr>
          <p:cNvPr id="23" name="Text 20"/>
          <p:cNvSpPr txBox="1"/>
          <p:nvPr/>
        </p:nvSpPr>
        <p:spPr>
          <a:xfrm>
            <a:off x="7223760" y="3108960"/>
            <a:ext cx="4206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</a:rPr>
              <a:t>Cada publicação é processada em menos de 60 s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Importação, anonimização, classificação e entrada na fila</a:t>
            </a:r>
            <a:endParaRPr lang="en-US" sz="1600" dirty="0"/>
          </a:p>
        </p:txBody>
      </p:sp>
      <p:sp>
        <p:nvSpPr>
          <p:cNvPr id="24" name="hipotese-H3"/>
          <p:cNvSpPr/>
          <p:nvPr/>
        </p:nvSpPr>
        <p:spPr>
          <a:xfrm>
            <a:off x="548640" y="4389120"/>
            <a:ext cx="5440680" cy="1234440"/>
          </a:xfrm>
          <a:prstGeom prst="roundRect">
            <a:avLst>
              <a:gd name="adj" fmla="val 5926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31520" y="4572000"/>
            <a:ext cx="822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102E"/>
                </a:solidFill>
              </a:rPr>
              <a:t>H3</a:t>
            </a:r>
            <a:endParaRPr lang="en-US" sz="2800" dirty="0"/>
          </a:p>
        </p:txBody>
      </p:sp>
      <p:sp>
        <p:nvSpPr>
          <p:cNvPr id="26" name="Text 23"/>
          <p:cNvSpPr txBox="1"/>
          <p:nvPr/>
        </p:nvSpPr>
        <p:spPr>
          <a:xfrm>
            <a:off x="1600200" y="4526280"/>
            <a:ext cx="4206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</a:rPr>
              <a:t>Antecedência de pelo menos 48 horas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Face a eventos de segurança documentados</a:t>
            </a:r>
            <a:endParaRPr lang="en-US" sz="1600" dirty="0"/>
          </a:p>
        </p:txBody>
      </p:sp>
      <p:sp>
        <p:nvSpPr>
          <p:cNvPr id="27" name="hipotese-H4"/>
          <p:cNvSpPr/>
          <p:nvPr/>
        </p:nvSpPr>
        <p:spPr>
          <a:xfrm>
            <a:off x="6172200" y="4389120"/>
            <a:ext cx="5440680" cy="1234440"/>
          </a:xfrm>
          <a:prstGeom prst="roundRect">
            <a:avLst>
              <a:gd name="adj" fmla="val 5926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355080" y="4572000"/>
            <a:ext cx="822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102E"/>
                </a:solidFill>
              </a:rPr>
              <a:t>H4</a:t>
            </a:r>
            <a:endParaRPr lang="en-US" sz="2800" dirty="0"/>
          </a:p>
        </p:txBody>
      </p:sp>
      <p:sp>
        <p:nvSpPr>
          <p:cNvPr id="29" name="Text 26"/>
          <p:cNvSpPr txBox="1"/>
          <p:nvPr/>
        </p:nvSpPr>
        <p:spPr>
          <a:xfrm>
            <a:off x="7223760" y="4526280"/>
            <a:ext cx="4206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</a:rPr>
              <a:t>O desempenho cai em conteúdo angolano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ΔF1-macro ≥ 5 p.p. face aos corpora públicos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genda-1"/>
          <p:cNvSpPr/>
          <p:nvPr/>
        </p:nvSpPr>
        <p:spPr>
          <a:xfrm>
            <a:off x="548640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102A43"/>
          </a:solidFill>
          <a:ln w="9525">
            <a:solidFill>
              <a:srgbClr val="102A43"/>
            </a:solidFill>
            <a:prstDash val="solid"/>
          </a:ln>
        </p:spPr>
      </p:sp>
      <p:sp>
        <p:nvSpPr>
          <p:cNvPr id="3" name="agenda-texto-1"/>
          <p:cNvSpPr txBox="1"/>
          <p:nvPr/>
        </p:nvSpPr>
        <p:spPr>
          <a:xfrm>
            <a:off x="548640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1. Introdução</a:t>
            </a:r>
            <a:endParaRPr lang="en-US" sz="1100" dirty="0"/>
          </a:p>
        </p:txBody>
      </p:sp>
      <p:sp>
        <p:nvSpPr>
          <p:cNvPr id="4" name="agenda-2"/>
          <p:cNvSpPr/>
          <p:nvPr/>
        </p:nvSpPr>
        <p:spPr>
          <a:xfrm>
            <a:off x="2415997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5" name="agenda-texto-2"/>
          <p:cNvSpPr txBox="1"/>
          <p:nvPr/>
        </p:nvSpPr>
        <p:spPr>
          <a:xfrm>
            <a:off x="2415997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96A3"/>
                </a:solidFill>
              </a:rPr>
              <a:t>2. Revisão da literatura</a:t>
            </a:r>
            <a:endParaRPr lang="en-US" sz="1100" dirty="0"/>
          </a:p>
        </p:txBody>
      </p:sp>
      <p:sp>
        <p:nvSpPr>
          <p:cNvPr id="6" name="agenda-3"/>
          <p:cNvSpPr/>
          <p:nvPr/>
        </p:nvSpPr>
        <p:spPr>
          <a:xfrm>
            <a:off x="4283354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7" name="agenda-texto-3"/>
          <p:cNvSpPr txBox="1"/>
          <p:nvPr/>
        </p:nvSpPr>
        <p:spPr>
          <a:xfrm>
            <a:off x="4283354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96A3"/>
                </a:solidFill>
              </a:rPr>
              <a:t>3. Metodologia</a:t>
            </a:r>
            <a:endParaRPr lang="en-US" sz="1100" dirty="0"/>
          </a:p>
        </p:txBody>
      </p:sp>
      <p:sp>
        <p:nvSpPr>
          <p:cNvPr id="8" name="agenda-4"/>
          <p:cNvSpPr/>
          <p:nvPr/>
        </p:nvSpPr>
        <p:spPr>
          <a:xfrm>
            <a:off x="6150712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9" name="agenda-texto-4"/>
          <p:cNvSpPr txBox="1"/>
          <p:nvPr/>
        </p:nvSpPr>
        <p:spPr>
          <a:xfrm>
            <a:off x="6150712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96A3"/>
                </a:solidFill>
              </a:rPr>
              <a:t>4. Resultados</a:t>
            </a:r>
            <a:endParaRPr lang="en-US" sz="1100" dirty="0"/>
          </a:p>
        </p:txBody>
      </p:sp>
      <p:sp>
        <p:nvSpPr>
          <p:cNvPr id="10" name="agenda-5"/>
          <p:cNvSpPr/>
          <p:nvPr/>
        </p:nvSpPr>
        <p:spPr>
          <a:xfrm>
            <a:off x="8018069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11" name="agenda-texto-5"/>
          <p:cNvSpPr txBox="1"/>
          <p:nvPr/>
        </p:nvSpPr>
        <p:spPr>
          <a:xfrm>
            <a:off x="8018069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96A3"/>
                </a:solidFill>
              </a:rPr>
              <a:t>5. Sistema</a:t>
            </a:r>
            <a:endParaRPr lang="en-US" sz="1100" dirty="0"/>
          </a:p>
        </p:txBody>
      </p:sp>
      <p:sp>
        <p:nvSpPr>
          <p:cNvPr id="12" name="agenda-6"/>
          <p:cNvSpPr/>
          <p:nvPr/>
        </p:nvSpPr>
        <p:spPr>
          <a:xfrm>
            <a:off x="9885426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13" name="agenda-texto-6"/>
          <p:cNvSpPr txBox="1"/>
          <p:nvPr/>
        </p:nvSpPr>
        <p:spPr>
          <a:xfrm>
            <a:off x="9885426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96A3"/>
                </a:solidFill>
              </a:rPr>
              <a:t>6. Conclusões</a:t>
            </a:r>
            <a:endParaRPr lang="en-US" sz="1100" dirty="0"/>
          </a:p>
        </p:txBody>
      </p:sp>
      <p:sp>
        <p:nvSpPr>
          <p:cNvPr id="15" name="Text 0"/>
          <p:cNvSpPr/>
          <p:nvPr>
            <p:ph idx="100" type="title" hasCustomPrompt="1"/>
          </p:nvPr>
        </p:nvSpPr>
        <p:spPr>
          <a:xfrm>
            <a:off x="548640" y="749808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02A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Objectivos: um sistema que se mede antes de se usar</a:t>
            </a:r>
            <a:endParaRPr lang="en-US" sz="2800" dirty="0"/>
          </a:p>
        </p:txBody>
      </p:sp>
      <p:sp>
        <p:nvSpPr>
          <p:cNvPr id="16" name="objectivo-geral"/>
          <p:cNvSpPr/>
          <p:nvPr/>
        </p:nvSpPr>
        <p:spPr>
          <a:xfrm>
            <a:off x="548640" y="1691640"/>
            <a:ext cx="11094415" cy="1097280"/>
          </a:xfrm>
          <a:prstGeom prst="roundRect">
            <a:avLst>
              <a:gd name="adj" fmla="val 6667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2960" y="1691640"/>
            <a:ext cx="1054577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B931"/>
                </a:solidFill>
              </a:rPr>
              <a:t>Objectivo geral  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Desenvolver e avaliar um sistema de apoio à triagem de publicações ameaçadoras em redes sociais angolanas, que combine um classificador adaptado ao português com revisão humana obrigatória e protecção de dados desde a concepção.</a:t>
            </a:r>
            <a:endParaRPr lang="en-US" sz="1500" dirty="0"/>
          </a:p>
        </p:txBody>
      </p:sp>
      <p:sp>
        <p:nvSpPr>
          <p:cNvPr id="18" name="objectivo-OE1"/>
          <p:cNvSpPr/>
          <p:nvPr/>
        </p:nvSpPr>
        <p:spPr>
          <a:xfrm>
            <a:off x="548640" y="3017520"/>
            <a:ext cx="2109155" cy="2743200"/>
          </a:xfrm>
          <a:prstGeom prst="roundRect">
            <a:avLst>
              <a:gd name="adj" fmla="val 3468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31520" y="3154680"/>
            <a:ext cx="17433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8102E"/>
                </a:solidFill>
              </a:rPr>
              <a:t>OE1</a:t>
            </a:r>
            <a:endParaRPr lang="en-US" sz="2200" dirty="0"/>
          </a:p>
        </p:txBody>
      </p:sp>
      <p:sp>
        <p:nvSpPr>
          <p:cNvPr id="20" name="Text 17"/>
          <p:cNvSpPr txBox="1"/>
          <p:nvPr/>
        </p:nvSpPr>
        <p:spPr>
          <a:xfrm>
            <a:off x="731520" y="3657600"/>
            <a:ext cx="174339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Construir um corpus angolano anotado por três anotadores, com proveniência registada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731520" y="5257800"/>
            <a:ext cx="17433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</a:rPr>
              <a:t>sem hipótese</a:t>
            </a:r>
            <a:endParaRPr lang="en-US" sz="1200" dirty="0"/>
          </a:p>
        </p:txBody>
      </p:sp>
      <p:sp>
        <p:nvSpPr>
          <p:cNvPr id="22" name="objectivo-OE2"/>
          <p:cNvSpPr/>
          <p:nvPr/>
        </p:nvSpPr>
        <p:spPr>
          <a:xfrm>
            <a:off x="2794955" y="3017520"/>
            <a:ext cx="2109155" cy="2743200"/>
          </a:xfrm>
          <a:prstGeom prst="roundRect">
            <a:avLst>
              <a:gd name="adj" fmla="val 3468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2977835" y="3154680"/>
            <a:ext cx="17433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8102E"/>
                </a:solidFill>
              </a:rPr>
              <a:t>OE2</a:t>
            </a:r>
            <a:endParaRPr lang="en-US" sz="2200" dirty="0"/>
          </a:p>
        </p:txBody>
      </p:sp>
      <p:sp>
        <p:nvSpPr>
          <p:cNvPr id="24" name="Text 21"/>
          <p:cNvSpPr txBox="1"/>
          <p:nvPr/>
        </p:nvSpPr>
        <p:spPr>
          <a:xfrm>
            <a:off x="2977835" y="3657600"/>
            <a:ext cx="174339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Comparar SVM, Floresta Aleatória, Bi-LSTM e BERTimbau com testes estatísticos</a:t>
            </a:r>
            <a:endParaRPr lang="en-US" sz="1500" dirty="0"/>
          </a:p>
        </p:txBody>
      </p:sp>
      <p:sp>
        <p:nvSpPr>
          <p:cNvPr id="25" name="Text 22"/>
          <p:cNvSpPr txBox="1"/>
          <p:nvPr/>
        </p:nvSpPr>
        <p:spPr>
          <a:xfrm>
            <a:off x="2977835" y="5257800"/>
            <a:ext cx="17433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2A43"/>
                </a:solidFill>
              </a:rPr>
              <a:t>testado por H1</a:t>
            </a:r>
            <a:endParaRPr lang="en-US" sz="1200" dirty="0"/>
          </a:p>
        </p:txBody>
      </p:sp>
      <p:sp>
        <p:nvSpPr>
          <p:cNvPr id="26" name="objectivo-OE3"/>
          <p:cNvSpPr/>
          <p:nvPr/>
        </p:nvSpPr>
        <p:spPr>
          <a:xfrm>
            <a:off x="5041270" y="3017520"/>
            <a:ext cx="2109155" cy="2743200"/>
          </a:xfrm>
          <a:prstGeom prst="roundRect">
            <a:avLst>
              <a:gd name="adj" fmla="val 3468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5224150" y="3154680"/>
            <a:ext cx="17433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8102E"/>
                </a:solidFill>
              </a:rPr>
              <a:t>OE3</a:t>
            </a:r>
            <a:endParaRPr lang="en-US" sz="2200" dirty="0"/>
          </a:p>
        </p:txBody>
      </p:sp>
      <p:sp>
        <p:nvSpPr>
          <p:cNvPr id="28" name="Text 25"/>
          <p:cNvSpPr txBox="1"/>
          <p:nvPr/>
        </p:nvSpPr>
        <p:spPr>
          <a:xfrm>
            <a:off x="5224150" y="3657600"/>
            <a:ext cx="174339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Quantificar a perda de desempenho em conteúdo angolano e as suas causas</a:t>
            </a:r>
            <a:endParaRPr lang="en-US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224150" y="5257800"/>
            <a:ext cx="17433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2A43"/>
                </a:solidFill>
              </a:rPr>
              <a:t>testado por H4</a:t>
            </a:r>
            <a:endParaRPr lang="en-US" sz="1200" dirty="0"/>
          </a:p>
        </p:txBody>
      </p:sp>
      <p:sp>
        <p:nvSpPr>
          <p:cNvPr id="30" name="objectivo-OE4"/>
          <p:cNvSpPr/>
          <p:nvPr/>
        </p:nvSpPr>
        <p:spPr>
          <a:xfrm>
            <a:off x="7287585" y="3017520"/>
            <a:ext cx="2109155" cy="2743200"/>
          </a:xfrm>
          <a:prstGeom prst="roundRect">
            <a:avLst>
              <a:gd name="adj" fmla="val 3468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7470465" y="3154680"/>
            <a:ext cx="17433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8102E"/>
                </a:solidFill>
              </a:rPr>
              <a:t>OE4</a:t>
            </a:r>
            <a:endParaRPr lang="en-US" sz="2200" dirty="0"/>
          </a:p>
        </p:txBody>
      </p:sp>
      <p:sp>
        <p:nvSpPr>
          <p:cNvPr id="32" name="Text 29"/>
          <p:cNvSpPr txBox="1"/>
          <p:nvPr/>
        </p:nvSpPr>
        <p:spPr>
          <a:xfrm>
            <a:off x="7470465" y="3657600"/>
            <a:ext cx="174339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Desenvolver o protótipo de triagem e o protocolo da sua avaliação</a:t>
            </a:r>
            <a:endParaRPr lang="en-US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7470465" y="5257800"/>
            <a:ext cx="17433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2A43"/>
                </a:solidFill>
              </a:rPr>
              <a:t>testado por H2, H3</a:t>
            </a:r>
            <a:endParaRPr lang="en-US" sz="1200" dirty="0"/>
          </a:p>
        </p:txBody>
      </p:sp>
      <p:sp>
        <p:nvSpPr>
          <p:cNvPr id="34" name="objectivo-OE5"/>
          <p:cNvSpPr/>
          <p:nvPr/>
        </p:nvSpPr>
        <p:spPr>
          <a:xfrm>
            <a:off x="9533900" y="3017520"/>
            <a:ext cx="2109155" cy="2743200"/>
          </a:xfrm>
          <a:prstGeom prst="roundRect">
            <a:avLst>
              <a:gd name="adj" fmla="val 3468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9716780" y="3154680"/>
            <a:ext cx="17433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8102E"/>
                </a:solidFill>
              </a:rPr>
              <a:t>OE5</a:t>
            </a:r>
            <a:endParaRPr lang="en-US" sz="2200" dirty="0"/>
          </a:p>
        </p:txBody>
      </p:sp>
      <p:sp>
        <p:nvSpPr>
          <p:cNvPr id="36" name="Text 33"/>
          <p:cNvSpPr txBox="1"/>
          <p:nvPr/>
        </p:nvSpPr>
        <p:spPr>
          <a:xfrm>
            <a:off x="9716780" y="3657600"/>
            <a:ext cx="174339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Propor um quadro de uso responsável conforme a Lei n.º 22/11</a:t>
            </a:r>
            <a:endParaRPr lang="en-US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9716780" y="5257800"/>
            <a:ext cx="17433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</a:rPr>
              <a:t>sem hipótese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genda-1"/>
          <p:cNvSpPr/>
          <p:nvPr/>
        </p:nvSpPr>
        <p:spPr>
          <a:xfrm>
            <a:off x="548640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3" name="agenda-texto-1"/>
          <p:cNvSpPr txBox="1"/>
          <p:nvPr/>
        </p:nvSpPr>
        <p:spPr>
          <a:xfrm>
            <a:off x="548640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</a:rPr>
              <a:t>1. Introdução</a:t>
            </a:r>
            <a:endParaRPr lang="en-US" sz="1100" dirty="0"/>
          </a:p>
        </p:txBody>
      </p:sp>
      <p:sp>
        <p:nvSpPr>
          <p:cNvPr id="4" name="agenda-2"/>
          <p:cNvSpPr/>
          <p:nvPr/>
        </p:nvSpPr>
        <p:spPr>
          <a:xfrm>
            <a:off x="2415997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102A43"/>
          </a:solidFill>
          <a:ln w="9525">
            <a:solidFill>
              <a:srgbClr val="102A43"/>
            </a:solidFill>
            <a:prstDash val="solid"/>
          </a:ln>
        </p:spPr>
      </p:sp>
      <p:sp>
        <p:nvSpPr>
          <p:cNvPr id="5" name="agenda-texto-2"/>
          <p:cNvSpPr txBox="1"/>
          <p:nvPr/>
        </p:nvSpPr>
        <p:spPr>
          <a:xfrm>
            <a:off x="2415997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2. Revisão da literatura</a:t>
            </a:r>
            <a:endParaRPr lang="en-US" sz="1100" dirty="0"/>
          </a:p>
        </p:txBody>
      </p:sp>
      <p:sp>
        <p:nvSpPr>
          <p:cNvPr id="6" name="agenda-3"/>
          <p:cNvSpPr/>
          <p:nvPr/>
        </p:nvSpPr>
        <p:spPr>
          <a:xfrm>
            <a:off x="4283354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7" name="agenda-texto-3"/>
          <p:cNvSpPr txBox="1"/>
          <p:nvPr/>
        </p:nvSpPr>
        <p:spPr>
          <a:xfrm>
            <a:off x="4283354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96A3"/>
                </a:solidFill>
              </a:rPr>
              <a:t>3. Metodologia</a:t>
            </a:r>
            <a:endParaRPr lang="en-US" sz="1100" dirty="0"/>
          </a:p>
        </p:txBody>
      </p:sp>
      <p:sp>
        <p:nvSpPr>
          <p:cNvPr id="8" name="agenda-4"/>
          <p:cNvSpPr/>
          <p:nvPr/>
        </p:nvSpPr>
        <p:spPr>
          <a:xfrm>
            <a:off x="6150712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9" name="agenda-texto-4"/>
          <p:cNvSpPr txBox="1"/>
          <p:nvPr/>
        </p:nvSpPr>
        <p:spPr>
          <a:xfrm>
            <a:off x="6150712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96A3"/>
                </a:solidFill>
              </a:rPr>
              <a:t>4. Resultados</a:t>
            </a:r>
            <a:endParaRPr lang="en-US" sz="1100" dirty="0"/>
          </a:p>
        </p:txBody>
      </p:sp>
      <p:sp>
        <p:nvSpPr>
          <p:cNvPr id="10" name="agenda-5"/>
          <p:cNvSpPr/>
          <p:nvPr/>
        </p:nvSpPr>
        <p:spPr>
          <a:xfrm>
            <a:off x="8018069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11" name="agenda-texto-5"/>
          <p:cNvSpPr txBox="1"/>
          <p:nvPr/>
        </p:nvSpPr>
        <p:spPr>
          <a:xfrm>
            <a:off x="8018069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96A3"/>
                </a:solidFill>
              </a:rPr>
              <a:t>5. Sistema</a:t>
            </a:r>
            <a:endParaRPr lang="en-US" sz="1100" dirty="0"/>
          </a:p>
        </p:txBody>
      </p:sp>
      <p:sp>
        <p:nvSpPr>
          <p:cNvPr id="12" name="agenda-6"/>
          <p:cNvSpPr/>
          <p:nvPr/>
        </p:nvSpPr>
        <p:spPr>
          <a:xfrm>
            <a:off x="9885426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13" name="agenda-texto-6"/>
          <p:cNvSpPr txBox="1"/>
          <p:nvPr/>
        </p:nvSpPr>
        <p:spPr>
          <a:xfrm>
            <a:off x="9885426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96A3"/>
                </a:solidFill>
              </a:rPr>
              <a:t>6. Conclusões</a:t>
            </a:r>
            <a:endParaRPr lang="en-US" sz="1100" dirty="0"/>
          </a:p>
        </p:txBody>
      </p:sp>
      <p:sp>
        <p:nvSpPr>
          <p:cNvPr id="15" name="Text 0"/>
          <p:cNvSpPr/>
          <p:nvPr>
            <p:ph idx="100" type="title" hasCustomPrompt="1"/>
          </p:nvPr>
        </p:nvSpPr>
        <p:spPr>
          <a:xfrm>
            <a:off x="548640" y="749808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02A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literatura deixa uma lacuna para Angola</a:t>
            </a:r>
            <a:endParaRPr lang="en-US" sz="2800" dirty="0"/>
          </a:p>
        </p:txBody>
      </p:sp>
      <p:sp>
        <p:nvSpPr>
          <p:cNvPr id="16" name="lacuna-1"/>
          <p:cNvSpPr/>
          <p:nvPr/>
        </p:nvSpPr>
        <p:spPr>
          <a:xfrm>
            <a:off x="548640" y="1737360"/>
            <a:ext cx="2651760" cy="3520440"/>
          </a:xfrm>
          <a:prstGeom prst="roundRect">
            <a:avLst>
              <a:gd name="adj" fmla="val 2759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7" name="icone-circulo"/>
          <p:cNvSpPr/>
          <p:nvPr/>
        </p:nvSpPr>
        <p:spPr>
          <a:xfrm>
            <a:off x="777240" y="1965960"/>
            <a:ext cx="731520" cy="731520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pic>
        <p:nvPicPr>
          <p:cNvPr id="18" name="i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148840"/>
            <a:ext cx="365760" cy="365760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777240" y="283464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</a:rPr>
              <a:t>Sistemas existentes</a:t>
            </a:r>
            <a:endParaRPr lang="en-US" sz="1600" dirty="0"/>
          </a:p>
        </p:txBody>
      </p:sp>
      <p:sp>
        <p:nvSpPr>
          <p:cNvPr id="20" name="Text 16"/>
          <p:cNvSpPr txBox="1"/>
          <p:nvPr/>
        </p:nvSpPr>
        <p:spPr>
          <a:xfrm>
            <a:off x="777240" y="3246120"/>
            <a:ext cx="224028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Programas e plataformas internacionais sem português de Angola ou com dependência de fornecedores externos (Defense Advanced Research Projects Agency, 2016; Palantir Technologies, 2021).</a:t>
            </a:r>
            <a:endParaRPr lang="en-US" sz="1300" dirty="0"/>
          </a:p>
        </p:txBody>
      </p:sp>
      <p:sp>
        <p:nvSpPr>
          <p:cNvPr id="21" name="lacuna-2"/>
          <p:cNvSpPr/>
          <p:nvPr/>
        </p:nvSpPr>
        <p:spPr>
          <a:xfrm>
            <a:off x="3364992" y="1737360"/>
            <a:ext cx="2651760" cy="3520440"/>
          </a:xfrm>
          <a:prstGeom prst="roundRect">
            <a:avLst>
              <a:gd name="adj" fmla="val 2759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22" name="icone-circulo"/>
          <p:cNvSpPr/>
          <p:nvPr/>
        </p:nvSpPr>
        <p:spPr>
          <a:xfrm>
            <a:off x="3593592" y="1965960"/>
            <a:ext cx="731520" cy="731520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pic>
        <p:nvPicPr>
          <p:cNvPr id="23" name="i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6472" y="2148840"/>
            <a:ext cx="365760" cy="365760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3593592" y="283464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</a:rPr>
              <a:t>Recursos brasileiros</a:t>
            </a:r>
            <a:endParaRPr lang="en-US" sz="1600" dirty="0"/>
          </a:p>
        </p:txBody>
      </p:sp>
      <p:sp>
        <p:nvSpPr>
          <p:cNvPr id="25" name="Text 20"/>
          <p:cNvSpPr txBox="1"/>
          <p:nvPr/>
        </p:nvSpPr>
        <p:spPr>
          <a:xfrm>
            <a:off x="3593592" y="3246120"/>
            <a:ext cx="224028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BERTimbau, ToLD-BR, HateBR e Fake.br são brasileiros; a desinformação disponível são notícias completas (Souza et al., 2020; Monteiro et al., 2018).</a:t>
            </a:r>
            <a:endParaRPr lang="en-US" sz="1300" dirty="0"/>
          </a:p>
        </p:txBody>
      </p:sp>
      <p:sp>
        <p:nvSpPr>
          <p:cNvPr id="26" name="lacuna-3"/>
          <p:cNvSpPr/>
          <p:nvPr/>
        </p:nvSpPr>
        <p:spPr>
          <a:xfrm>
            <a:off x="6181344" y="1737360"/>
            <a:ext cx="2651760" cy="3520440"/>
          </a:xfrm>
          <a:prstGeom prst="roundRect">
            <a:avLst>
              <a:gd name="adj" fmla="val 2759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27" name="icone-circulo"/>
          <p:cNvSpPr/>
          <p:nvPr/>
        </p:nvSpPr>
        <p:spPr>
          <a:xfrm>
            <a:off x="6409944" y="1965960"/>
            <a:ext cx="731520" cy="731520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pic>
        <p:nvPicPr>
          <p:cNvPr id="28" name="i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2824" y="2148840"/>
            <a:ext cx="365760" cy="365760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6409944" y="283464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</a:rPr>
              <a:t>Generalização fraca</a:t>
            </a:r>
            <a:endParaRPr lang="en-US" sz="1600" dirty="0"/>
          </a:p>
        </p:txBody>
      </p:sp>
      <p:sp>
        <p:nvSpPr>
          <p:cNvPr id="30" name="Text 24"/>
          <p:cNvSpPr txBox="1"/>
          <p:nvPr/>
        </p:nvSpPr>
        <p:spPr>
          <a:xfrm>
            <a:off x="6409944" y="3246120"/>
            <a:ext cx="224028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Os classificadores de conteúdo nocivo perdem desempenho fora do domínio de treino e aprendem atalhos (Fortuna et al., 2021; Geirhos et al., 2020).</a:t>
            </a:r>
            <a:endParaRPr lang="en-US" sz="1300" dirty="0"/>
          </a:p>
        </p:txBody>
      </p:sp>
      <p:sp>
        <p:nvSpPr>
          <p:cNvPr id="31" name="lacuna-4"/>
          <p:cNvSpPr/>
          <p:nvPr/>
        </p:nvSpPr>
        <p:spPr>
          <a:xfrm>
            <a:off x="8997696" y="1737360"/>
            <a:ext cx="2651760" cy="3520440"/>
          </a:xfrm>
          <a:prstGeom prst="roundRect">
            <a:avLst>
              <a:gd name="adj" fmla="val 2759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32" name="icone-circulo"/>
          <p:cNvSpPr/>
          <p:nvPr/>
        </p:nvSpPr>
        <p:spPr>
          <a:xfrm>
            <a:off x="9226296" y="1965960"/>
            <a:ext cx="731520" cy="731520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pic>
        <p:nvPicPr>
          <p:cNvPr id="33" name="icon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9176" y="2148840"/>
            <a:ext cx="365760" cy="365760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9226296" y="283464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</a:rPr>
              <a:t>O humano no circuito</a:t>
            </a:r>
            <a:endParaRPr lang="en-US" sz="1600" dirty="0"/>
          </a:p>
        </p:txBody>
      </p:sp>
      <p:sp>
        <p:nvSpPr>
          <p:cNvPr id="35" name="Text 28"/>
          <p:cNvSpPr txBox="1"/>
          <p:nvPr/>
        </p:nvSpPr>
        <p:spPr>
          <a:xfrm>
            <a:off x="9226296" y="3246120"/>
            <a:ext cx="224028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Rever não basta: complacência e viés de automação exigem revisão cega e amostras de controlo (Parasuraman &amp; Manzey, 2010).</a:t>
            </a:r>
            <a:endParaRPr lang="en-US" sz="1300" dirty="0"/>
          </a:p>
        </p:txBody>
      </p:sp>
      <p:sp>
        <p:nvSpPr>
          <p:cNvPr id="36" name="Text 29"/>
          <p:cNvSpPr txBox="1"/>
          <p:nvPr/>
        </p:nvSpPr>
        <p:spPr>
          <a:xfrm>
            <a:off x="548640" y="548640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8102E"/>
                </a:solidFill>
              </a:rPr>
              <a:t>Lacuna: não existe uma medida do desempenho destes modelos em conteúdo angolano, nem um sistema de triagem desenhado em função das suas limitações.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  <p:transition spd="med">
    <p:push dir="u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genda-1"/>
          <p:cNvSpPr/>
          <p:nvPr/>
        </p:nvSpPr>
        <p:spPr>
          <a:xfrm>
            <a:off x="548640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3" name="agenda-texto-1"/>
          <p:cNvSpPr txBox="1"/>
          <p:nvPr/>
        </p:nvSpPr>
        <p:spPr>
          <a:xfrm>
            <a:off x="548640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</a:rPr>
              <a:t>1. Introdução</a:t>
            </a:r>
            <a:endParaRPr lang="en-US" sz="1100" dirty="0"/>
          </a:p>
        </p:txBody>
      </p:sp>
      <p:sp>
        <p:nvSpPr>
          <p:cNvPr id="4" name="agenda-2"/>
          <p:cNvSpPr/>
          <p:nvPr/>
        </p:nvSpPr>
        <p:spPr>
          <a:xfrm>
            <a:off x="2415997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5" name="agenda-texto-2"/>
          <p:cNvSpPr txBox="1"/>
          <p:nvPr/>
        </p:nvSpPr>
        <p:spPr>
          <a:xfrm>
            <a:off x="2415997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</a:rPr>
              <a:t>2. Revisão da literatura</a:t>
            </a:r>
            <a:endParaRPr lang="en-US" sz="1100" dirty="0"/>
          </a:p>
        </p:txBody>
      </p:sp>
      <p:sp>
        <p:nvSpPr>
          <p:cNvPr id="6" name="agenda-3"/>
          <p:cNvSpPr/>
          <p:nvPr/>
        </p:nvSpPr>
        <p:spPr>
          <a:xfrm>
            <a:off x="4283354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102A43"/>
          </a:solidFill>
          <a:ln w="9525">
            <a:solidFill>
              <a:srgbClr val="102A43"/>
            </a:solidFill>
            <a:prstDash val="solid"/>
          </a:ln>
        </p:spPr>
      </p:sp>
      <p:sp>
        <p:nvSpPr>
          <p:cNvPr id="7" name="agenda-texto-3"/>
          <p:cNvSpPr txBox="1"/>
          <p:nvPr/>
        </p:nvSpPr>
        <p:spPr>
          <a:xfrm>
            <a:off x="4283354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3. Metodologia</a:t>
            </a:r>
            <a:endParaRPr lang="en-US" sz="1100" dirty="0"/>
          </a:p>
        </p:txBody>
      </p:sp>
      <p:sp>
        <p:nvSpPr>
          <p:cNvPr id="8" name="agenda-4"/>
          <p:cNvSpPr/>
          <p:nvPr/>
        </p:nvSpPr>
        <p:spPr>
          <a:xfrm>
            <a:off x="6150712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9" name="agenda-texto-4"/>
          <p:cNvSpPr txBox="1"/>
          <p:nvPr/>
        </p:nvSpPr>
        <p:spPr>
          <a:xfrm>
            <a:off x="6150712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96A3"/>
                </a:solidFill>
              </a:rPr>
              <a:t>4. Resultados</a:t>
            </a:r>
            <a:endParaRPr lang="en-US" sz="1100" dirty="0"/>
          </a:p>
        </p:txBody>
      </p:sp>
      <p:sp>
        <p:nvSpPr>
          <p:cNvPr id="10" name="agenda-5"/>
          <p:cNvSpPr/>
          <p:nvPr/>
        </p:nvSpPr>
        <p:spPr>
          <a:xfrm>
            <a:off x="8018069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11" name="agenda-texto-5"/>
          <p:cNvSpPr txBox="1"/>
          <p:nvPr/>
        </p:nvSpPr>
        <p:spPr>
          <a:xfrm>
            <a:off x="8018069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96A3"/>
                </a:solidFill>
              </a:rPr>
              <a:t>5. Sistema</a:t>
            </a:r>
            <a:endParaRPr lang="en-US" sz="1100" dirty="0"/>
          </a:p>
        </p:txBody>
      </p:sp>
      <p:sp>
        <p:nvSpPr>
          <p:cNvPr id="12" name="agenda-6"/>
          <p:cNvSpPr/>
          <p:nvPr/>
        </p:nvSpPr>
        <p:spPr>
          <a:xfrm>
            <a:off x="9885426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13" name="agenda-texto-6"/>
          <p:cNvSpPr txBox="1"/>
          <p:nvPr/>
        </p:nvSpPr>
        <p:spPr>
          <a:xfrm>
            <a:off x="9885426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96A3"/>
                </a:solidFill>
              </a:rPr>
              <a:t>6. Conclusões</a:t>
            </a:r>
            <a:endParaRPr lang="en-US" sz="1100" dirty="0"/>
          </a:p>
        </p:txBody>
      </p:sp>
      <p:sp>
        <p:nvSpPr>
          <p:cNvPr id="15" name="Text 0"/>
          <p:cNvSpPr/>
          <p:nvPr>
            <p:ph idx="100" type="title" hasCustomPrompt="1"/>
          </p:nvPr>
        </p:nvSpPr>
        <p:spPr>
          <a:xfrm>
            <a:off x="548640" y="749808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02A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Investigação em três fases: dados, modelos e sistema</a:t>
            </a:r>
            <a:endParaRPr lang="en-US" sz="2800" dirty="0"/>
          </a:p>
        </p:txBody>
      </p:sp>
      <p:pic>
        <p:nvPicPr>
          <p:cNvPr id="16" name="figura-desenho" descr="fig3_1_desenh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63040" y="1645920"/>
            <a:ext cx="6903720" cy="4123944"/>
          </a:xfrm>
          <a:prstGeom prst="rect">
            <a:avLst/>
          </a:prstGeom>
        </p:spPr>
      </p:pic>
      <p:sp>
        <p:nvSpPr>
          <p:cNvPr id="17" name="legenda"/>
          <p:cNvSpPr txBox="1"/>
          <p:nvPr/>
        </p:nvSpPr>
        <p:spPr>
          <a:xfrm>
            <a:off x="1463040" y="5806440"/>
            <a:ext cx="6903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Figura 1 – Desenho da investigação</a:t>
            </a:r>
            <a:endParaRPr lang="en-US" sz="1000" dirty="0"/>
          </a:p>
        </p:txBody>
      </p:sp>
      <p:sp>
        <p:nvSpPr>
          <p:cNvPr id="18" name="Text 14"/>
          <p:cNvSpPr txBox="1"/>
          <p:nvPr/>
        </p:nvSpPr>
        <p:spPr>
          <a:xfrm>
            <a:off x="8732520" y="1783080"/>
            <a:ext cx="29260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02A43"/>
                </a:solidFill>
              </a:rPr>
              <a:t>Paradigma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Pragmático e aplicado; abordagem quantitativa</a:t>
            </a:r>
            <a:endParaRPr lang="en-US" sz="1400" dirty="0"/>
          </a:p>
          <a:p>
            <a:pPr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02A43"/>
                </a:solidFill>
              </a:rPr>
              <a:t>Testes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H1 e H4 com métricas e testes estatísticos; H2 e H3 com o sistema em funcionamento</a:t>
            </a:r>
            <a:endParaRPr lang="en-US" sz="1400" dirty="0"/>
          </a:p>
          <a:p>
            <a:pPr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02A43"/>
                </a:solidFill>
              </a:rPr>
              <a:t>Ética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Só conteúdo público, anonimização à entrada, Lei n.º 22/11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  <p:transition spd="med">
    <p:push dir="u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genda-1"/>
          <p:cNvSpPr/>
          <p:nvPr/>
        </p:nvSpPr>
        <p:spPr>
          <a:xfrm>
            <a:off x="548640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3" name="agenda-texto-1"/>
          <p:cNvSpPr txBox="1"/>
          <p:nvPr/>
        </p:nvSpPr>
        <p:spPr>
          <a:xfrm>
            <a:off x="548640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</a:rPr>
              <a:t>1. Introdução</a:t>
            </a:r>
            <a:endParaRPr lang="en-US" sz="1100" dirty="0"/>
          </a:p>
        </p:txBody>
      </p:sp>
      <p:sp>
        <p:nvSpPr>
          <p:cNvPr id="4" name="agenda-2"/>
          <p:cNvSpPr/>
          <p:nvPr/>
        </p:nvSpPr>
        <p:spPr>
          <a:xfrm>
            <a:off x="2415997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5" name="agenda-texto-2"/>
          <p:cNvSpPr txBox="1"/>
          <p:nvPr/>
        </p:nvSpPr>
        <p:spPr>
          <a:xfrm>
            <a:off x="2415997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</a:rPr>
              <a:t>2. Revisão da literatura</a:t>
            </a:r>
            <a:endParaRPr lang="en-US" sz="1100" dirty="0"/>
          </a:p>
        </p:txBody>
      </p:sp>
      <p:sp>
        <p:nvSpPr>
          <p:cNvPr id="6" name="agenda-3"/>
          <p:cNvSpPr/>
          <p:nvPr/>
        </p:nvSpPr>
        <p:spPr>
          <a:xfrm>
            <a:off x="4283354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102A43"/>
          </a:solidFill>
          <a:ln w="9525">
            <a:solidFill>
              <a:srgbClr val="102A43"/>
            </a:solidFill>
            <a:prstDash val="solid"/>
          </a:ln>
        </p:spPr>
      </p:sp>
      <p:sp>
        <p:nvSpPr>
          <p:cNvPr id="7" name="agenda-texto-3"/>
          <p:cNvSpPr txBox="1"/>
          <p:nvPr/>
        </p:nvSpPr>
        <p:spPr>
          <a:xfrm>
            <a:off x="4283354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3. Metodologia</a:t>
            </a:r>
            <a:endParaRPr lang="en-US" sz="1100" dirty="0"/>
          </a:p>
        </p:txBody>
      </p:sp>
      <p:sp>
        <p:nvSpPr>
          <p:cNvPr id="8" name="agenda-4"/>
          <p:cNvSpPr/>
          <p:nvPr/>
        </p:nvSpPr>
        <p:spPr>
          <a:xfrm>
            <a:off x="6150712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9" name="agenda-texto-4"/>
          <p:cNvSpPr txBox="1"/>
          <p:nvPr/>
        </p:nvSpPr>
        <p:spPr>
          <a:xfrm>
            <a:off x="6150712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96A3"/>
                </a:solidFill>
              </a:rPr>
              <a:t>4. Resultados</a:t>
            </a:r>
            <a:endParaRPr lang="en-US" sz="1100" dirty="0"/>
          </a:p>
        </p:txBody>
      </p:sp>
      <p:sp>
        <p:nvSpPr>
          <p:cNvPr id="10" name="agenda-5"/>
          <p:cNvSpPr/>
          <p:nvPr/>
        </p:nvSpPr>
        <p:spPr>
          <a:xfrm>
            <a:off x="8018069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11" name="agenda-texto-5"/>
          <p:cNvSpPr txBox="1"/>
          <p:nvPr/>
        </p:nvSpPr>
        <p:spPr>
          <a:xfrm>
            <a:off x="8018069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96A3"/>
                </a:solidFill>
              </a:rPr>
              <a:t>5. Sistema</a:t>
            </a:r>
            <a:endParaRPr lang="en-US" sz="1100" dirty="0"/>
          </a:p>
        </p:txBody>
      </p:sp>
      <p:sp>
        <p:nvSpPr>
          <p:cNvPr id="12" name="agenda-6"/>
          <p:cNvSpPr/>
          <p:nvPr/>
        </p:nvSpPr>
        <p:spPr>
          <a:xfrm>
            <a:off x="9885426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13" name="agenda-texto-6"/>
          <p:cNvSpPr txBox="1"/>
          <p:nvPr/>
        </p:nvSpPr>
        <p:spPr>
          <a:xfrm>
            <a:off x="9885426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96A3"/>
                </a:solidFill>
              </a:rPr>
              <a:t>6. Conclusões</a:t>
            </a:r>
            <a:endParaRPr lang="en-US" sz="1100" dirty="0"/>
          </a:p>
        </p:txBody>
      </p:sp>
      <p:sp>
        <p:nvSpPr>
          <p:cNvPr id="15" name="Text 0"/>
          <p:cNvSpPr/>
          <p:nvPr>
            <p:ph idx="100" type="title" hasCustomPrompt="1"/>
          </p:nvPr>
        </p:nvSpPr>
        <p:spPr>
          <a:xfrm>
            <a:off x="548640" y="749808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02A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Corpus angolano: 2 637 publicações e três anotadores</a:t>
            </a:r>
            <a:endParaRPr lang="en-US" sz="2800" dirty="0"/>
          </a:p>
        </p:txBody>
      </p:sp>
      <p:graphicFrame>
        <p:nvGraphicFramePr>
          <p:cNvPr id="16" name="grafico-corpus" descr=""/>
          <p:cNvGraphicFramePr/>
          <p:nvPr/>
        </p:nvGraphicFramePr>
        <p:xfrm>
          <a:off x="548640" y="1600200"/>
          <a:ext cx="5120640" cy="4069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7" name="legenda"/>
          <p:cNvSpPr txBox="1"/>
          <p:nvPr/>
        </p:nvSpPr>
        <p:spPr>
          <a:xfrm>
            <a:off x="548640" y="571500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Figura 2 – Distribuição das etiquetas finais do corpus angolano</a:t>
            </a:r>
            <a:endParaRPr lang="en-US" sz="1000" dirty="0"/>
          </a:p>
        </p:txBody>
      </p:sp>
      <p:sp>
        <p:nvSpPr>
          <p:cNvPr id="18" name="kappa"/>
          <p:cNvSpPr/>
          <p:nvPr/>
        </p:nvSpPr>
        <p:spPr>
          <a:xfrm>
            <a:off x="6080760" y="1737360"/>
            <a:ext cx="2377440" cy="1920240"/>
          </a:xfrm>
          <a:prstGeom prst="roundRect">
            <a:avLst>
              <a:gd name="adj" fmla="val 3810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263640" y="1828800"/>
            <a:ext cx="2057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02A43"/>
                </a:solidFill>
              </a:rPr>
              <a:t>0,718</a:t>
            </a:r>
            <a:endParaRPr lang="en-US" sz="40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κ de Fleiss: acordo substancial</a:t>
            </a:r>
            <a:endParaRPr lang="en-US" sz="4000" dirty="0"/>
          </a:p>
        </p:txBody>
      </p:sp>
      <p:sp>
        <p:nvSpPr>
          <p:cNvPr id="20" name="origem"/>
          <p:cNvSpPr/>
          <p:nvPr/>
        </p:nvSpPr>
        <p:spPr>
          <a:xfrm>
            <a:off x="8641080" y="1737360"/>
            <a:ext cx="2999232" cy="1920240"/>
          </a:xfrm>
          <a:prstGeom prst="roundRect">
            <a:avLst>
              <a:gd name="adj" fmla="val 3810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8823960" y="1828800"/>
            <a:ext cx="2697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02A43"/>
                </a:solidFill>
              </a:rPr>
              <a:t>86%</a:t>
            </a:r>
            <a:endParaRPr lang="en-US" sz="40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comentários do YouTube pela interface oficial</a:t>
            </a:r>
            <a:endParaRPr lang="en-US" sz="4000" dirty="0"/>
          </a:p>
        </p:txBody>
      </p:sp>
      <p:sp>
        <p:nvSpPr>
          <p:cNvPr id="22" name="Text 18"/>
          <p:cNvSpPr txBox="1"/>
          <p:nvPr/>
        </p:nvSpPr>
        <p:spPr>
          <a:xfrm>
            <a:off x="6080760" y="3886200"/>
            <a:ext cx="5577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Autores anonimizados antes de gravar (pseudónimo HMAC)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Desacordo: prevalece a categoria mais grave; 11,3% das ameaças vêm de um só voto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Lotes enriquecidos por tema e por léxico usados só no treino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genda-1"/>
          <p:cNvSpPr/>
          <p:nvPr/>
        </p:nvSpPr>
        <p:spPr>
          <a:xfrm>
            <a:off x="548640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3" name="agenda-texto-1"/>
          <p:cNvSpPr txBox="1"/>
          <p:nvPr/>
        </p:nvSpPr>
        <p:spPr>
          <a:xfrm>
            <a:off x="548640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</a:rPr>
              <a:t>1. Introdução</a:t>
            </a:r>
            <a:endParaRPr lang="en-US" sz="1100" dirty="0"/>
          </a:p>
        </p:txBody>
      </p:sp>
      <p:sp>
        <p:nvSpPr>
          <p:cNvPr id="4" name="agenda-2"/>
          <p:cNvSpPr/>
          <p:nvPr/>
        </p:nvSpPr>
        <p:spPr>
          <a:xfrm>
            <a:off x="2415997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5" name="agenda-texto-2"/>
          <p:cNvSpPr txBox="1"/>
          <p:nvPr/>
        </p:nvSpPr>
        <p:spPr>
          <a:xfrm>
            <a:off x="2415997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</a:rPr>
              <a:t>2. Revisão da literatura</a:t>
            </a:r>
            <a:endParaRPr lang="en-US" sz="1100" dirty="0"/>
          </a:p>
        </p:txBody>
      </p:sp>
      <p:sp>
        <p:nvSpPr>
          <p:cNvPr id="6" name="agenda-3"/>
          <p:cNvSpPr/>
          <p:nvPr/>
        </p:nvSpPr>
        <p:spPr>
          <a:xfrm>
            <a:off x="4283354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102A43"/>
          </a:solidFill>
          <a:ln w="9525">
            <a:solidFill>
              <a:srgbClr val="102A43"/>
            </a:solidFill>
            <a:prstDash val="solid"/>
          </a:ln>
        </p:spPr>
      </p:sp>
      <p:sp>
        <p:nvSpPr>
          <p:cNvPr id="7" name="agenda-texto-3"/>
          <p:cNvSpPr txBox="1"/>
          <p:nvPr/>
        </p:nvSpPr>
        <p:spPr>
          <a:xfrm>
            <a:off x="4283354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3. Metodologia</a:t>
            </a:r>
            <a:endParaRPr lang="en-US" sz="1100" dirty="0"/>
          </a:p>
        </p:txBody>
      </p:sp>
      <p:sp>
        <p:nvSpPr>
          <p:cNvPr id="8" name="agenda-4"/>
          <p:cNvSpPr/>
          <p:nvPr/>
        </p:nvSpPr>
        <p:spPr>
          <a:xfrm>
            <a:off x="6150712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9" name="agenda-texto-4"/>
          <p:cNvSpPr txBox="1"/>
          <p:nvPr/>
        </p:nvSpPr>
        <p:spPr>
          <a:xfrm>
            <a:off x="6150712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96A3"/>
                </a:solidFill>
              </a:rPr>
              <a:t>4. Resultados</a:t>
            </a:r>
            <a:endParaRPr lang="en-US" sz="1100" dirty="0"/>
          </a:p>
        </p:txBody>
      </p:sp>
      <p:sp>
        <p:nvSpPr>
          <p:cNvPr id="10" name="agenda-5"/>
          <p:cNvSpPr/>
          <p:nvPr/>
        </p:nvSpPr>
        <p:spPr>
          <a:xfrm>
            <a:off x="8018069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11" name="agenda-texto-5"/>
          <p:cNvSpPr txBox="1"/>
          <p:nvPr/>
        </p:nvSpPr>
        <p:spPr>
          <a:xfrm>
            <a:off x="8018069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96A3"/>
                </a:solidFill>
              </a:rPr>
              <a:t>5. Sistema</a:t>
            </a:r>
            <a:endParaRPr lang="en-US" sz="1100" dirty="0"/>
          </a:p>
        </p:txBody>
      </p:sp>
      <p:sp>
        <p:nvSpPr>
          <p:cNvPr id="12" name="agenda-6"/>
          <p:cNvSpPr/>
          <p:nvPr/>
        </p:nvSpPr>
        <p:spPr>
          <a:xfrm>
            <a:off x="9885426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13" name="agenda-texto-6"/>
          <p:cNvSpPr txBox="1"/>
          <p:nvPr/>
        </p:nvSpPr>
        <p:spPr>
          <a:xfrm>
            <a:off x="9885426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96A3"/>
                </a:solidFill>
              </a:rPr>
              <a:t>6. Conclusões</a:t>
            </a:r>
            <a:endParaRPr lang="en-US" sz="1100" dirty="0"/>
          </a:p>
        </p:txBody>
      </p:sp>
      <p:sp>
        <p:nvSpPr>
          <p:cNvPr id="15" name="Text 0"/>
          <p:cNvSpPr/>
          <p:nvPr>
            <p:ph idx="100" type="title" hasCustomPrompt="1"/>
          </p:nvPr>
        </p:nvSpPr>
        <p:spPr>
          <a:xfrm>
            <a:off x="548640" y="749808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02A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Corpus híbrido de 26 859 registos e quatro modelos comparados</a:t>
            </a:r>
            <a:endParaRPr lang="en-US" sz="28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1645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Tabela 1 – Composição do corpus híbrido por fonte</a:t>
            </a:r>
            <a:endParaRPr lang="en-US" sz="1100" dirty="0"/>
          </a:p>
        </p:txBody>
      </p:sp>
      <p:graphicFrame>
        <p:nvGraphicFramePr>
          <p:cNvPr id="10" name="tabela-corpu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65960"/>
          <a:ext cx="54864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377440"/>
                <a:gridCol w="137160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Fonte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A4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Origem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A4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Registos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A4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733"/>
                          </a:solidFill>
                        </a:rPr>
                        <a:t>ToLD-BR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2733"/>
                          </a:solidFill>
                        </a:rPr>
                        <a:t>Twitter, Brasil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733"/>
                          </a:solidFill>
                        </a:rPr>
                        <a:t>12 709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733"/>
                          </a:solidFill>
                        </a:rPr>
                        <a:t>Fake.br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2733"/>
                          </a:solidFill>
                        </a:rPr>
                        <a:t>Notícias, Brasil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733"/>
                          </a:solidFill>
                        </a:rPr>
                        <a:t>7 199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B2733"/>
                          </a:solidFill>
                        </a:rPr>
                        <a:t>HateBR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2733"/>
                          </a:solidFill>
                        </a:rPr>
                        <a:t>Instagram, Brasil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2733"/>
                          </a:solidFill>
                        </a:rPr>
                        <a:t>4 378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C8102E"/>
                          </a:solidFill>
                        </a:rPr>
                        <a:t>Piloto angolano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102E"/>
                          </a:solidFill>
                        </a:rPr>
                        <a:t>YouTube e outros, Angola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C8102E"/>
                          </a:solidFill>
                        </a:rPr>
                        <a:t>2 573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B2733"/>
                          </a:solidFill>
                        </a:rPr>
                        <a:t>Total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B2733"/>
                          </a:solidFill>
                        </a:rPr>
                        <a:t>26 859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8" name="Text 14"/>
          <p:cNvSpPr txBox="1"/>
          <p:nvPr/>
        </p:nvSpPr>
        <p:spPr>
          <a:xfrm>
            <a:off x="548640" y="43891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B6B7F"/>
                </a:solidFill>
              </a:rPr>
              <a:t>Nota: valores após deduplicação. Divisão estratificada 70/15/15; teste com 3 987 itens.</a:t>
            </a:r>
            <a:endParaRPr lang="en-US" sz="1000" dirty="0"/>
          </a:p>
        </p:txBody>
      </p:sp>
      <p:sp>
        <p:nvSpPr>
          <p:cNvPr id="19" name="modelo-1"/>
          <p:cNvSpPr/>
          <p:nvPr/>
        </p:nvSpPr>
        <p:spPr>
          <a:xfrm>
            <a:off x="6492240" y="1691640"/>
            <a:ext cx="5148072" cy="621792"/>
          </a:xfrm>
          <a:prstGeom prst="roundRect">
            <a:avLst>
              <a:gd name="adj" fmla="val 11765"/>
            </a:avLst>
          </a:prstGeom>
          <a:solidFill>
            <a:srgbClr val="8FA3B8"/>
          </a:solidFill>
          <a:ln w="12700">
            <a:solidFill>
              <a:srgbClr val="8FA3B8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675120" y="1691640"/>
            <a:ext cx="4846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SVM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   TF-IDF</a:t>
            </a:r>
            <a:endParaRPr lang="en-US" sz="1600" dirty="0"/>
          </a:p>
        </p:txBody>
      </p:sp>
      <p:sp>
        <p:nvSpPr>
          <p:cNvPr id="21" name="modelo-2"/>
          <p:cNvSpPr/>
          <p:nvPr/>
        </p:nvSpPr>
        <p:spPr>
          <a:xfrm>
            <a:off x="6492240" y="2441448"/>
            <a:ext cx="5148072" cy="621792"/>
          </a:xfrm>
          <a:prstGeom prst="roundRect">
            <a:avLst>
              <a:gd name="adj" fmla="val 11765"/>
            </a:avLst>
          </a:prstGeom>
          <a:solidFill>
            <a:srgbClr val="8FA3B8"/>
          </a:solidFill>
          <a:ln w="12700">
            <a:solidFill>
              <a:srgbClr val="8FA3B8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675120" y="2441448"/>
            <a:ext cx="4846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Floresta Aleatória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   TF-IDF</a:t>
            </a:r>
            <a:endParaRPr lang="en-US" sz="1600" dirty="0"/>
          </a:p>
        </p:txBody>
      </p:sp>
      <p:sp>
        <p:nvSpPr>
          <p:cNvPr id="23" name="modelo-3"/>
          <p:cNvSpPr/>
          <p:nvPr/>
        </p:nvSpPr>
        <p:spPr>
          <a:xfrm>
            <a:off x="6492240" y="3191256"/>
            <a:ext cx="5148072" cy="621792"/>
          </a:xfrm>
          <a:prstGeom prst="roundRect">
            <a:avLst>
              <a:gd name="adj" fmla="val 11765"/>
            </a:avLst>
          </a:prstGeom>
          <a:solidFill>
            <a:srgbClr val="2E6F9E"/>
          </a:solidFill>
          <a:ln w="12700">
            <a:solidFill>
              <a:srgbClr val="2E6F9E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675120" y="3191256"/>
            <a:ext cx="4846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Bi-LSTM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   Sequência</a:t>
            </a:r>
            <a:endParaRPr lang="en-US" sz="1600" dirty="0"/>
          </a:p>
        </p:txBody>
      </p:sp>
      <p:sp>
        <p:nvSpPr>
          <p:cNvPr id="25" name="modelo-4"/>
          <p:cNvSpPr/>
          <p:nvPr/>
        </p:nvSpPr>
        <p:spPr>
          <a:xfrm>
            <a:off x="6492240" y="3941064"/>
            <a:ext cx="5148072" cy="621792"/>
          </a:xfrm>
          <a:prstGeom prst="roundRect">
            <a:avLst>
              <a:gd name="adj" fmla="val 11765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6675120" y="3941064"/>
            <a:ext cx="4846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BERTimbau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   Transformer pré-treinado</a:t>
            </a:r>
            <a:endParaRPr lang="en-US" sz="1600" dirty="0"/>
          </a:p>
        </p:txBody>
      </p:sp>
      <p:sp>
        <p:nvSpPr>
          <p:cNvPr id="27" name="Text 23"/>
          <p:cNvSpPr txBox="1"/>
          <p:nvPr/>
        </p:nvSpPr>
        <p:spPr>
          <a:xfrm>
            <a:off x="6492240" y="4754880"/>
            <a:ext cx="51480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02A43"/>
                </a:solidFill>
              </a:rPr>
              <a:t>Protocolo fixado antes do teste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F1-macro com IC 95% por bootstrap; McNemar com correcção de Bonferroni; variantes escolhidas na validação.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genda-1"/>
          <p:cNvSpPr/>
          <p:nvPr/>
        </p:nvSpPr>
        <p:spPr>
          <a:xfrm>
            <a:off x="548640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3" name="agenda-texto-1"/>
          <p:cNvSpPr txBox="1"/>
          <p:nvPr/>
        </p:nvSpPr>
        <p:spPr>
          <a:xfrm>
            <a:off x="548640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</a:rPr>
              <a:t>1. Introdução</a:t>
            </a:r>
            <a:endParaRPr lang="en-US" sz="1100" dirty="0"/>
          </a:p>
        </p:txBody>
      </p:sp>
      <p:sp>
        <p:nvSpPr>
          <p:cNvPr id="4" name="agenda-2"/>
          <p:cNvSpPr/>
          <p:nvPr/>
        </p:nvSpPr>
        <p:spPr>
          <a:xfrm>
            <a:off x="2415997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5" name="agenda-texto-2"/>
          <p:cNvSpPr txBox="1"/>
          <p:nvPr/>
        </p:nvSpPr>
        <p:spPr>
          <a:xfrm>
            <a:off x="2415997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</a:rPr>
              <a:t>2. Revisão da literatura</a:t>
            </a:r>
            <a:endParaRPr lang="en-US" sz="1100" dirty="0"/>
          </a:p>
        </p:txBody>
      </p:sp>
      <p:sp>
        <p:nvSpPr>
          <p:cNvPr id="6" name="agenda-3"/>
          <p:cNvSpPr/>
          <p:nvPr/>
        </p:nvSpPr>
        <p:spPr>
          <a:xfrm>
            <a:off x="4283354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7" name="agenda-texto-3"/>
          <p:cNvSpPr txBox="1"/>
          <p:nvPr/>
        </p:nvSpPr>
        <p:spPr>
          <a:xfrm>
            <a:off x="4283354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</a:rPr>
              <a:t>3. Metodologia</a:t>
            </a:r>
            <a:endParaRPr lang="en-US" sz="1100" dirty="0"/>
          </a:p>
        </p:txBody>
      </p:sp>
      <p:sp>
        <p:nvSpPr>
          <p:cNvPr id="8" name="agenda-4"/>
          <p:cNvSpPr/>
          <p:nvPr/>
        </p:nvSpPr>
        <p:spPr>
          <a:xfrm>
            <a:off x="6150712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102A43"/>
          </a:solidFill>
          <a:ln w="9525">
            <a:solidFill>
              <a:srgbClr val="102A43"/>
            </a:solidFill>
            <a:prstDash val="solid"/>
          </a:ln>
        </p:spPr>
      </p:sp>
      <p:sp>
        <p:nvSpPr>
          <p:cNvPr id="9" name="agenda-texto-4"/>
          <p:cNvSpPr txBox="1"/>
          <p:nvPr/>
        </p:nvSpPr>
        <p:spPr>
          <a:xfrm>
            <a:off x="6150712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4. Resultados</a:t>
            </a:r>
            <a:endParaRPr lang="en-US" sz="1100" dirty="0"/>
          </a:p>
        </p:txBody>
      </p:sp>
      <p:sp>
        <p:nvSpPr>
          <p:cNvPr id="10" name="agenda-5"/>
          <p:cNvSpPr/>
          <p:nvPr/>
        </p:nvSpPr>
        <p:spPr>
          <a:xfrm>
            <a:off x="8018069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11" name="agenda-texto-5"/>
          <p:cNvSpPr txBox="1"/>
          <p:nvPr/>
        </p:nvSpPr>
        <p:spPr>
          <a:xfrm>
            <a:off x="8018069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96A3"/>
                </a:solidFill>
              </a:rPr>
              <a:t>5. Sistema</a:t>
            </a:r>
            <a:endParaRPr lang="en-US" sz="1100" dirty="0"/>
          </a:p>
        </p:txBody>
      </p:sp>
      <p:sp>
        <p:nvSpPr>
          <p:cNvPr id="12" name="agenda-6"/>
          <p:cNvSpPr/>
          <p:nvPr/>
        </p:nvSpPr>
        <p:spPr>
          <a:xfrm>
            <a:off x="9885426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13" name="agenda-texto-6"/>
          <p:cNvSpPr txBox="1"/>
          <p:nvPr/>
        </p:nvSpPr>
        <p:spPr>
          <a:xfrm>
            <a:off x="9885426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96A3"/>
                </a:solidFill>
              </a:rPr>
              <a:t>6. Conclusões</a:t>
            </a:r>
            <a:endParaRPr lang="en-US" sz="1100" dirty="0"/>
          </a:p>
        </p:txBody>
      </p:sp>
      <p:sp>
        <p:nvSpPr>
          <p:cNvPr id="15" name="Text 0"/>
          <p:cNvSpPr/>
          <p:nvPr>
            <p:ph idx="100" type="title" hasCustomPrompt="1"/>
          </p:nvPr>
        </p:nvSpPr>
        <p:spPr>
          <a:xfrm>
            <a:off x="548640" y="749808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02A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BERTimbau supera os restantes modelos em 15 a 17 pontos</a:t>
            </a:r>
            <a:endParaRPr lang="en-US" sz="2800" dirty="0"/>
          </a:p>
        </p:txBody>
      </p:sp>
      <p:graphicFrame>
        <p:nvGraphicFramePr>
          <p:cNvPr id="16" name="grafico-modelos" descr=""/>
          <p:cNvGraphicFramePr/>
          <p:nvPr/>
        </p:nvGraphicFramePr>
        <p:xfrm>
          <a:off x="548640" y="1600200"/>
          <a:ext cx="676656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7" name="legenda"/>
          <p:cNvSpPr txBox="1"/>
          <p:nvPr/>
        </p:nvSpPr>
        <p:spPr>
          <a:xfrm>
            <a:off x="548640" y="576072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Figura 3 – F1-macro dos quatro modelos no conjunto de teste</a:t>
            </a:r>
            <a:endParaRPr lang="en-US" sz="1000" dirty="0"/>
          </a:p>
        </p:txBody>
      </p:sp>
      <p:sp>
        <p:nvSpPr>
          <p:cNvPr id="18" name="ic"/>
          <p:cNvSpPr/>
          <p:nvPr/>
        </p:nvSpPr>
        <p:spPr>
          <a:xfrm>
            <a:off x="7680960" y="1737360"/>
            <a:ext cx="3959352" cy="1325880"/>
          </a:xfrm>
          <a:prstGeom prst="roundRect">
            <a:avLst>
              <a:gd name="adj" fmla="val 5517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7863840" y="1783080"/>
            <a:ext cx="3657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2A43"/>
                </a:solidFill>
              </a:rPr>
              <a:t>0,807</a:t>
            </a:r>
            <a:endParaRPr lang="en-US" sz="3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BERTimbau, IC 95% de 0,774 a 0,838</a:t>
            </a:r>
            <a:endParaRPr lang="en-US" sz="3400" dirty="0"/>
          </a:p>
        </p:txBody>
      </p:sp>
      <p:sp>
        <p:nvSpPr>
          <p:cNvPr id="20" name="mcnemar"/>
          <p:cNvSpPr/>
          <p:nvPr/>
        </p:nvSpPr>
        <p:spPr>
          <a:xfrm>
            <a:off x="7680960" y="3246120"/>
            <a:ext cx="3959352" cy="1143000"/>
          </a:xfrm>
          <a:prstGeom prst="roundRect">
            <a:avLst>
              <a:gd name="adj" fmla="val 6400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7863840" y="3291840"/>
            <a:ext cx="3657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02A43"/>
                </a:solidFill>
              </a:rPr>
              <a:t>p &lt; 10⁻⁴⁷</a:t>
            </a:r>
            <a:endParaRPr lang="en-US" sz="26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McNemar com Bonferroni, nos três pares</a:t>
            </a:r>
            <a:endParaRPr lang="en-US" sz="2600" dirty="0"/>
          </a:p>
        </p:txBody>
      </p:sp>
      <p:sp>
        <p:nvSpPr>
          <p:cNvPr id="22" name="h1"/>
          <p:cNvSpPr/>
          <p:nvPr/>
        </p:nvSpPr>
        <p:spPr>
          <a:xfrm>
            <a:off x="7680960" y="4572000"/>
            <a:ext cx="3959352" cy="1097280"/>
          </a:xfrm>
          <a:prstGeom prst="roundRect">
            <a:avLst>
              <a:gd name="adj" fmla="val 6667"/>
            </a:avLst>
          </a:prstGeom>
          <a:solidFill>
            <a:srgbClr val="FBE9EC"/>
          </a:solidFill>
          <a:ln w="12700">
            <a:solidFill>
              <a:srgbClr val="FBE9EC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7863840" y="4617720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102E"/>
                </a:solidFill>
              </a:rPr>
              <a:t>H1 parcialmente confirmada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 Bi-LSTM não se distingue da Floresta Aleatória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  <p:transition spd="med">
    <p:push dir="u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genda-1"/>
          <p:cNvSpPr/>
          <p:nvPr/>
        </p:nvSpPr>
        <p:spPr>
          <a:xfrm>
            <a:off x="548640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3" name="agenda-texto-1"/>
          <p:cNvSpPr txBox="1"/>
          <p:nvPr/>
        </p:nvSpPr>
        <p:spPr>
          <a:xfrm>
            <a:off x="548640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</a:rPr>
              <a:t>1. Introdução</a:t>
            </a:r>
            <a:endParaRPr lang="en-US" sz="1100" dirty="0"/>
          </a:p>
        </p:txBody>
      </p:sp>
      <p:sp>
        <p:nvSpPr>
          <p:cNvPr id="4" name="agenda-2"/>
          <p:cNvSpPr/>
          <p:nvPr/>
        </p:nvSpPr>
        <p:spPr>
          <a:xfrm>
            <a:off x="2415997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5" name="agenda-texto-2"/>
          <p:cNvSpPr txBox="1"/>
          <p:nvPr/>
        </p:nvSpPr>
        <p:spPr>
          <a:xfrm>
            <a:off x="2415997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</a:rPr>
              <a:t>2. Revisão da literatura</a:t>
            </a:r>
            <a:endParaRPr lang="en-US" sz="1100" dirty="0"/>
          </a:p>
        </p:txBody>
      </p:sp>
      <p:sp>
        <p:nvSpPr>
          <p:cNvPr id="6" name="agenda-3"/>
          <p:cNvSpPr/>
          <p:nvPr/>
        </p:nvSpPr>
        <p:spPr>
          <a:xfrm>
            <a:off x="4283354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7" name="agenda-texto-3"/>
          <p:cNvSpPr txBox="1"/>
          <p:nvPr/>
        </p:nvSpPr>
        <p:spPr>
          <a:xfrm>
            <a:off x="4283354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</a:rPr>
              <a:t>3. Metodologia</a:t>
            </a:r>
            <a:endParaRPr lang="en-US" sz="1100" dirty="0"/>
          </a:p>
        </p:txBody>
      </p:sp>
      <p:sp>
        <p:nvSpPr>
          <p:cNvPr id="8" name="agenda-4"/>
          <p:cNvSpPr/>
          <p:nvPr/>
        </p:nvSpPr>
        <p:spPr>
          <a:xfrm>
            <a:off x="6150712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102A43"/>
          </a:solidFill>
          <a:ln w="9525">
            <a:solidFill>
              <a:srgbClr val="102A43"/>
            </a:solidFill>
            <a:prstDash val="solid"/>
          </a:ln>
        </p:spPr>
      </p:sp>
      <p:sp>
        <p:nvSpPr>
          <p:cNvPr id="9" name="agenda-texto-4"/>
          <p:cNvSpPr txBox="1"/>
          <p:nvPr/>
        </p:nvSpPr>
        <p:spPr>
          <a:xfrm>
            <a:off x="6150712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4. Resultados</a:t>
            </a:r>
            <a:endParaRPr lang="en-US" sz="1100" dirty="0"/>
          </a:p>
        </p:txBody>
      </p:sp>
      <p:sp>
        <p:nvSpPr>
          <p:cNvPr id="10" name="agenda-5"/>
          <p:cNvSpPr/>
          <p:nvPr/>
        </p:nvSpPr>
        <p:spPr>
          <a:xfrm>
            <a:off x="8018069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11" name="agenda-texto-5"/>
          <p:cNvSpPr txBox="1"/>
          <p:nvPr/>
        </p:nvSpPr>
        <p:spPr>
          <a:xfrm>
            <a:off x="8018069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96A3"/>
                </a:solidFill>
              </a:rPr>
              <a:t>5. Sistema</a:t>
            </a:r>
            <a:endParaRPr lang="en-US" sz="1100" dirty="0"/>
          </a:p>
        </p:txBody>
      </p:sp>
      <p:sp>
        <p:nvSpPr>
          <p:cNvPr id="12" name="agenda-6"/>
          <p:cNvSpPr/>
          <p:nvPr/>
        </p:nvSpPr>
        <p:spPr>
          <a:xfrm>
            <a:off x="9885426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13" name="agenda-texto-6"/>
          <p:cNvSpPr txBox="1"/>
          <p:nvPr/>
        </p:nvSpPr>
        <p:spPr>
          <a:xfrm>
            <a:off x="9885426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96A3"/>
                </a:solidFill>
              </a:rPr>
              <a:t>6. Conclusões</a:t>
            </a:r>
            <a:endParaRPr lang="en-US" sz="1100" dirty="0"/>
          </a:p>
        </p:txBody>
      </p:sp>
      <p:sp>
        <p:nvSpPr>
          <p:cNvPr id="15" name="Text 0"/>
          <p:cNvSpPr/>
          <p:nvPr>
            <p:ph idx="100" type="title" hasCustomPrompt="1"/>
          </p:nvPr>
        </p:nvSpPr>
        <p:spPr>
          <a:xfrm>
            <a:off x="548640" y="749808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02A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conteúdo angolano o F1-macro cai 38,6 pontos (H4)</a:t>
            </a:r>
            <a:endParaRPr lang="en-US" sz="2800" dirty="0"/>
          </a:p>
        </p:txBody>
      </p:sp>
      <p:graphicFrame>
        <p:nvGraphicFramePr>
          <p:cNvPr id="16" name="grafico-h4" descr=""/>
          <p:cNvGraphicFramePr/>
          <p:nvPr/>
        </p:nvGraphicFramePr>
        <p:xfrm>
          <a:off x="548640" y="1600200"/>
          <a:ext cx="69494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7" name="legenda"/>
          <p:cNvSpPr txBox="1"/>
          <p:nvPr/>
        </p:nvSpPr>
        <p:spPr>
          <a:xfrm>
            <a:off x="548640" y="576072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Figura 4 – F1 do BERTimbau por categoria: corpus público e piloto angolano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i="1" dirty="0">
                <a:solidFill>
                  <a:srgbClr val="5B6B7F"/>
                </a:solidFill>
              </a:rPr>
              <a:t>Nota: o corpus público não tem Mobilização Hostil.</a:t>
            </a:r>
            <a:endParaRPr lang="en-US" sz="1000" dirty="0"/>
          </a:p>
        </p:txBody>
      </p:sp>
      <p:sp>
        <p:nvSpPr>
          <p:cNvPr id="18" name="queda"/>
          <p:cNvSpPr/>
          <p:nvPr/>
        </p:nvSpPr>
        <p:spPr>
          <a:xfrm>
            <a:off x="7818120" y="1737360"/>
            <a:ext cx="3822192" cy="1554480"/>
          </a:xfrm>
          <a:prstGeom prst="roundRect">
            <a:avLst>
              <a:gd name="adj" fmla="val 4706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8001000" y="1783080"/>
            <a:ext cx="3566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8102E"/>
                </a:solidFill>
              </a:rPr>
              <a:t>0,919 → 0,533</a:t>
            </a:r>
            <a:endParaRPr lang="en-US" sz="30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F1-macro: público → angolano (IC sem sobreposição)</a:t>
            </a:r>
            <a:endParaRPr lang="en-US" sz="3000" dirty="0"/>
          </a:p>
        </p:txBody>
      </p:sp>
      <p:sp>
        <p:nvSpPr>
          <p:cNvPr id="20" name="Text 16"/>
          <p:cNvSpPr txBox="1"/>
          <p:nvPr/>
        </p:nvSpPr>
        <p:spPr>
          <a:xfrm>
            <a:off x="7818120" y="3520440"/>
            <a:ext cx="382219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02A43"/>
                </a:solidFill>
              </a:rPr>
              <a:t>Desinformação: 0,99 → 0,24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 modelo aprendeu o estilo das notícias do Fake.br, não o fenómeno (aprendizagem de atalhos).</a:t>
            </a:r>
            <a:endParaRPr lang="en-US" sz="1400" dirty="0"/>
          </a:p>
          <a:p>
            <a:pPr indent="0" marL="0"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C8102E"/>
                </a:solidFill>
              </a:rPr>
              <a:t>H4 confirmada, com reservas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Piloto pequeno (n = 355); não separa língua, plataforma e registo.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genda-1"/>
          <p:cNvSpPr/>
          <p:nvPr/>
        </p:nvSpPr>
        <p:spPr>
          <a:xfrm>
            <a:off x="548640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3" name="agenda-texto-1"/>
          <p:cNvSpPr txBox="1"/>
          <p:nvPr/>
        </p:nvSpPr>
        <p:spPr>
          <a:xfrm>
            <a:off x="548640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</a:rPr>
              <a:t>1. Introdução</a:t>
            </a:r>
            <a:endParaRPr lang="en-US" sz="1100" dirty="0"/>
          </a:p>
        </p:txBody>
      </p:sp>
      <p:sp>
        <p:nvSpPr>
          <p:cNvPr id="4" name="agenda-2"/>
          <p:cNvSpPr/>
          <p:nvPr/>
        </p:nvSpPr>
        <p:spPr>
          <a:xfrm>
            <a:off x="2415997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5" name="agenda-texto-2"/>
          <p:cNvSpPr txBox="1"/>
          <p:nvPr/>
        </p:nvSpPr>
        <p:spPr>
          <a:xfrm>
            <a:off x="2415997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</a:rPr>
              <a:t>2. Revisão da literatura</a:t>
            </a:r>
            <a:endParaRPr lang="en-US" sz="1100" dirty="0"/>
          </a:p>
        </p:txBody>
      </p:sp>
      <p:sp>
        <p:nvSpPr>
          <p:cNvPr id="6" name="agenda-3"/>
          <p:cNvSpPr/>
          <p:nvPr/>
        </p:nvSpPr>
        <p:spPr>
          <a:xfrm>
            <a:off x="4283354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7" name="agenda-texto-3"/>
          <p:cNvSpPr txBox="1"/>
          <p:nvPr/>
        </p:nvSpPr>
        <p:spPr>
          <a:xfrm>
            <a:off x="4283354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</a:rPr>
              <a:t>3. Metodologia</a:t>
            </a:r>
            <a:endParaRPr lang="en-US" sz="1100" dirty="0"/>
          </a:p>
        </p:txBody>
      </p:sp>
      <p:sp>
        <p:nvSpPr>
          <p:cNvPr id="8" name="agenda-4"/>
          <p:cNvSpPr/>
          <p:nvPr/>
        </p:nvSpPr>
        <p:spPr>
          <a:xfrm>
            <a:off x="6150712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102A43"/>
          </a:solidFill>
          <a:ln w="9525">
            <a:solidFill>
              <a:srgbClr val="102A43"/>
            </a:solidFill>
            <a:prstDash val="solid"/>
          </a:ln>
        </p:spPr>
      </p:sp>
      <p:sp>
        <p:nvSpPr>
          <p:cNvPr id="9" name="agenda-texto-4"/>
          <p:cNvSpPr txBox="1"/>
          <p:nvPr/>
        </p:nvSpPr>
        <p:spPr>
          <a:xfrm>
            <a:off x="6150712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4. Resultados</a:t>
            </a:r>
            <a:endParaRPr lang="en-US" sz="1100" dirty="0"/>
          </a:p>
        </p:txBody>
      </p:sp>
      <p:sp>
        <p:nvSpPr>
          <p:cNvPr id="10" name="agenda-5"/>
          <p:cNvSpPr/>
          <p:nvPr/>
        </p:nvSpPr>
        <p:spPr>
          <a:xfrm>
            <a:off x="8018069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11" name="agenda-texto-5"/>
          <p:cNvSpPr txBox="1"/>
          <p:nvPr/>
        </p:nvSpPr>
        <p:spPr>
          <a:xfrm>
            <a:off x="8018069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96A3"/>
                </a:solidFill>
              </a:rPr>
              <a:t>5. Sistema</a:t>
            </a:r>
            <a:endParaRPr lang="en-US" sz="1100" dirty="0"/>
          </a:p>
        </p:txBody>
      </p:sp>
      <p:sp>
        <p:nvSpPr>
          <p:cNvPr id="12" name="agenda-6"/>
          <p:cNvSpPr/>
          <p:nvPr/>
        </p:nvSpPr>
        <p:spPr>
          <a:xfrm>
            <a:off x="9885426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13" name="agenda-texto-6"/>
          <p:cNvSpPr txBox="1"/>
          <p:nvPr/>
        </p:nvSpPr>
        <p:spPr>
          <a:xfrm>
            <a:off x="9885426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96A3"/>
                </a:solidFill>
              </a:rPr>
              <a:t>6. Conclusões</a:t>
            </a:r>
            <a:endParaRPr lang="en-US" sz="1100" dirty="0"/>
          </a:p>
        </p:txBody>
      </p:sp>
      <p:sp>
        <p:nvSpPr>
          <p:cNvPr id="15" name="Text 0"/>
          <p:cNvSpPr/>
          <p:nvPr>
            <p:ph idx="100" type="title" hasCustomPrompt="1"/>
          </p:nvPr>
        </p:nvSpPr>
        <p:spPr>
          <a:xfrm>
            <a:off x="548640" y="749808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02A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fila encontra 80% das ameaças em 25% da leitura</a:t>
            </a:r>
            <a:endParaRPr lang="en-US" sz="2800" dirty="0"/>
          </a:p>
        </p:txBody>
      </p:sp>
      <p:graphicFrame>
        <p:nvGraphicFramePr>
          <p:cNvPr id="16" name="grafico-esforco" descr=""/>
          <p:cNvGraphicFramePr/>
          <p:nvPr/>
        </p:nvGraphicFramePr>
        <p:xfrm>
          <a:off x="548640" y="1600200"/>
          <a:ext cx="69494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7" name="legenda"/>
          <p:cNvSpPr txBox="1"/>
          <p:nvPr/>
        </p:nvSpPr>
        <p:spPr>
          <a:xfrm>
            <a:off x="548640" y="576072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Figura 5 – Curva de esforço de revisão no conjunto de teste</a:t>
            </a:r>
            <a:endParaRPr lang="en-US" sz="1000" dirty="0"/>
          </a:p>
        </p:txBody>
      </p:sp>
      <p:sp>
        <p:nvSpPr>
          <p:cNvPr id="18" name="ponto-1"/>
          <p:cNvSpPr/>
          <p:nvPr/>
        </p:nvSpPr>
        <p:spPr>
          <a:xfrm>
            <a:off x="7818120" y="1691640"/>
            <a:ext cx="3822192" cy="1234440"/>
          </a:xfrm>
          <a:prstGeom prst="roundRect">
            <a:avLst>
              <a:gd name="adj" fmla="val 5926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7955280" y="1691640"/>
            <a:ext cx="1325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02A43"/>
                </a:solidFill>
              </a:rPr>
              <a:t>25%</a:t>
            </a:r>
            <a:endParaRPr lang="en-US" sz="2600" dirty="0"/>
          </a:p>
        </p:txBody>
      </p:sp>
      <p:sp>
        <p:nvSpPr>
          <p:cNvPr id="20" name="Text 16"/>
          <p:cNvSpPr txBox="1"/>
          <p:nvPr/>
        </p:nvSpPr>
        <p:spPr>
          <a:xfrm>
            <a:off x="9326880" y="1691640"/>
            <a:ext cx="21945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da fila revista encontra 80% das ameaças (BERTimbau)</a:t>
            </a:r>
            <a:endParaRPr lang="en-US" sz="1200" dirty="0"/>
          </a:p>
        </p:txBody>
      </p:sp>
      <p:sp>
        <p:nvSpPr>
          <p:cNvPr id="21" name="ponto-2"/>
          <p:cNvSpPr/>
          <p:nvPr/>
        </p:nvSpPr>
        <p:spPr>
          <a:xfrm>
            <a:off x="7818120" y="3063240"/>
            <a:ext cx="3822192" cy="1234440"/>
          </a:xfrm>
          <a:prstGeom prst="roundRect">
            <a:avLst>
              <a:gd name="adj" fmla="val 5926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7955280" y="3063240"/>
            <a:ext cx="1325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8102E"/>
                </a:solidFill>
              </a:rPr>
              <a:t>927.ª</a:t>
            </a:r>
            <a:endParaRPr lang="en-US" sz="2600" dirty="0"/>
          </a:p>
        </p:txBody>
      </p:sp>
      <p:sp>
        <p:nvSpPr>
          <p:cNvPr id="23" name="Text 19"/>
          <p:cNvSpPr txBox="1"/>
          <p:nvPr/>
        </p:nvSpPr>
        <p:spPr>
          <a:xfrm>
            <a:off x="9326880" y="3063240"/>
            <a:ext cx="21945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posição mediana da Mobilização Hostil: a ordem segue a confiança, não a gravidade</a:t>
            </a:r>
            <a:endParaRPr lang="en-US" sz="1200" dirty="0"/>
          </a:p>
        </p:txBody>
      </p:sp>
      <p:sp>
        <p:nvSpPr>
          <p:cNvPr id="24" name="ponto-3"/>
          <p:cNvSpPr/>
          <p:nvPr/>
        </p:nvSpPr>
        <p:spPr>
          <a:xfrm>
            <a:off x="7818120" y="4434840"/>
            <a:ext cx="3822192" cy="1234440"/>
          </a:xfrm>
          <a:prstGeom prst="roundRect">
            <a:avLst>
              <a:gd name="adj" fmla="val 5926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7955280" y="4434840"/>
            <a:ext cx="1325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9A7400"/>
                </a:solidFill>
              </a:rPr>
              <a:t>11,8%</a:t>
            </a:r>
            <a:endParaRPr lang="en-US" sz="2600" dirty="0"/>
          </a:p>
        </p:txBody>
      </p:sp>
      <p:sp>
        <p:nvSpPr>
          <p:cNvPr id="26" name="Text 22"/>
          <p:cNvSpPr txBox="1"/>
          <p:nvPr/>
        </p:nvSpPr>
        <p:spPr>
          <a:xfrm>
            <a:off x="9326880" y="4434840"/>
            <a:ext cx="21945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das ameaças ficam entre os Normais: daí a amostra de controlo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genda-1"/>
          <p:cNvSpPr/>
          <p:nvPr/>
        </p:nvSpPr>
        <p:spPr>
          <a:xfrm>
            <a:off x="548640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3" name="agenda-texto-1"/>
          <p:cNvSpPr txBox="1"/>
          <p:nvPr/>
        </p:nvSpPr>
        <p:spPr>
          <a:xfrm>
            <a:off x="548640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</a:rPr>
              <a:t>1. Introdução</a:t>
            </a:r>
            <a:endParaRPr lang="en-US" sz="1100" dirty="0"/>
          </a:p>
        </p:txBody>
      </p:sp>
      <p:sp>
        <p:nvSpPr>
          <p:cNvPr id="4" name="agenda-2"/>
          <p:cNvSpPr/>
          <p:nvPr/>
        </p:nvSpPr>
        <p:spPr>
          <a:xfrm>
            <a:off x="2415997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5" name="agenda-texto-2"/>
          <p:cNvSpPr txBox="1"/>
          <p:nvPr/>
        </p:nvSpPr>
        <p:spPr>
          <a:xfrm>
            <a:off x="2415997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</a:rPr>
              <a:t>2. Revisão da literatura</a:t>
            </a:r>
            <a:endParaRPr lang="en-US" sz="1100" dirty="0"/>
          </a:p>
        </p:txBody>
      </p:sp>
      <p:sp>
        <p:nvSpPr>
          <p:cNvPr id="6" name="agenda-3"/>
          <p:cNvSpPr/>
          <p:nvPr/>
        </p:nvSpPr>
        <p:spPr>
          <a:xfrm>
            <a:off x="4283354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7" name="agenda-texto-3"/>
          <p:cNvSpPr txBox="1"/>
          <p:nvPr/>
        </p:nvSpPr>
        <p:spPr>
          <a:xfrm>
            <a:off x="4283354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</a:rPr>
              <a:t>3. Metodologia</a:t>
            </a:r>
            <a:endParaRPr lang="en-US" sz="1100" dirty="0"/>
          </a:p>
        </p:txBody>
      </p:sp>
      <p:sp>
        <p:nvSpPr>
          <p:cNvPr id="8" name="agenda-4"/>
          <p:cNvSpPr/>
          <p:nvPr/>
        </p:nvSpPr>
        <p:spPr>
          <a:xfrm>
            <a:off x="6150712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102A43"/>
          </a:solidFill>
          <a:ln w="9525">
            <a:solidFill>
              <a:srgbClr val="102A43"/>
            </a:solidFill>
            <a:prstDash val="solid"/>
          </a:ln>
        </p:spPr>
      </p:sp>
      <p:sp>
        <p:nvSpPr>
          <p:cNvPr id="9" name="agenda-texto-4"/>
          <p:cNvSpPr txBox="1"/>
          <p:nvPr/>
        </p:nvSpPr>
        <p:spPr>
          <a:xfrm>
            <a:off x="6150712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4. Resultados</a:t>
            </a:r>
            <a:endParaRPr lang="en-US" sz="1100" dirty="0"/>
          </a:p>
        </p:txBody>
      </p:sp>
      <p:sp>
        <p:nvSpPr>
          <p:cNvPr id="10" name="agenda-5"/>
          <p:cNvSpPr/>
          <p:nvPr/>
        </p:nvSpPr>
        <p:spPr>
          <a:xfrm>
            <a:off x="8018069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11" name="agenda-texto-5"/>
          <p:cNvSpPr txBox="1"/>
          <p:nvPr/>
        </p:nvSpPr>
        <p:spPr>
          <a:xfrm>
            <a:off x="8018069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96A3"/>
                </a:solidFill>
              </a:rPr>
              <a:t>5. Sistema</a:t>
            </a:r>
            <a:endParaRPr lang="en-US" sz="1100" dirty="0"/>
          </a:p>
        </p:txBody>
      </p:sp>
      <p:sp>
        <p:nvSpPr>
          <p:cNvPr id="12" name="agenda-6"/>
          <p:cNvSpPr/>
          <p:nvPr/>
        </p:nvSpPr>
        <p:spPr>
          <a:xfrm>
            <a:off x="9885426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13" name="agenda-texto-6"/>
          <p:cNvSpPr txBox="1"/>
          <p:nvPr/>
        </p:nvSpPr>
        <p:spPr>
          <a:xfrm>
            <a:off x="9885426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96A3"/>
                </a:solidFill>
              </a:rPr>
              <a:t>6. Conclusões</a:t>
            </a:r>
            <a:endParaRPr lang="en-US" sz="1100" dirty="0"/>
          </a:p>
        </p:txBody>
      </p:sp>
      <p:sp>
        <p:nvSpPr>
          <p:cNvPr id="15" name="Text 0"/>
          <p:cNvSpPr/>
          <p:nvPr>
            <p:ph idx="100" type="title" hasCustomPrompt="1"/>
          </p:nvPr>
        </p:nvSpPr>
        <p:spPr>
          <a:xfrm>
            <a:off x="548640" y="749808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02A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publicação é processada em 0,63 s, sem GPU (H2)</a:t>
            </a:r>
            <a:endParaRPr lang="en-US" sz="2800" dirty="0"/>
          </a:p>
        </p:txBody>
      </p:sp>
      <p:sp>
        <p:nvSpPr>
          <p:cNvPr id="16" name="h2-1"/>
          <p:cNvSpPr/>
          <p:nvPr/>
        </p:nvSpPr>
        <p:spPr>
          <a:xfrm>
            <a:off x="548640" y="1783080"/>
            <a:ext cx="3566160" cy="2651760"/>
          </a:xfrm>
          <a:prstGeom prst="roundRect">
            <a:avLst>
              <a:gd name="adj" fmla="val 2759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7" name="icone-circulo"/>
          <p:cNvSpPr/>
          <p:nvPr/>
        </p:nvSpPr>
        <p:spPr>
          <a:xfrm>
            <a:off x="777240" y="2011680"/>
            <a:ext cx="685800" cy="685800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pic>
        <p:nvPicPr>
          <p:cNvPr id="18" name="i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8690" y="2183130"/>
            <a:ext cx="342900" cy="342900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777240" y="278892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02A43"/>
                </a:solidFill>
              </a:rPr>
              <a:t>0,63 s</a:t>
            </a:r>
            <a:endParaRPr lang="en-US" sz="3600" dirty="0"/>
          </a:p>
        </p:txBody>
      </p:sp>
      <p:sp>
        <p:nvSpPr>
          <p:cNvPr id="20" name="Text 16"/>
          <p:cNvSpPr txBox="1"/>
          <p:nvPr/>
        </p:nvSpPr>
        <p:spPr>
          <a:xfrm>
            <a:off x="777240" y="352044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por publicação: importação, anonimização, classificação e gravação</a:t>
            </a:r>
            <a:endParaRPr lang="en-US" sz="1300" dirty="0"/>
          </a:p>
        </p:txBody>
      </p:sp>
      <p:sp>
        <p:nvSpPr>
          <p:cNvPr id="21" name="h2-2"/>
          <p:cNvSpPr/>
          <p:nvPr/>
        </p:nvSpPr>
        <p:spPr>
          <a:xfrm>
            <a:off x="4297680" y="1783080"/>
            <a:ext cx="3566160" cy="2651760"/>
          </a:xfrm>
          <a:prstGeom prst="roundRect">
            <a:avLst>
              <a:gd name="adj" fmla="val 2759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22" name="icone-circulo"/>
          <p:cNvSpPr/>
          <p:nvPr/>
        </p:nvSpPr>
        <p:spPr>
          <a:xfrm>
            <a:off x="4526280" y="2011680"/>
            <a:ext cx="685800" cy="685800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pic>
        <p:nvPicPr>
          <p:cNvPr id="23" name="i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7730" y="2183130"/>
            <a:ext cx="342900" cy="342900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4526280" y="278892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02A43"/>
                </a:solidFill>
              </a:rPr>
              <a:t>36 s</a:t>
            </a:r>
            <a:endParaRPr lang="en-US" sz="3600" dirty="0"/>
          </a:p>
        </p:txBody>
      </p:sp>
      <p:sp>
        <p:nvSpPr>
          <p:cNvPr id="25" name="Text 20"/>
          <p:cNvSpPr txBox="1"/>
          <p:nvPr/>
        </p:nvSpPr>
        <p:spPr>
          <a:xfrm>
            <a:off x="4526280" y="352044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até as primeiras publicações chegarem à fila, com gravação por sublotes</a:t>
            </a:r>
            <a:endParaRPr lang="en-US" sz="1300" dirty="0"/>
          </a:p>
        </p:txBody>
      </p:sp>
      <p:sp>
        <p:nvSpPr>
          <p:cNvPr id="26" name="h2-3"/>
          <p:cNvSpPr/>
          <p:nvPr/>
        </p:nvSpPr>
        <p:spPr>
          <a:xfrm>
            <a:off x="8046720" y="1783080"/>
            <a:ext cx="3566160" cy="2651760"/>
          </a:xfrm>
          <a:prstGeom prst="roundRect">
            <a:avLst>
              <a:gd name="adj" fmla="val 2759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27" name="icone-circulo"/>
          <p:cNvSpPr/>
          <p:nvPr/>
        </p:nvSpPr>
        <p:spPr>
          <a:xfrm>
            <a:off x="8275320" y="2011680"/>
            <a:ext cx="685800" cy="685800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pic>
        <p:nvPicPr>
          <p:cNvPr id="28" name="i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46770" y="2183130"/>
            <a:ext cx="342900" cy="342900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8275320" y="278892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02A43"/>
                </a:solidFill>
              </a:rPr>
              <a:t>≤ 64</a:t>
            </a:r>
            <a:endParaRPr lang="en-US" sz="3600" dirty="0"/>
          </a:p>
        </p:txBody>
      </p:sp>
      <p:sp>
        <p:nvSpPr>
          <p:cNvPr id="30" name="Text 24"/>
          <p:cNvSpPr txBox="1"/>
          <p:nvPr/>
        </p:nvSpPr>
        <p:spPr>
          <a:xfrm>
            <a:off x="8275320" y="352044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publicações por recolha para todas chegarem em menos de 60 s</a:t>
            </a:r>
            <a:endParaRPr lang="en-US" sz="1300" dirty="0"/>
          </a:p>
        </p:txBody>
      </p:sp>
      <p:sp>
        <p:nvSpPr>
          <p:cNvPr id="31" name="Text 25"/>
          <p:cNvSpPr txBox="1"/>
          <p:nvPr/>
        </p:nvSpPr>
        <p:spPr>
          <a:xfrm>
            <a:off x="548640" y="45720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B7F"/>
                </a:solidFill>
              </a:rPr>
              <a:t>Ensaio: 198 comentários reais, 3 repetições, processador Intel N100 com 8 GB de RAM.</a:t>
            </a:r>
            <a:endParaRPr lang="en-US" sz="1100" dirty="0"/>
          </a:p>
        </p:txBody>
      </p:sp>
      <p:sp>
        <p:nvSpPr>
          <p:cNvPr id="32" name="h2-decisao"/>
          <p:cNvSpPr/>
          <p:nvPr/>
        </p:nvSpPr>
        <p:spPr>
          <a:xfrm>
            <a:off x="548640" y="5029200"/>
            <a:ext cx="5440680" cy="777240"/>
          </a:xfrm>
          <a:prstGeom prst="roundRect">
            <a:avLst>
              <a:gd name="adj" fmla="val 9412"/>
            </a:avLst>
          </a:prstGeom>
          <a:solidFill>
            <a:srgbClr val="E6F2EC"/>
          </a:solidFill>
          <a:ln w="12700">
            <a:solidFill>
              <a:srgbClr val="E6F2EC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777240" y="5029200"/>
            <a:ext cx="5120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8A5F"/>
                </a:solidFill>
              </a:rPr>
              <a:t>H2: confirmada com condições</a:t>
            </a:r>
            <a:endParaRPr lang="en-US" sz="1600" dirty="0"/>
          </a:p>
        </p:txBody>
      </p:sp>
      <p:sp>
        <p:nvSpPr>
          <p:cNvPr id="34" name="h3-decisao"/>
          <p:cNvSpPr/>
          <p:nvPr/>
        </p:nvSpPr>
        <p:spPr>
          <a:xfrm>
            <a:off x="6199632" y="5029200"/>
            <a:ext cx="5440680" cy="777240"/>
          </a:xfrm>
          <a:prstGeom prst="roundRect">
            <a:avLst>
              <a:gd name="adj" fmla="val 9412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35" name="Text 29"/>
          <p:cNvSpPr txBox="1"/>
          <p:nvPr/>
        </p:nvSpPr>
        <p:spPr>
          <a:xfrm>
            <a:off x="6428232" y="5029200"/>
            <a:ext cx="5120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6B7F"/>
                </a:solidFill>
              </a:rPr>
              <a:t>H3: não testada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(sem corpus datado em torno de eventos)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genda-1"/>
          <p:cNvSpPr/>
          <p:nvPr/>
        </p:nvSpPr>
        <p:spPr>
          <a:xfrm>
            <a:off x="548640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3" name="agenda-texto-1"/>
          <p:cNvSpPr txBox="1"/>
          <p:nvPr/>
        </p:nvSpPr>
        <p:spPr>
          <a:xfrm>
            <a:off x="548640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</a:rPr>
              <a:t>1. Introdução</a:t>
            </a:r>
            <a:endParaRPr lang="en-US" sz="1100" dirty="0"/>
          </a:p>
        </p:txBody>
      </p:sp>
      <p:sp>
        <p:nvSpPr>
          <p:cNvPr id="4" name="agenda-2"/>
          <p:cNvSpPr/>
          <p:nvPr/>
        </p:nvSpPr>
        <p:spPr>
          <a:xfrm>
            <a:off x="2415997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5" name="agenda-texto-2"/>
          <p:cNvSpPr txBox="1"/>
          <p:nvPr/>
        </p:nvSpPr>
        <p:spPr>
          <a:xfrm>
            <a:off x="2415997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</a:rPr>
              <a:t>2. Revisão da literatura</a:t>
            </a:r>
            <a:endParaRPr lang="en-US" sz="1100" dirty="0"/>
          </a:p>
        </p:txBody>
      </p:sp>
      <p:sp>
        <p:nvSpPr>
          <p:cNvPr id="6" name="agenda-3"/>
          <p:cNvSpPr/>
          <p:nvPr/>
        </p:nvSpPr>
        <p:spPr>
          <a:xfrm>
            <a:off x="4283354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7" name="agenda-texto-3"/>
          <p:cNvSpPr txBox="1"/>
          <p:nvPr/>
        </p:nvSpPr>
        <p:spPr>
          <a:xfrm>
            <a:off x="4283354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</a:rPr>
              <a:t>3. Metodologia</a:t>
            </a:r>
            <a:endParaRPr lang="en-US" sz="1100" dirty="0"/>
          </a:p>
        </p:txBody>
      </p:sp>
      <p:sp>
        <p:nvSpPr>
          <p:cNvPr id="8" name="agenda-4"/>
          <p:cNvSpPr/>
          <p:nvPr/>
        </p:nvSpPr>
        <p:spPr>
          <a:xfrm>
            <a:off x="6150712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102A43"/>
          </a:solidFill>
          <a:ln w="9525">
            <a:solidFill>
              <a:srgbClr val="102A43"/>
            </a:solidFill>
            <a:prstDash val="solid"/>
          </a:ln>
        </p:spPr>
      </p:sp>
      <p:sp>
        <p:nvSpPr>
          <p:cNvPr id="9" name="agenda-texto-4"/>
          <p:cNvSpPr txBox="1"/>
          <p:nvPr/>
        </p:nvSpPr>
        <p:spPr>
          <a:xfrm>
            <a:off x="6150712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4. Resultados</a:t>
            </a:r>
            <a:endParaRPr lang="en-US" sz="1100" dirty="0"/>
          </a:p>
        </p:txBody>
      </p:sp>
      <p:sp>
        <p:nvSpPr>
          <p:cNvPr id="10" name="agenda-5"/>
          <p:cNvSpPr/>
          <p:nvPr/>
        </p:nvSpPr>
        <p:spPr>
          <a:xfrm>
            <a:off x="8018069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11" name="agenda-texto-5"/>
          <p:cNvSpPr txBox="1"/>
          <p:nvPr/>
        </p:nvSpPr>
        <p:spPr>
          <a:xfrm>
            <a:off x="8018069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96A3"/>
                </a:solidFill>
              </a:rPr>
              <a:t>5. Sistema</a:t>
            </a:r>
            <a:endParaRPr lang="en-US" sz="1100" dirty="0"/>
          </a:p>
        </p:txBody>
      </p:sp>
      <p:sp>
        <p:nvSpPr>
          <p:cNvPr id="12" name="agenda-6"/>
          <p:cNvSpPr/>
          <p:nvPr/>
        </p:nvSpPr>
        <p:spPr>
          <a:xfrm>
            <a:off x="9885426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13" name="agenda-texto-6"/>
          <p:cNvSpPr txBox="1"/>
          <p:nvPr/>
        </p:nvSpPr>
        <p:spPr>
          <a:xfrm>
            <a:off x="9885426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96A3"/>
                </a:solidFill>
              </a:rPr>
              <a:t>6. Conclusões</a:t>
            </a:r>
            <a:endParaRPr lang="en-US" sz="1100" dirty="0"/>
          </a:p>
        </p:txBody>
      </p:sp>
      <p:sp>
        <p:nvSpPr>
          <p:cNvPr id="15" name="Text 0"/>
          <p:cNvSpPr/>
          <p:nvPr>
            <p:ph idx="100" type="title" hasCustomPrompt="1"/>
          </p:nvPr>
        </p:nvSpPr>
        <p:spPr>
          <a:xfrm>
            <a:off x="548640" y="749808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02A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estes resultados não permitem afirmar</a:t>
            </a:r>
            <a:endParaRPr lang="en-US" sz="2800" dirty="0"/>
          </a:p>
        </p:txBody>
      </p:sp>
      <p:sp>
        <p:nvSpPr>
          <p:cNvPr id="16" name="limitacao-1"/>
          <p:cNvSpPr/>
          <p:nvPr/>
        </p:nvSpPr>
        <p:spPr>
          <a:xfrm>
            <a:off x="548640" y="1737360"/>
            <a:ext cx="3576218" cy="1874520"/>
          </a:xfrm>
          <a:prstGeom prst="roundRect">
            <a:avLst>
              <a:gd name="adj" fmla="val 3902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7" name="icone-circulo"/>
          <p:cNvSpPr/>
          <p:nvPr/>
        </p:nvSpPr>
        <p:spPr>
          <a:xfrm>
            <a:off x="777240" y="1965960"/>
            <a:ext cx="594360" cy="594360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pic>
        <p:nvPicPr>
          <p:cNvPr id="18" name="i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5830" y="2114550"/>
            <a:ext cx="297180" cy="297180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1508760" y="1965960"/>
            <a:ext cx="243321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</a:rPr>
              <a:t>Piloto pequeno</a:t>
            </a:r>
            <a:endParaRPr lang="en-US" sz="1600" dirty="0"/>
          </a:p>
        </p:txBody>
      </p:sp>
      <p:sp>
        <p:nvSpPr>
          <p:cNvPr id="20" name="Text 16"/>
          <p:cNvSpPr txBox="1"/>
          <p:nvPr/>
        </p:nvSpPr>
        <p:spPr>
          <a:xfrm>
            <a:off x="777240" y="2697480"/>
            <a:ext cx="31190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355 itens de teste; a Mobilização Hostil tem 47, com IC do F1 de 0,42 a 0,66</a:t>
            </a:r>
            <a:endParaRPr lang="en-US" sz="1300" dirty="0"/>
          </a:p>
        </p:txBody>
      </p:sp>
      <p:sp>
        <p:nvSpPr>
          <p:cNvPr id="21" name="limitacao-2"/>
          <p:cNvSpPr/>
          <p:nvPr/>
        </p:nvSpPr>
        <p:spPr>
          <a:xfrm>
            <a:off x="4307738" y="1737360"/>
            <a:ext cx="3576218" cy="1874520"/>
          </a:xfrm>
          <a:prstGeom prst="roundRect">
            <a:avLst>
              <a:gd name="adj" fmla="val 3902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22" name="icone-circulo"/>
          <p:cNvSpPr/>
          <p:nvPr/>
        </p:nvSpPr>
        <p:spPr>
          <a:xfrm>
            <a:off x="4536338" y="1965960"/>
            <a:ext cx="594360" cy="594360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pic>
        <p:nvPicPr>
          <p:cNvPr id="23" name="i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4928" y="2114550"/>
            <a:ext cx="297180" cy="297180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5267858" y="1965960"/>
            <a:ext cx="243321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</a:rPr>
              <a:t>Teste dominado pelo Brasil</a:t>
            </a:r>
            <a:endParaRPr lang="en-US" sz="1600" dirty="0"/>
          </a:p>
        </p:txBody>
      </p:sp>
      <p:sp>
        <p:nvSpPr>
          <p:cNvPr id="25" name="Text 20"/>
          <p:cNvSpPr txBox="1"/>
          <p:nvPr/>
        </p:nvSpPr>
        <p:spPr>
          <a:xfrm>
            <a:off x="4536338" y="2697480"/>
            <a:ext cx="31190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91% do teste é brasileiro; para Angola, a estimativa é 0,53</a:t>
            </a:r>
            <a:endParaRPr lang="en-US" sz="1300" dirty="0"/>
          </a:p>
        </p:txBody>
      </p:sp>
      <p:sp>
        <p:nvSpPr>
          <p:cNvPr id="26" name="limitacao-3"/>
          <p:cNvSpPr/>
          <p:nvPr/>
        </p:nvSpPr>
        <p:spPr>
          <a:xfrm>
            <a:off x="8066837" y="1737360"/>
            <a:ext cx="3576218" cy="1874520"/>
          </a:xfrm>
          <a:prstGeom prst="roundRect">
            <a:avLst>
              <a:gd name="adj" fmla="val 3902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27" name="icone-circulo"/>
          <p:cNvSpPr/>
          <p:nvPr/>
        </p:nvSpPr>
        <p:spPr>
          <a:xfrm>
            <a:off x="8295437" y="1965960"/>
            <a:ext cx="594360" cy="594360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pic>
        <p:nvPicPr>
          <p:cNvPr id="28" name="i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44027" y="2114550"/>
            <a:ext cx="297180" cy="297180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9026957" y="1965960"/>
            <a:ext cx="243321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</a:rPr>
              <a:t>Desinformação em notícias</a:t>
            </a:r>
            <a:endParaRPr lang="en-US" sz="1600" dirty="0"/>
          </a:p>
        </p:txBody>
      </p:sp>
      <p:sp>
        <p:nvSpPr>
          <p:cNvPr id="30" name="Text 24"/>
          <p:cNvSpPr txBox="1"/>
          <p:nvPr/>
        </p:nvSpPr>
        <p:spPr>
          <a:xfrm>
            <a:off x="8295437" y="2697480"/>
            <a:ext cx="31190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 única fonte pública são notícias completas, não comentários</a:t>
            </a:r>
            <a:endParaRPr lang="en-US" sz="1300" dirty="0"/>
          </a:p>
        </p:txBody>
      </p:sp>
      <p:sp>
        <p:nvSpPr>
          <p:cNvPr id="31" name="limitacao-4"/>
          <p:cNvSpPr/>
          <p:nvPr/>
        </p:nvSpPr>
        <p:spPr>
          <a:xfrm>
            <a:off x="548640" y="3794760"/>
            <a:ext cx="3576218" cy="1874520"/>
          </a:xfrm>
          <a:prstGeom prst="roundRect">
            <a:avLst>
              <a:gd name="adj" fmla="val 3902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32" name="icone-circulo"/>
          <p:cNvSpPr/>
          <p:nvPr/>
        </p:nvSpPr>
        <p:spPr>
          <a:xfrm>
            <a:off x="777240" y="4023360"/>
            <a:ext cx="594360" cy="594360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pic>
        <p:nvPicPr>
          <p:cNvPr id="33" name="icon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5830" y="4171950"/>
            <a:ext cx="297180" cy="297180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1508760" y="4023360"/>
            <a:ext cx="243321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</a:rPr>
              <a:t>Causas não separadas</a:t>
            </a:r>
            <a:endParaRPr lang="en-US" sz="1600" dirty="0"/>
          </a:p>
        </p:txBody>
      </p:sp>
      <p:sp>
        <p:nvSpPr>
          <p:cNvPr id="35" name="Text 28"/>
          <p:cNvSpPr txBox="1"/>
          <p:nvPr/>
        </p:nvSpPr>
        <p:spPr>
          <a:xfrm>
            <a:off x="777240" y="4754880"/>
            <a:ext cx="31190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Língua, plataforma e registo variam ao mesmo tempo no piloto</a:t>
            </a:r>
            <a:endParaRPr lang="en-US" sz="1300" dirty="0"/>
          </a:p>
        </p:txBody>
      </p:sp>
      <p:sp>
        <p:nvSpPr>
          <p:cNvPr id="36" name="limitacao-5"/>
          <p:cNvSpPr/>
          <p:nvPr/>
        </p:nvSpPr>
        <p:spPr>
          <a:xfrm>
            <a:off x="4307738" y="3794760"/>
            <a:ext cx="3576218" cy="1874520"/>
          </a:xfrm>
          <a:prstGeom prst="roundRect">
            <a:avLst>
              <a:gd name="adj" fmla="val 3902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37" name="icone-circulo"/>
          <p:cNvSpPr/>
          <p:nvPr/>
        </p:nvSpPr>
        <p:spPr>
          <a:xfrm>
            <a:off x="4536338" y="4023360"/>
            <a:ext cx="594360" cy="594360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pic>
        <p:nvPicPr>
          <p:cNvPr id="38" name="icone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84928" y="4171950"/>
            <a:ext cx="297180" cy="297180"/>
          </a:xfrm>
          <a:prstGeom prst="rect">
            <a:avLst/>
          </a:prstGeom>
        </p:spPr>
      </p:pic>
      <p:sp>
        <p:nvSpPr>
          <p:cNvPr id="39" name="Text 31"/>
          <p:cNvSpPr txBox="1"/>
          <p:nvPr/>
        </p:nvSpPr>
        <p:spPr>
          <a:xfrm>
            <a:off x="5267858" y="4023360"/>
            <a:ext cx="243321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</a:rPr>
              <a:t>Uso real por medir</a:t>
            </a:r>
            <a:endParaRPr lang="en-US" sz="1600" dirty="0"/>
          </a:p>
        </p:txBody>
      </p:sp>
      <p:sp>
        <p:nvSpPr>
          <p:cNvPr id="40" name="Text 32"/>
          <p:cNvSpPr txBox="1"/>
          <p:nvPr/>
        </p:nvSpPr>
        <p:spPr>
          <a:xfrm>
            <a:off x="4536338" y="4754880"/>
            <a:ext cx="31190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Utilidade da fila com analistas e antecipação (H3) por avaliar</a:t>
            </a:r>
            <a:endParaRPr lang="en-US" sz="1300" dirty="0"/>
          </a:p>
        </p:txBody>
      </p:sp>
      <p:sp>
        <p:nvSpPr>
          <p:cNvPr id="41" name="limitacao-6"/>
          <p:cNvSpPr/>
          <p:nvPr/>
        </p:nvSpPr>
        <p:spPr>
          <a:xfrm>
            <a:off x="8066837" y="3794760"/>
            <a:ext cx="3576218" cy="1874520"/>
          </a:xfrm>
          <a:prstGeom prst="roundRect">
            <a:avLst>
              <a:gd name="adj" fmla="val 3902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42" name="icone-circulo"/>
          <p:cNvSpPr/>
          <p:nvPr/>
        </p:nvSpPr>
        <p:spPr>
          <a:xfrm>
            <a:off x="8295437" y="4023360"/>
            <a:ext cx="594360" cy="594360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pic>
        <p:nvPicPr>
          <p:cNvPr id="43" name="icone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44027" y="4171950"/>
            <a:ext cx="297180" cy="297180"/>
          </a:xfrm>
          <a:prstGeom prst="rect">
            <a:avLst/>
          </a:prstGeom>
        </p:spPr>
      </p:pic>
      <p:sp>
        <p:nvSpPr>
          <p:cNvPr id="44" name="Text 35"/>
          <p:cNvSpPr txBox="1"/>
          <p:nvPr/>
        </p:nvSpPr>
        <p:spPr>
          <a:xfrm>
            <a:off x="9026957" y="4023360"/>
            <a:ext cx="243321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</a:rPr>
              <a:t>Segurança sem auditoria</a:t>
            </a:r>
            <a:endParaRPr lang="en-US" sz="1600" dirty="0"/>
          </a:p>
        </p:txBody>
      </p:sp>
      <p:sp>
        <p:nvSpPr>
          <p:cNvPr id="45" name="Text 36"/>
          <p:cNvSpPr txBox="1"/>
          <p:nvPr/>
        </p:nvSpPr>
        <p:spPr>
          <a:xfrm>
            <a:off x="8295437" y="4754880"/>
            <a:ext cx="31190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Boas práticas seguidas, mas sem testes de intrusão independentes</a:t>
            </a:r>
            <a:endParaRPr lang="en-US" sz="1300" dirty="0"/>
          </a:p>
        </p:txBody>
      </p:sp>
      <p:sp>
        <p:nvSpPr>
          <p:cNvPr id="46" name="Text 37"/>
          <p:cNvSpPr txBox="1"/>
          <p:nvPr/>
        </p:nvSpPr>
        <p:spPr>
          <a:xfrm>
            <a:off x="548640" y="5897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B6B7F"/>
                </a:solidFill>
              </a:rPr>
              <a:t>Fonte: Secção 5.4 da dissertação.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genda-1"/>
          <p:cNvSpPr/>
          <p:nvPr/>
        </p:nvSpPr>
        <p:spPr>
          <a:xfrm>
            <a:off x="548640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3" name="agenda-texto-1"/>
          <p:cNvSpPr txBox="1"/>
          <p:nvPr/>
        </p:nvSpPr>
        <p:spPr>
          <a:xfrm>
            <a:off x="548640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</a:rPr>
              <a:t>1. Introdução</a:t>
            </a:r>
            <a:endParaRPr lang="en-US" sz="1100" dirty="0"/>
          </a:p>
        </p:txBody>
      </p:sp>
      <p:sp>
        <p:nvSpPr>
          <p:cNvPr id="4" name="agenda-2"/>
          <p:cNvSpPr/>
          <p:nvPr/>
        </p:nvSpPr>
        <p:spPr>
          <a:xfrm>
            <a:off x="2415997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5" name="agenda-texto-2"/>
          <p:cNvSpPr txBox="1"/>
          <p:nvPr/>
        </p:nvSpPr>
        <p:spPr>
          <a:xfrm>
            <a:off x="2415997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</a:rPr>
              <a:t>2. Revisão da literatura</a:t>
            </a:r>
            <a:endParaRPr lang="en-US" sz="1100" dirty="0"/>
          </a:p>
        </p:txBody>
      </p:sp>
      <p:sp>
        <p:nvSpPr>
          <p:cNvPr id="6" name="agenda-3"/>
          <p:cNvSpPr/>
          <p:nvPr/>
        </p:nvSpPr>
        <p:spPr>
          <a:xfrm>
            <a:off x="4283354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7" name="agenda-texto-3"/>
          <p:cNvSpPr txBox="1"/>
          <p:nvPr/>
        </p:nvSpPr>
        <p:spPr>
          <a:xfrm>
            <a:off x="4283354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</a:rPr>
              <a:t>3. Metodologia</a:t>
            </a:r>
            <a:endParaRPr lang="en-US" sz="1100" dirty="0"/>
          </a:p>
        </p:txBody>
      </p:sp>
      <p:sp>
        <p:nvSpPr>
          <p:cNvPr id="8" name="agenda-4"/>
          <p:cNvSpPr/>
          <p:nvPr/>
        </p:nvSpPr>
        <p:spPr>
          <a:xfrm>
            <a:off x="6150712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9" name="agenda-texto-4"/>
          <p:cNvSpPr txBox="1"/>
          <p:nvPr/>
        </p:nvSpPr>
        <p:spPr>
          <a:xfrm>
            <a:off x="6150712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</a:rPr>
              <a:t>4. Resultados</a:t>
            </a:r>
            <a:endParaRPr lang="en-US" sz="1100" dirty="0"/>
          </a:p>
        </p:txBody>
      </p:sp>
      <p:sp>
        <p:nvSpPr>
          <p:cNvPr id="10" name="agenda-5"/>
          <p:cNvSpPr/>
          <p:nvPr/>
        </p:nvSpPr>
        <p:spPr>
          <a:xfrm>
            <a:off x="8018069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102A43"/>
          </a:solidFill>
          <a:ln w="9525">
            <a:solidFill>
              <a:srgbClr val="102A43"/>
            </a:solidFill>
            <a:prstDash val="solid"/>
          </a:ln>
        </p:spPr>
      </p:sp>
      <p:sp>
        <p:nvSpPr>
          <p:cNvPr id="11" name="agenda-texto-5"/>
          <p:cNvSpPr txBox="1"/>
          <p:nvPr/>
        </p:nvSpPr>
        <p:spPr>
          <a:xfrm>
            <a:off x="8018069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5. Sistema</a:t>
            </a:r>
            <a:endParaRPr lang="en-US" sz="1100" dirty="0"/>
          </a:p>
        </p:txBody>
      </p:sp>
      <p:sp>
        <p:nvSpPr>
          <p:cNvPr id="12" name="agenda-6"/>
          <p:cNvSpPr/>
          <p:nvPr/>
        </p:nvSpPr>
        <p:spPr>
          <a:xfrm>
            <a:off x="9885426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13" name="agenda-texto-6"/>
          <p:cNvSpPr txBox="1"/>
          <p:nvPr/>
        </p:nvSpPr>
        <p:spPr>
          <a:xfrm>
            <a:off x="9885426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96A3"/>
                </a:solidFill>
              </a:rPr>
              <a:t>6. Conclusões</a:t>
            </a:r>
            <a:endParaRPr lang="en-US" sz="1100" dirty="0"/>
          </a:p>
        </p:txBody>
      </p:sp>
      <p:sp>
        <p:nvSpPr>
          <p:cNvPr id="15" name="Text 0"/>
          <p:cNvSpPr/>
          <p:nvPr>
            <p:ph idx="100" type="title" hasCustomPrompt="1"/>
          </p:nvPr>
        </p:nvSpPr>
        <p:spPr>
          <a:xfrm>
            <a:off x="548640" y="749808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02A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Arquitectura leve, num único servidor, com o analista no centro</a:t>
            </a:r>
            <a:endParaRPr lang="en-US" sz="2800" dirty="0"/>
          </a:p>
        </p:txBody>
      </p:sp>
      <p:pic>
        <p:nvPicPr>
          <p:cNvPr id="16" name="figura-arquitectura" descr="fig3_3_arquitectur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5184648" cy="4078224"/>
          </a:xfrm>
          <a:prstGeom prst="rect">
            <a:avLst/>
          </a:prstGeom>
        </p:spPr>
      </p:pic>
      <p:sp>
        <p:nvSpPr>
          <p:cNvPr id="17" name="legenda"/>
          <p:cNvSpPr txBox="1"/>
          <p:nvPr/>
        </p:nvSpPr>
        <p:spPr>
          <a:xfrm>
            <a:off x="548640" y="5760720"/>
            <a:ext cx="5184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Figura 6 – Arquitectura em camadas do sistema</a:t>
            </a:r>
            <a:endParaRPr lang="en-US" sz="1000" dirty="0"/>
          </a:p>
        </p:txBody>
      </p:sp>
      <p:sp>
        <p:nvSpPr>
          <p:cNvPr id="18" name="icone-circulo"/>
          <p:cNvSpPr/>
          <p:nvPr/>
        </p:nvSpPr>
        <p:spPr>
          <a:xfrm>
            <a:off x="6172200" y="1682496"/>
            <a:ext cx="530352" cy="530352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pic>
        <p:nvPicPr>
          <p:cNvPr id="19" name="i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4788" y="1815084"/>
            <a:ext cx="265176" cy="265176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6858000" y="1645920"/>
            <a:ext cx="478231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A43"/>
                </a:solidFill>
              </a:rPr>
              <a:t>Anonimização à entrada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Pseudónimo HMAC; telefones, endereços e menções mascarados</a:t>
            </a:r>
            <a:endParaRPr lang="en-US" sz="1400" dirty="0"/>
          </a:p>
        </p:txBody>
      </p:sp>
      <p:sp>
        <p:nvSpPr>
          <p:cNvPr id="21" name="icone-circulo"/>
          <p:cNvSpPr/>
          <p:nvPr/>
        </p:nvSpPr>
        <p:spPr>
          <a:xfrm>
            <a:off x="6172200" y="2368296"/>
            <a:ext cx="530352" cy="530352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pic>
        <p:nvPicPr>
          <p:cNvPr id="22" name="i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4788" y="2500884"/>
            <a:ext cx="265176" cy="265176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6858000" y="2331720"/>
            <a:ext cx="478231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A43"/>
                </a:solidFill>
              </a:rPr>
              <a:t>Sem perfis de pessoas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Publicações e agregados por categoria, período e província</a:t>
            </a:r>
            <a:endParaRPr lang="en-US" sz="1400" dirty="0"/>
          </a:p>
        </p:txBody>
      </p:sp>
      <p:sp>
        <p:nvSpPr>
          <p:cNvPr id="24" name="icone-circulo"/>
          <p:cNvSpPr/>
          <p:nvPr/>
        </p:nvSpPr>
        <p:spPr>
          <a:xfrm>
            <a:off x="6172200" y="3054096"/>
            <a:ext cx="530352" cy="530352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pic>
        <p:nvPicPr>
          <p:cNvPr id="25" name="icon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4788" y="3186684"/>
            <a:ext cx="265176" cy="265176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6858000" y="3017520"/>
            <a:ext cx="478231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A43"/>
                </a:solidFill>
              </a:rPr>
              <a:t>Decisão sempre humana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Fila por analista, revisão cega e amostra de controlo</a:t>
            </a:r>
            <a:endParaRPr lang="en-US" sz="1400" dirty="0"/>
          </a:p>
        </p:txBody>
      </p:sp>
      <p:sp>
        <p:nvSpPr>
          <p:cNvPr id="27" name="icone-circulo"/>
          <p:cNvSpPr/>
          <p:nvPr/>
        </p:nvSpPr>
        <p:spPr>
          <a:xfrm>
            <a:off x="6172200" y="3739896"/>
            <a:ext cx="530352" cy="530352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pic>
        <p:nvPicPr>
          <p:cNvPr id="28" name="icone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4788" y="3872484"/>
            <a:ext cx="265176" cy="265176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6858000" y="3703320"/>
            <a:ext cx="478231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A43"/>
                </a:solidFill>
              </a:rPr>
              <a:t>Contas e auditoria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Palavras-passe derivadas, recuperação sem e-mail, tudo registado</a:t>
            </a:r>
            <a:endParaRPr lang="en-US" sz="1400" dirty="0"/>
          </a:p>
        </p:txBody>
      </p:sp>
      <p:sp>
        <p:nvSpPr>
          <p:cNvPr id="30" name="icone-circulo"/>
          <p:cNvSpPr/>
          <p:nvPr/>
        </p:nvSpPr>
        <p:spPr>
          <a:xfrm>
            <a:off x="6172200" y="4425696"/>
            <a:ext cx="530352" cy="530352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pic>
        <p:nvPicPr>
          <p:cNvPr id="31" name="icone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04788" y="4558284"/>
            <a:ext cx="265176" cy="265176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6858000" y="4389120"/>
            <a:ext cx="478231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A43"/>
                </a:solidFill>
              </a:rPr>
              <a:t>Funciona sem Internet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Sem bibliotecas nem serviços externos; recolha automática</a:t>
            </a:r>
            <a:endParaRPr lang="en-US" sz="1400" dirty="0"/>
          </a:p>
        </p:txBody>
      </p:sp>
      <p:sp>
        <p:nvSpPr>
          <p:cNvPr id="33" name="icone-circulo"/>
          <p:cNvSpPr/>
          <p:nvPr/>
        </p:nvSpPr>
        <p:spPr>
          <a:xfrm>
            <a:off x="6172200" y="5111496"/>
            <a:ext cx="530352" cy="530352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pic>
        <p:nvPicPr>
          <p:cNvPr id="34" name="icone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04788" y="5244084"/>
            <a:ext cx="265176" cy="265176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6858000" y="5074920"/>
            <a:ext cx="478231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A43"/>
                </a:solidFill>
              </a:rPr>
              <a:t>121 testes automáticos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Todos aprovados na versão final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  <p:transition spd="med">
    <p:push dir="u"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genda-1"/>
          <p:cNvSpPr/>
          <p:nvPr/>
        </p:nvSpPr>
        <p:spPr>
          <a:xfrm>
            <a:off x="548640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3" name="agenda-texto-1"/>
          <p:cNvSpPr txBox="1"/>
          <p:nvPr/>
        </p:nvSpPr>
        <p:spPr>
          <a:xfrm>
            <a:off x="548640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</a:rPr>
              <a:t>1. Introdução</a:t>
            </a:r>
            <a:endParaRPr lang="en-US" sz="1100" dirty="0"/>
          </a:p>
        </p:txBody>
      </p:sp>
      <p:sp>
        <p:nvSpPr>
          <p:cNvPr id="4" name="agenda-2"/>
          <p:cNvSpPr/>
          <p:nvPr/>
        </p:nvSpPr>
        <p:spPr>
          <a:xfrm>
            <a:off x="2415997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5" name="agenda-texto-2"/>
          <p:cNvSpPr txBox="1"/>
          <p:nvPr/>
        </p:nvSpPr>
        <p:spPr>
          <a:xfrm>
            <a:off x="2415997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</a:rPr>
              <a:t>2. Revisão da literatura</a:t>
            </a:r>
            <a:endParaRPr lang="en-US" sz="1100" dirty="0"/>
          </a:p>
        </p:txBody>
      </p:sp>
      <p:sp>
        <p:nvSpPr>
          <p:cNvPr id="6" name="agenda-3"/>
          <p:cNvSpPr/>
          <p:nvPr/>
        </p:nvSpPr>
        <p:spPr>
          <a:xfrm>
            <a:off x="4283354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7" name="agenda-texto-3"/>
          <p:cNvSpPr txBox="1"/>
          <p:nvPr/>
        </p:nvSpPr>
        <p:spPr>
          <a:xfrm>
            <a:off x="4283354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</a:rPr>
              <a:t>3. Metodologia</a:t>
            </a:r>
            <a:endParaRPr lang="en-US" sz="1100" dirty="0"/>
          </a:p>
        </p:txBody>
      </p:sp>
      <p:sp>
        <p:nvSpPr>
          <p:cNvPr id="8" name="agenda-4"/>
          <p:cNvSpPr/>
          <p:nvPr/>
        </p:nvSpPr>
        <p:spPr>
          <a:xfrm>
            <a:off x="6150712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9" name="agenda-texto-4"/>
          <p:cNvSpPr txBox="1"/>
          <p:nvPr/>
        </p:nvSpPr>
        <p:spPr>
          <a:xfrm>
            <a:off x="6150712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</a:rPr>
              <a:t>4. Resultados</a:t>
            </a:r>
            <a:endParaRPr lang="en-US" sz="1100" dirty="0"/>
          </a:p>
        </p:txBody>
      </p:sp>
      <p:sp>
        <p:nvSpPr>
          <p:cNvPr id="10" name="agenda-5"/>
          <p:cNvSpPr/>
          <p:nvPr/>
        </p:nvSpPr>
        <p:spPr>
          <a:xfrm>
            <a:off x="8018069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102A43"/>
          </a:solidFill>
          <a:ln w="9525">
            <a:solidFill>
              <a:srgbClr val="102A43"/>
            </a:solidFill>
            <a:prstDash val="solid"/>
          </a:ln>
        </p:spPr>
      </p:sp>
      <p:sp>
        <p:nvSpPr>
          <p:cNvPr id="11" name="agenda-texto-5"/>
          <p:cNvSpPr txBox="1"/>
          <p:nvPr/>
        </p:nvSpPr>
        <p:spPr>
          <a:xfrm>
            <a:off x="8018069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5. Sistema</a:t>
            </a:r>
            <a:endParaRPr lang="en-US" sz="1100" dirty="0"/>
          </a:p>
        </p:txBody>
      </p:sp>
      <p:sp>
        <p:nvSpPr>
          <p:cNvPr id="12" name="agenda-6"/>
          <p:cNvSpPr/>
          <p:nvPr/>
        </p:nvSpPr>
        <p:spPr>
          <a:xfrm>
            <a:off x="9885426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13" name="agenda-texto-6"/>
          <p:cNvSpPr txBox="1"/>
          <p:nvPr/>
        </p:nvSpPr>
        <p:spPr>
          <a:xfrm>
            <a:off x="9885426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96A3"/>
                </a:solidFill>
              </a:rPr>
              <a:t>6. Conclusões</a:t>
            </a:r>
            <a:endParaRPr lang="en-US" sz="1100" dirty="0"/>
          </a:p>
        </p:txBody>
      </p:sp>
      <p:sp>
        <p:nvSpPr>
          <p:cNvPr id="15" name="Text 0"/>
          <p:cNvSpPr/>
          <p:nvPr>
            <p:ph idx="100" type="title" hasCustomPrompt="1"/>
          </p:nvPr>
        </p:nvSpPr>
        <p:spPr>
          <a:xfrm>
            <a:off x="548640" y="749808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02A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Demonstração do sistema</a:t>
            </a:r>
            <a:endParaRPr lang="en-US" sz="2800" dirty="0"/>
          </a:p>
        </p:txBody>
      </p:sp>
      <p:sp>
        <p:nvSpPr>
          <p:cNvPr id="16" name="Shape 13"/>
          <p:cNvSpPr/>
          <p:nvPr/>
        </p:nvSpPr>
        <p:spPr>
          <a:xfrm>
            <a:off x="548640" y="1719072"/>
            <a:ext cx="548640" cy="548640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48640" y="171907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1280160" y="1645920"/>
            <a:ext cx="4023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</a:rPr>
              <a:t>Panorama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O que foi recolhido e o que o modelo sinalizou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0" y="1645920"/>
            <a:ext cx="6858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C8102E"/>
                </a:solidFill>
              </a:rPr>
              <a:t>0:25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548640" y="2505456"/>
            <a:ext cx="548640" cy="548640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48640" y="250545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1280160" y="2432304"/>
            <a:ext cx="4023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</a:rPr>
              <a:t>Fila e amostra de controlo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Decidir com as teclas 1 a 4, desfazer, revisão cega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303520" y="2432304"/>
            <a:ext cx="6858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C8102E"/>
                </a:solidFill>
              </a:rPr>
              <a:t>1:00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548640" y="3291840"/>
            <a:ext cx="548640" cy="548640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48640" y="32918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1280160" y="3218688"/>
            <a:ext cx="4023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</a:rPr>
              <a:t>Alertas e mapa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Sino em tempo real, mapa por província, evolução semanal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5303520" y="3218688"/>
            <a:ext cx="6858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C8102E"/>
                </a:solidFill>
              </a:rPr>
              <a:t>1:00</a:t>
            </a:r>
            <a:endParaRPr lang="en-US" sz="1500" dirty="0"/>
          </a:p>
        </p:txBody>
      </p:sp>
      <p:sp>
        <p:nvSpPr>
          <p:cNvPr id="28" name="Shape 25"/>
          <p:cNvSpPr/>
          <p:nvPr/>
        </p:nvSpPr>
        <p:spPr>
          <a:xfrm>
            <a:off x="548640" y="4078224"/>
            <a:ext cx="548640" cy="548640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548640" y="40782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30" name="Text 27"/>
          <p:cNvSpPr txBox="1"/>
          <p:nvPr/>
        </p:nvSpPr>
        <p:spPr>
          <a:xfrm>
            <a:off x="1280160" y="4005072"/>
            <a:ext cx="4023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</a:rPr>
              <a:t>Sobre o modelo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O desempenho em Angola visível para o analista</a:t>
            </a:r>
            <a:endParaRPr lang="en-US" sz="1600" dirty="0"/>
          </a:p>
        </p:txBody>
      </p:sp>
      <p:sp>
        <p:nvSpPr>
          <p:cNvPr id="31" name="Text 28"/>
          <p:cNvSpPr txBox="1"/>
          <p:nvPr/>
        </p:nvSpPr>
        <p:spPr>
          <a:xfrm>
            <a:off x="5303520" y="4005072"/>
            <a:ext cx="6858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C8102E"/>
                </a:solidFill>
              </a:rPr>
              <a:t>0:30</a:t>
            </a:r>
            <a:endParaRPr lang="en-US" sz="1500" dirty="0"/>
          </a:p>
        </p:txBody>
      </p:sp>
      <p:sp>
        <p:nvSpPr>
          <p:cNvPr id="32" name="Shape 29"/>
          <p:cNvSpPr/>
          <p:nvPr/>
        </p:nvSpPr>
        <p:spPr>
          <a:xfrm>
            <a:off x="548640" y="4864608"/>
            <a:ext cx="548640" cy="548640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48640" y="48646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5</a:t>
            </a:r>
            <a:endParaRPr lang="en-US" sz="1600" dirty="0"/>
          </a:p>
        </p:txBody>
      </p:sp>
      <p:sp>
        <p:nvSpPr>
          <p:cNvPr id="34" name="Text 31"/>
          <p:cNvSpPr txBox="1"/>
          <p:nvPr/>
        </p:nvSpPr>
        <p:spPr>
          <a:xfrm>
            <a:off x="1280160" y="4791456"/>
            <a:ext cx="4023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</a:rPr>
              <a:t>Fontes e contas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Recolha automática, quota do YouTube, recuperação do acesso</a:t>
            </a:r>
            <a:endParaRPr lang="en-US" sz="1600" dirty="0"/>
          </a:p>
        </p:txBody>
      </p:sp>
      <p:sp>
        <p:nvSpPr>
          <p:cNvPr id="35" name="Text 32"/>
          <p:cNvSpPr txBox="1"/>
          <p:nvPr/>
        </p:nvSpPr>
        <p:spPr>
          <a:xfrm>
            <a:off x="5303520" y="4791456"/>
            <a:ext cx="6858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C8102E"/>
                </a:solidFill>
              </a:rPr>
              <a:t>0:40</a:t>
            </a:r>
            <a:endParaRPr lang="en-US" sz="1500" dirty="0"/>
          </a:p>
        </p:txBody>
      </p:sp>
      <p:pic>
        <p:nvPicPr>
          <p:cNvPr id="36" name="captura-fila" descr="fig3_7_pain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0" y="1691640"/>
            <a:ext cx="5102352" cy="2715768"/>
          </a:xfrm>
          <a:prstGeom prst="rect">
            <a:avLst/>
          </a:prstGeom>
        </p:spPr>
      </p:pic>
      <p:sp>
        <p:nvSpPr>
          <p:cNvPr id="37" name="legenda"/>
          <p:cNvSpPr txBox="1"/>
          <p:nvPr/>
        </p:nvSpPr>
        <p:spPr>
          <a:xfrm>
            <a:off x="6537960" y="4462272"/>
            <a:ext cx="5102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Figura 7 – Fila de revisão no modo de demonstração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i="1" dirty="0">
                <a:solidFill>
                  <a:srgbClr val="5B6B7F"/>
                </a:solidFill>
              </a:rPr>
              <a:t>Nota: dados fictícios e classificador simulado.</a:t>
            </a:r>
            <a:endParaRPr lang="en-US" sz="1000" dirty="0"/>
          </a:p>
        </p:txBody>
      </p:sp>
      <p:sp>
        <p:nvSpPr>
          <p:cNvPr id="38" name="comando"/>
          <p:cNvSpPr/>
          <p:nvPr/>
        </p:nvSpPr>
        <p:spPr>
          <a:xfrm>
            <a:off x="6537960" y="5166360"/>
            <a:ext cx="5102352" cy="685800"/>
          </a:xfrm>
          <a:prstGeom prst="roundRect">
            <a:avLst>
              <a:gd name="adj" fmla="val 10667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6720840" y="516636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B93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uan.py servir --demonstracao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No navegador: http://127.0.0.1:8000</a:t>
            </a:r>
            <a:endParaRPr lang="en-US" sz="1300" dirty="0"/>
          </a:p>
        </p:txBody>
      </p:sp>
      <p:sp>
        <p:nvSpPr>
          <p:cNvPr id="40" name="Text 36"/>
          <p:cNvSpPr txBox="1"/>
          <p:nvPr/>
        </p:nvSpPr>
        <p:spPr>
          <a:xfrm>
            <a:off x="548640" y="562356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B7F"/>
                </a:solidFill>
              </a:rPr>
              <a:t>Duração total: 4:00, incluindo 0:25 de passagem para o navegador e regresso.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genda-1"/>
          <p:cNvSpPr/>
          <p:nvPr/>
        </p:nvSpPr>
        <p:spPr>
          <a:xfrm>
            <a:off x="548640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3" name="agenda-texto-1"/>
          <p:cNvSpPr txBox="1"/>
          <p:nvPr/>
        </p:nvSpPr>
        <p:spPr>
          <a:xfrm>
            <a:off x="548640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</a:rPr>
              <a:t>1. Introdução</a:t>
            </a:r>
            <a:endParaRPr lang="en-US" sz="1100" dirty="0"/>
          </a:p>
        </p:txBody>
      </p:sp>
      <p:sp>
        <p:nvSpPr>
          <p:cNvPr id="4" name="agenda-2"/>
          <p:cNvSpPr/>
          <p:nvPr/>
        </p:nvSpPr>
        <p:spPr>
          <a:xfrm>
            <a:off x="2415997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5" name="agenda-texto-2"/>
          <p:cNvSpPr txBox="1"/>
          <p:nvPr/>
        </p:nvSpPr>
        <p:spPr>
          <a:xfrm>
            <a:off x="2415997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</a:rPr>
              <a:t>2. Revisão da literatura</a:t>
            </a:r>
            <a:endParaRPr lang="en-US" sz="1100" dirty="0"/>
          </a:p>
        </p:txBody>
      </p:sp>
      <p:sp>
        <p:nvSpPr>
          <p:cNvPr id="6" name="agenda-3"/>
          <p:cNvSpPr/>
          <p:nvPr/>
        </p:nvSpPr>
        <p:spPr>
          <a:xfrm>
            <a:off x="4283354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7" name="agenda-texto-3"/>
          <p:cNvSpPr txBox="1"/>
          <p:nvPr/>
        </p:nvSpPr>
        <p:spPr>
          <a:xfrm>
            <a:off x="4283354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</a:rPr>
              <a:t>3. Metodologia</a:t>
            </a:r>
            <a:endParaRPr lang="en-US" sz="1100" dirty="0"/>
          </a:p>
        </p:txBody>
      </p:sp>
      <p:sp>
        <p:nvSpPr>
          <p:cNvPr id="8" name="agenda-4"/>
          <p:cNvSpPr/>
          <p:nvPr/>
        </p:nvSpPr>
        <p:spPr>
          <a:xfrm>
            <a:off x="6150712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9" name="agenda-texto-4"/>
          <p:cNvSpPr txBox="1"/>
          <p:nvPr/>
        </p:nvSpPr>
        <p:spPr>
          <a:xfrm>
            <a:off x="6150712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</a:rPr>
              <a:t>4. Resultados</a:t>
            </a:r>
            <a:endParaRPr lang="en-US" sz="1100" dirty="0"/>
          </a:p>
        </p:txBody>
      </p:sp>
      <p:sp>
        <p:nvSpPr>
          <p:cNvPr id="10" name="agenda-5"/>
          <p:cNvSpPr/>
          <p:nvPr/>
        </p:nvSpPr>
        <p:spPr>
          <a:xfrm>
            <a:off x="8018069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11" name="agenda-texto-5"/>
          <p:cNvSpPr txBox="1"/>
          <p:nvPr/>
        </p:nvSpPr>
        <p:spPr>
          <a:xfrm>
            <a:off x="8018069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</a:rPr>
              <a:t>5. Sistema</a:t>
            </a:r>
            <a:endParaRPr lang="en-US" sz="1100" dirty="0"/>
          </a:p>
        </p:txBody>
      </p:sp>
      <p:sp>
        <p:nvSpPr>
          <p:cNvPr id="12" name="agenda-6"/>
          <p:cNvSpPr/>
          <p:nvPr/>
        </p:nvSpPr>
        <p:spPr>
          <a:xfrm>
            <a:off x="9885426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102A43"/>
          </a:solidFill>
          <a:ln w="9525">
            <a:solidFill>
              <a:srgbClr val="102A43"/>
            </a:solidFill>
            <a:prstDash val="solid"/>
          </a:ln>
        </p:spPr>
      </p:sp>
      <p:sp>
        <p:nvSpPr>
          <p:cNvPr id="13" name="agenda-texto-6"/>
          <p:cNvSpPr txBox="1"/>
          <p:nvPr/>
        </p:nvSpPr>
        <p:spPr>
          <a:xfrm>
            <a:off x="9885426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6. Conclusões</a:t>
            </a:r>
            <a:endParaRPr lang="en-US" sz="1100" dirty="0"/>
          </a:p>
        </p:txBody>
      </p:sp>
      <p:sp>
        <p:nvSpPr>
          <p:cNvPr id="15" name="Text 0"/>
          <p:cNvSpPr/>
          <p:nvPr>
            <p:ph idx="100" type="title" hasCustomPrompt="1"/>
          </p:nvPr>
        </p:nvSpPr>
        <p:spPr>
          <a:xfrm>
            <a:off x="548640" y="749808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02A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Verificação das hipóteses</a:t>
            </a:r>
            <a:endParaRPr lang="en-US" sz="28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16002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Tabela 2 – Verificação formal das hipóteses de investigação</a:t>
            </a:r>
            <a:endParaRPr lang="en-US" sz="1100" dirty="0"/>
          </a:p>
        </p:txBody>
      </p:sp>
      <p:graphicFrame>
        <p:nvGraphicFramePr>
          <p:cNvPr id="18" name="tabela-hipotese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20240"/>
          <a:ext cx="11094415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4846320"/>
                <a:gridCol w="258775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Hipótese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A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Evidência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A4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Decisão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A43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733"/>
                          </a:solidFill>
                        </a:rPr>
                        <a:t>H1. Modelos profundos superam os clássicos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733"/>
                          </a:solidFill>
                        </a:rPr>
                        <a:t>BERTimbau +14,6 a +17,4 p.p., p &lt; 10⁻⁴⁷; Bi-LSTM igual à Floresta Aleatória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9A7400"/>
                          </a:solidFill>
                        </a:rPr>
                        <a:t>Parcialmente confirmada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3DA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733"/>
                          </a:solidFill>
                        </a:rPr>
                        <a:t>H2. Menos de 60 s por publicação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733"/>
                          </a:solidFill>
                        </a:rPr>
                        <a:t>0,63 s em CPU; primeiras na fila em 36 s; todas em &lt; 60 s até 64 por recolha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78A5F"/>
                          </a:solidFill>
                        </a:rPr>
                        <a:t>Confirmada com condições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C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733"/>
                          </a:solidFill>
                        </a:rPr>
                        <a:t>H3. Antecedência ≥ 48 h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733"/>
                          </a:solidFill>
                        </a:rPr>
                        <a:t>Sem corpus datado em torno de eventos nem divisão cronológica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5B6B7F"/>
                          </a:solidFill>
                        </a:rPr>
                        <a:t>Não testada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733"/>
                          </a:solidFill>
                        </a:rPr>
                        <a:t>H4. Queda ≥ 5 p.p. em conteúdo angolano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733"/>
                          </a:solidFill>
                        </a:rPr>
                        <a:t>F1-macro 0,919 → 0,533 (−38,6 p.p.); κ 0,88 → 0,44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C8102E"/>
                          </a:solidFill>
                        </a:rPr>
                        <a:t>Confirmada, com reservas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C"/>
                    </a:solidFill>
                  </a:tcPr>
                </a:tc>
              </a:tr>
            </a:tbl>
          </a:graphicData>
        </a:graphic>
      </p:graphicFrame>
      <p:sp>
        <p:nvSpPr>
          <p:cNvPr id="18" name="Text 14"/>
          <p:cNvSpPr txBox="1"/>
          <p:nvPr/>
        </p:nvSpPr>
        <p:spPr>
          <a:xfrm>
            <a:off x="548640" y="56235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B6B7F"/>
                </a:solidFill>
              </a:rPr>
              <a:t>Fonte: Capítulo 4 da dissertação.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  <p:transition spd="med">
    <p:push dir="u"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genda-1"/>
          <p:cNvSpPr/>
          <p:nvPr/>
        </p:nvSpPr>
        <p:spPr>
          <a:xfrm>
            <a:off x="548640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3" name="agenda-texto-1"/>
          <p:cNvSpPr txBox="1"/>
          <p:nvPr/>
        </p:nvSpPr>
        <p:spPr>
          <a:xfrm>
            <a:off x="548640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</a:rPr>
              <a:t>1. Introdução</a:t>
            </a:r>
            <a:endParaRPr lang="en-US" sz="1100" dirty="0"/>
          </a:p>
        </p:txBody>
      </p:sp>
      <p:sp>
        <p:nvSpPr>
          <p:cNvPr id="4" name="agenda-2"/>
          <p:cNvSpPr/>
          <p:nvPr/>
        </p:nvSpPr>
        <p:spPr>
          <a:xfrm>
            <a:off x="2415997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5" name="agenda-texto-2"/>
          <p:cNvSpPr txBox="1"/>
          <p:nvPr/>
        </p:nvSpPr>
        <p:spPr>
          <a:xfrm>
            <a:off x="2415997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</a:rPr>
              <a:t>2. Revisão da literatura</a:t>
            </a:r>
            <a:endParaRPr lang="en-US" sz="1100" dirty="0"/>
          </a:p>
        </p:txBody>
      </p:sp>
      <p:sp>
        <p:nvSpPr>
          <p:cNvPr id="6" name="agenda-3"/>
          <p:cNvSpPr/>
          <p:nvPr/>
        </p:nvSpPr>
        <p:spPr>
          <a:xfrm>
            <a:off x="4283354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7" name="agenda-texto-3"/>
          <p:cNvSpPr txBox="1"/>
          <p:nvPr/>
        </p:nvSpPr>
        <p:spPr>
          <a:xfrm>
            <a:off x="4283354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</a:rPr>
              <a:t>3. Metodologia</a:t>
            </a:r>
            <a:endParaRPr lang="en-US" sz="1100" dirty="0"/>
          </a:p>
        </p:txBody>
      </p:sp>
      <p:sp>
        <p:nvSpPr>
          <p:cNvPr id="8" name="agenda-4"/>
          <p:cNvSpPr/>
          <p:nvPr/>
        </p:nvSpPr>
        <p:spPr>
          <a:xfrm>
            <a:off x="6150712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9" name="agenda-texto-4"/>
          <p:cNvSpPr txBox="1"/>
          <p:nvPr/>
        </p:nvSpPr>
        <p:spPr>
          <a:xfrm>
            <a:off x="6150712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</a:rPr>
              <a:t>4. Resultados</a:t>
            </a:r>
            <a:endParaRPr lang="en-US" sz="1100" dirty="0"/>
          </a:p>
        </p:txBody>
      </p:sp>
      <p:sp>
        <p:nvSpPr>
          <p:cNvPr id="10" name="agenda-5"/>
          <p:cNvSpPr/>
          <p:nvPr/>
        </p:nvSpPr>
        <p:spPr>
          <a:xfrm>
            <a:off x="8018069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11" name="agenda-texto-5"/>
          <p:cNvSpPr txBox="1"/>
          <p:nvPr/>
        </p:nvSpPr>
        <p:spPr>
          <a:xfrm>
            <a:off x="8018069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</a:rPr>
              <a:t>5. Sistema</a:t>
            </a:r>
            <a:endParaRPr lang="en-US" sz="1100" dirty="0"/>
          </a:p>
        </p:txBody>
      </p:sp>
      <p:sp>
        <p:nvSpPr>
          <p:cNvPr id="12" name="agenda-6"/>
          <p:cNvSpPr/>
          <p:nvPr/>
        </p:nvSpPr>
        <p:spPr>
          <a:xfrm>
            <a:off x="9885426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102A43"/>
          </a:solidFill>
          <a:ln w="9525">
            <a:solidFill>
              <a:srgbClr val="102A43"/>
            </a:solidFill>
            <a:prstDash val="solid"/>
          </a:ln>
        </p:spPr>
      </p:sp>
      <p:sp>
        <p:nvSpPr>
          <p:cNvPr id="13" name="agenda-texto-6"/>
          <p:cNvSpPr txBox="1"/>
          <p:nvPr/>
        </p:nvSpPr>
        <p:spPr>
          <a:xfrm>
            <a:off x="9885426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6. Conclusões</a:t>
            </a:r>
            <a:endParaRPr lang="en-US" sz="1100" dirty="0"/>
          </a:p>
        </p:txBody>
      </p:sp>
      <p:sp>
        <p:nvSpPr>
          <p:cNvPr id="15" name="Text 0"/>
          <p:cNvSpPr/>
          <p:nvPr>
            <p:ph idx="100" type="title" hasCustomPrompt="1"/>
          </p:nvPr>
        </p:nvSpPr>
        <p:spPr>
          <a:xfrm>
            <a:off x="548640" y="749808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02A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modelo ordena o trabalho; o analista decide</a:t>
            </a:r>
            <a:endParaRPr lang="en-US" sz="2800" dirty="0"/>
          </a:p>
        </p:txBody>
      </p:sp>
      <p:sp>
        <p:nvSpPr>
          <p:cNvPr id="16" name="conclusoes"/>
          <p:cNvSpPr/>
          <p:nvPr/>
        </p:nvSpPr>
        <p:spPr>
          <a:xfrm>
            <a:off x="548640" y="1691640"/>
            <a:ext cx="5440680" cy="4069080"/>
          </a:xfrm>
          <a:prstGeom prst="roundRect">
            <a:avLst>
              <a:gd name="adj" fmla="val 1798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2960" y="182880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A43"/>
                </a:solidFill>
              </a:rPr>
              <a:t>Conclusões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822960" y="2331720"/>
            <a:ext cx="493776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1700" dirty="0">
                <a:solidFill>
                  <a:schemeClr val="tx1"/>
                </a:solidFill>
              </a:rPr>
              <a:t>Só o BERTimbau serve como classificador principal, com vantagem estatisticamente sólida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1700" dirty="0">
                <a:solidFill>
                  <a:schemeClr val="tx1"/>
                </a:solidFill>
              </a:rPr>
              <a:t>O desempenho não se transfere intacto para Angola: a estimativa realista é 0,53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1700" dirty="0">
                <a:solidFill>
                  <a:schemeClr val="tx1"/>
                </a:solidFill>
              </a:rPr>
              <a:t>Um sistema de triagem com revisão humana, auditável e de baixo custo é viável com software livre</a:t>
            </a:r>
            <a:endParaRPr lang="en-US" sz="1700" dirty="0"/>
          </a:p>
        </p:txBody>
      </p:sp>
      <p:sp>
        <p:nvSpPr>
          <p:cNvPr id="19" name="contributos"/>
          <p:cNvSpPr/>
          <p:nvPr/>
        </p:nvSpPr>
        <p:spPr>
          <a:xfrm>
            <a:off x="6199632" y="1691640"/>
            <a:ext cx="5440680" cy="4069080"/>
          </a:xfrm>
          <a:prstGeom prst="roundRect">
            <a:avLst>
              <a:gd name="adj" fmla="val 1798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473952" y="182880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B931"/>
                </a:solidFill>
              </a:rPr>
              <a:t>Contributos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6473952" y="2331720"/>
            <a:ext cx="493776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</a:rPr>
              <a:t>Primeiro corpus angolano anotado nestas quatro categorias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</a:rPr>
              <a:t>Medida da lacuna de domínio, com intervalos de confiança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</a:rPr>
              <a:t>Avaliação que inclui calibração e esforço de revisão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</a:rPr>
              <a:t>Protótipo de código aberto com protecção de dados desde a concepção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genda-1"/>
          <p:cNvSpPr/>
          <p:nvPr/>
        </p:nvSpPr>
        <p:spPr>
          <a:xfrm>
            <a:off x="548640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3" name="agenda-texto-1"/>
          <p:cNvSpPr txBox="1"/>
          <p:nvPr/>
        </p:nvSpPr>
        <p:spPr>
          <a:xfrm>
            <a:off x="548640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</a:rPr>
              <a:t>1. Introdução</a:t>
            </a:r>
            <a:endParaRPr lang="en-US" sz="1100" dirty="0"/>
          </a:p>
        </p:txBody>
      </p:sp>
      <p:sp>
        <p:nvSpPr>
          <p:cNvPr id="4" name="agenda-2"/>
          <p:cNvSpPr/>
          <p:nvPr/>
        </p:nvSpPr>
        <p:spPr>
          <a:xfrm>
            <a:off x="2415997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5" name="agenda-texto-2"/>
          <p:cNvSpPr txBox="1"/>
          <p:nvPr/>
        </p:nvSpPr>
        <p:spPr>
          <a:xfrm>
            <a:off x="2415997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</a:rPr>
              <a:t>2. Revisão da literatura</a:t>
            </a:r>
            <a:endParaRPr lang="en-US" sz="1100" dirty="0"/>
          </a:p>
        </p:txBody>
      </p:sp>
      <p:sp>
        <p:nvSpPr>
          <p:cNvPr id="6" name="agenda-3"/>
          <p:cNvSpPr/>
          <p:nvPr/>
        </p:nvSpPr>
        <p:spPr>
          <a:xfrm>
            <a:off x="4283354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7" name="agenda-texto-3"/>
          <p:cNvSpPr txBox="1"/>
          <p:nvPr/>
        </p:nvSpPr>
        <p:spPr>
          <a:xfrm>
            <a:off x="4283354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</a:rPr>
              <a:t>3. Metodologia</a:t>
            </a:r>
            <a:endParaRPr lang="en-US" sz="1100" dirty="0"/>
          </a:p>
        </p:txBody>
      </p:sp>
      <p:sp>
        <p:nvSpPr>
          <p:cNvPr id="8" name="agenda-4"/>
          <p:cNvSpPr/>
          <p:nvPr/>
        </p:nvSpPr>
        <p:spPr>
          <a:xfrm>
            <a:off x="6150712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9" name="agenda-texto-4"/>
          <p:cNvSpPr txBox="1"/>
          <p:nvPr/>
        </p:nvSpPr>
        <p:spPr>
          <a:xfrm>
            <a:off x="6150712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</a:rPr>
              <a:t>4. Resultados</a:t>
            </a:r>
            <a:endParaRPr lang="en-US" sz="1100" dirty="0"/>
          </a:p>
        </p:txBody>
      </p:sp>
      <p:sp>
        <p:nvSpPr>
          <p:cNvPr id="10" name="agenda-5"/>
          <p:cNvSpPr/>
          <p:nvPr/>
        </p:nvSpPr>
        <p:spPr>
          <a:xfrm>
            <a:off x="8018069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11" name="agenda-texto-5"/>
          <p:cNvSpPr txBox="1"/>
          <p:nvPr/>
        </p:nvSpPr>
        <p:spPr>
          <a:xfrm>
            <a:off x="8018069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</a:rPr>
              <a:t>5. Sistema</a:t>
            </a:r>
            <a:endParaRPr lang="en-US" sz="1100" dirty="0"/>
          </a:p>
        </p:txBody>
      </p:sp>
      <p:sp>
        <p:nvSpPr>
          <p:cNvPr id="12" name="agenda-6"/>
          <p:cNvSpPr/>
          <p:nvPr/>
        </p:nvSpPr>
        <p:spPr>
          <a:xfrm>
            <a:off x="9885426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102A43"/>
          </a:solidFill>
          <a:ln w="9525">
            <a:solidFill>
              <a:srgbClr val="102A43"/>
            </a:solidFill>
            <a:prstDash val="solid"/>
          </a:ln>
        </p:spPr>
      </p:sp>
      <p:sp>
        <p:nvSpPr>
          <p:cNvPr id="13" name="agenda-texto-6"/>
          <p:cNvSpPr txBox="1"/>
          <p:nvPr/>
        </p:nvSpPr>
        <p:spPr>
          <a:xfrm>
            <a:off x="9885426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6. Conclusões</a:t>
            </a:r>
            <a:endParaRPr lang="en-US" sz="1100" dirty="0"/>
          </a:p>
        </p:txBody>
      </p:sp>
      <p:sp>
        <p:nvSpPr>
          <p:cNvPr id="15" name="Text 0"/>
          <p:cNvSpPr/>
          <p:nvPr>
            <p:ph idx="100" type="title" hasCustomPrompt="1"/>
          </p:nvPr>
        </p:nvSpPr>
        <p:spPr>
          <a:xfrm>
            <a:off x="548640" y="749808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02A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Recomendações: validar primeiro, usar depois</a:t>
            </a:r>
            <a:endParaRPr lang="en-US" sz="28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1645920"/>
            <a:ext cx="5440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8102E"/>
                </a:solidFill>
              </a:rPr>
              <a:t>Condições para uso institucional</a:t>
            </a:r>
            <a:endParaRPr lang="en-US" sz="1500" dirty="0"/>
          </a:p>
        </p:txBody>
      </p:sp>
      <p:sp>
        <p:nvSpPr>
          <p:cNvPr id="17" name="recomendacao-1"/>
          <p:cNvSpPr/>
          <p:nvPr/>
        </p:nvSpPr>
        <p:spPr>
          <a:xfrm>
            <a:off x="548640" y="2103120"/>
            <a:ext cx="5440680" cy="1051560"/>
          </a:xfrm>
          <a:prstGeom prst="roundRect">
            <a:avLst>
              <a:gd name="adj" fmla="val 6957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31520" y="2331720"/>
            <a:ext cx="594360" cy="594360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31520" y="233172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1508760" y="2194560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</a:rPr>
              <a:t>Avaliar a fila com analistas reais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Precisão no topo da fila, κ analista–sistema e amostra de controlo</a:t>
            </a:r>
            <a:endParaRPr lang="en-US" sz="1500" dirty="0"/>
          </a:p>
        </p:txBody>
      </p:sp>
      <p:sp>
        <p:nvSpPr>
          <p:cNvPr id="21" name="recomendacao-2"/>
          <p:cNvSpPr/>
          <p:nvPr/>
        </p:nvSpPr>
        <p:spPr>
          <a:xfrm>
            <a:off x="548640" y="3291840"/>
            <a:ext cx="5440680" cy="1051560"/>
          </a:xfrm>
          <a:prstGeom prst="roundRect">
            <a:avLst>
              <a:gd name="adj" fmla="val 6957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31520" y="3520440"/>
            <a:ext cx="594360" cy="594360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31520" y="352044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1508760" y="3383280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</a:rPr>
              <a:t>Obter parecer jurídico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Lei n.º 22/11, termos das plataformas e limites constitucionais</a:t>
            </a:r>
            <a:endParaRPr lang="en-US" sz="1500" dirty="0"/>
          </a:p>
        </p:txBody>
      </p:sp>
      <p:sp>
        <p:nvSpPr>
          <p:cNvPr id="25" name="recomendacao-3"/>
          <p:cNvSpPr/>
          <p:nvPr/>
        </p:nvSpPr>
        <p:spPr>
          <a:xfrm>
            <a:off x="548640" y="4480560"/>
            <a:ext cx="5440680" cy="1051560"/>
          </a:xfrm>
          <a:prstGeom prst="roundRect">
            <a:avLst>
              <a:gd name="adj" fmla="val 6957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731520" y="4709160"/>
            <a:ext cx="594360" cy="594360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731520" y="47091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1508760" y="4572000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</a:rPr>
              <a:t>Ampliar o corpus angolano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Medir sempre em Angola; mais Mobilização Hostil e Desinformação</a:t>
            </a:r>
            <a:endParaRPr lang="en-US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6199632" y="1645920"/>
            <a:ext cx="5440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</a:rPr>
              <a:t>Trabalho futuro</a:t>
            </a:r>
            <a:endParaRPr lang="en-US" sz="1500" dirty="0"/>
          </a:p>
        </p:txBody>
      </p:sp>
      <p:sp>
        <p:nvSpPr>
          <p:cNvPr id="30" name="recomendacao-4"/>
          <p:cNvSpPr/>
          <p:nvPr/>
        </p:nvSpPr>
        <p:spPr>
          <a:xfrm>
            <a:off x="6199632" y="2103120"/>
            <a:ext cx="5440680" cy="1051560"/>
          </a:xfrm>
          <a:prstGeom prst="roundRect">
            <a:avLst>
              <a:gd name="adj" fmla="val 6957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6382512" y="2331720"/>
            <a:ext cx="594360" cy="594360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382512" y="233172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4</a:t>
            </a:r>
            <a:endParaRPr lang="en-US" sz="1800" dirty="0"/>
          </a:p>
        </p:txBody>
      </p:sp>
      <p:sp>
        <p:nvSpPr>
          <p:cNvPr id="33" name="Text 30"/>
          <p:cNvSpPr txBox="1"/>
          <p:nvPr/>
        </p:nvSpPr>
        <p:spPr>
          <a:xfrm>
            <a:off x="7159752" y="2194560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</a:rPr>
              <a:t>Substituir a fonte de desinformação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Publicações curtas, de preferência angolanas</a:t>
            </a:r>
            <a:endParaRPr lang="en-US" sz="1500" dirty="0"/>
          </a:p>
        </p:txBody>
      </p:sp>
      <p:sp>
        <p:nvSpPr>
          <p:cNvPr id="34" name="recomendacao-5"/>
          <p:cNvSpPr/>
          <p:nvPr/>
        </p:nvSpPr>
        <p:spPr>
          <a:xfrm>
            <a:off x="6199632" y="3291840"/>
            <a:ext cx="5440680" cy="1051560"/>
          </a:xfrm>
          <a:prstGeom prst="roundRect">
            <a:avLst>
              <a:gd name="adj" fmla="val 6957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6382512" y="3520440"/>
            <a:ext cx="594360" cy="594360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6382512" y="352044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5</a:t>
            </a:r>
            <a:endParaRPr lang="en-US" sz="1800" dirty="0"/>
          </a:p>
        </p:txBody>
      </p:sp>
      <p:sp>
        <p:nvSpPr>
          <p:cNvPr id="37" name="Text 34"/>
          <p:cNvSpPr txBox="1"/>
          <p:nvPr/>
        </p:nvSpPr>
        <p:spPr>
          <a:xfrm>
            <a:off x="7159752" y="3383280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</a:rPr>
              <a:t>Adaptar o modelo ao domínio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Pré-treino com comentários angolanos; comparar com Albertina PT-PT</a:t>
            </a:r>
            <a:endParaRPr lang="en-US" sz="1500" dirty="0"/>
          </a:p>
        </p:txBody>
      </p:sp>
      <p:sp>
        <p:nvSpPr>
          <p:cNvPr id="38" name="recomendacao-6"/>
          <p:cNvSpPr/>
          <p:nvPr/>
        </p:nvSpPr>
        <p:spPr>
          <a:xfrm>
            <a:off x="6199632" y="4480560"/>
            <a:ext cx="5440680" cy="1051560"/>
          </a:xfrm>
          <a:prstGeom prst="roundRect">
            <a:avLst>
              <a:gd name="adj" fmla="val 6957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6382512" y="4709160"/>
            <a:ext cx="594360" cy="594360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382512" y="47091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6</a:t>
            </a:r>
            <a:endParaRPr lang="en-US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7159752" y="4572000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</a:rPr>
              <a:t>Ordenar a fila por gravidade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Calibrar as probabilidades e aprender com a amostra de controlo</a:t>
            </a:r>
            <a:endParaRPr lang="en-US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48640" y="5760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B6B7F"/>
                </a:solidFill>
              </a:rPr>
              <a:t>Fonte: Secção 5.7 da dissertação (nove recomendações; aqui as seis principais).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10312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Obrigado pela atenção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0632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B931"/>
                </a:solidFill>
              </a:rPr>
              <a:t>Estou disponível para as perguntas e comentários do Júri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5897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8C4D1"/>
                </a:solidFill>
              </a:rPr>
              <a:t>Manuel Gonga Muinga · Mestrado em Engenharia e Ciência de Dados · Universidade Agostinho Neto, Faculdade de Engenharia · Luanda, 2026</a:t>
            </a:r>
            <a:endParaRPr lang="en-US" sz="1200" dirty="0"/>
          </a:p>
        </p:txBody>
      </p:sp>
    </p:spTree>
  </p:cSld>
  <p:clrMapOvr>
    <a:masterClrMapping/>
  </p:clrMapOvr>
  <p:transition spd="med">
    <p:push dir="u"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genda-1"/>
          <p:cNvSpPr/>
          <p:nvPr/>
        </p:nvSpPr>
        <p:spPr>
          <a:xfrm>
            <a:off x="548640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3" name="agenda-texto-1"/>
          <p:cNvSpPr txBox="1"/>
          <p:nvPr/>
        </p:nvSpPr>
        <p:spPr>
          <a:xfrm>
            <a:off x="548640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</a:rPr>
              <a:t>1. Introdução</a:t>
            </a:r>
            <a:endParaRPr lang="en-US" sz="1100" dirty="0"/>
          </a:p>
        </p:txBody>
      </p:sp>
      <p:sp>
        <p:nvSpPr>
          <p:cNvPr id="4" name="agenda-2"/>
          <p:cNvSpPr/>
          <p:nvPr/>
        </p:nvSpPr>
        <p:spPr>
          <a:xfrm>
            <a:off x="2415997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5" name="agenda-texto-2"/>
          <p:cNvSpPr txBox="1"/>
          <p:nvPr/>
        </p:nvSpPr>
        <p:spPr>
          <a:xfrm>
            <a:off x="2415997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</a:rPr>
              <a:t>2. Revisão da literatura</a:t>
            </a:r>
            <a:endParaRPr lang="en-US" sz="1100" dirty="0"/>
          </a:p>
        </p:txBody>
      </p:sp>
      <p:sp>
        <p:nvSpPr>
          <p:cNvPr id="6" name="agenda-3"/>
          <p:cNvSpPr/>
          <p:nvPr/>
        </p:nvSpPr>
        <p:spPr>
          <a:xfrm>
            <a:off x="4283354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7" name="agenda-texto-3"/>
          <p:cNvSpPr txBox="1"/>
          <p:nvPr/>
        </p:nvSpPr>
        <p:spPr>
          <a:xfrm>
            <a:off x="4283354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</a:rPr>
              <a:t>3. Metodologia</a:t>
            </a:r>
            <a:endParaRPr lang="en-US" sz="1100" dirty="0"/>
          </a:p>
        </p:txBody>
      </p:sp>
      <p:sp>
        <p:nvSpPr>
          <p:cNvPr id="8" name="agenda-4"/>
          <p:cNvSpPr/>
          <p:nvPr/>
        </p:nvSpPr>
        <p:spPr>
          <a:xfrm>
            <a:off x="6150712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9" name="agenda-texto-4"/>
          <p:cNvSpPr txBox="1"/>
          <p:nvPr/>
        </p:nvSpPr>
        <p:spPr>
          <a:xfrm>
            <a:off x="6150712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</a:rPr>
              <a:t>4. Resultados</a:t>
            </a:r>
            <a:endParaRPr lang="en-US" sz="1100" dirty="0"/>
          </a:p>
        </p:txBody>
      </p:sp>
      <p:sp>
        <p:nvSpPr>
          <p:cNvPr id="10" name="agenda-5"/>
          <p:cNvSpPr/>
          <p:nvPr/>
        </p:nvSpPr>
        <p:spPr>
          <a:xfrm>
            <a:off x="8018069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102A43"/>
          </a:solidFill>
          <a:ln w="9525">
            <a:solidFill>
              <a:srgbClr val="102A43"/>
            </a:solidFill>
            <a:prstDash val="solid"/>
          </a:ln>
        </p:spPr>
      </p:sp>
      <p:sp>
        <p:nvSpPr>
          <p:cNvPr id="11" name="agenda-texto-5"/>
          <p:cNvSpPr txBox="1"/>
          <p:nvPr/>
        </p:nvSpPr>
        <p:spPr>
          <a:xfrm>
            <a:off x="8018069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5. Sistema</a:t>
            </a:r>
            <a:endParaRPr lang="en-US" sz="1100" dirty="0"/>
          </a:p>
        </p:txBody>
      </p:sp>
      <p:sp>
        <p:nvSpPr>
          <p:cNvPr id="12" name="agenda-6"/>
          <p:cNvSpPr/>
          <p:nvPr/>
        </p:nvSpPr>
        <p:spPr>
          <a:xfrm>
            <a:off x="9885426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13" name="agenda-texto-6"/>
          <p:cNvSpPr txBox="1"/>
          <p:nvPr/>
        </p:nvSpPr>
        <p:spPr>
          <a:xfrm>
            <a:off x="9885426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96A3"/>
                </a:solidFill>
              </a:rPr>
              <a:t>6. Conclusões</a:t>
            </a:r>
            <a:endParaRPr lang="en-US" sz="1100" dirty="0"/>
          </a:p>
        </p:txBody>
      </p:sp>
      <p:sp>
        <p:nvSpPr>
          <p:cNvPr id="14" name="Text 0"/>
          <p:cNvSpPr/>
          <p:nvPr>
            <p:ph idx="100" type="title" hasCustomPrompt="1"/>
          </p:nvPr>
        </p:nvSpPr>
        <p:spPr>
          <a:xfrm>
            <a:off x="548640" y="749808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02A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Reserva A – Fila de revisão</a:t>
            </a:r>
            <a:endParaRPr lang="en-US" sz="2800" dirty="0"/>
          </a:p>
        </p:txBody>
      </p:sp>
      <p:pic>
        <p:nvPicPr>
          <p:cNvPr id="15" name="captura" descr="fig3_7_pain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07978" y="1645920"/>
            <a:ext cx="7375740" cy="3931920"/>
          </a:xfrm>
          <a:prstGeom prst="rect">
            <a:avLst/>
          </a:prstGeom>
        </p:spPr>
      </p:pic>
      <p:sp>
        <p:nvSpPr>
          <p:cNvPr id="16" name="legenda"/>
          <p:cNvSpPr txBox="1"/>
          <p:nvPr/>
        </p:nvSpPr>
        <p:spPr>
          <a:xfrm>
            <a:off x="548640" y="562356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Figura 8 – Fila de revisão: sugestão, probabilidades e decisão por teclado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i="1" dirty="0">
                <a:solidFill>
                  <a:srgbClr val="5B6B7F"/>
                </a:solidFill>
              </a:rPr>
              <a:t>Nota: dados fictícios ou contas de exemplo; não descrevem pessoas reais.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genda-1"/>
          <p:cNvSpPr/>
          <p:nvPr/>
        </p:nvSpPr>
        <p:spPr>
          <a:xfrm>
            <a:off x="548640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3" name="agenda-texto-1"/>
          <p:cNvSpPr txBox="1"/>
          <p:nvPr/>
        </p:nvSpPr>
        <p:spPr>
          <a:xfrm>
            <a:off x="548640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</a:rPr>
              <a:t>1. Introdução</a:t>
            </a:r>
            <a:endParaRPr lang="en-US" sz="1100" dirty="0"/>
          </a:p>
        </p:txBody>
      </p:sp>
      <p:sp>
        <p:nvSpPr>
          <p:cNvPr id="4" name="agenda-2"/>
          <p:cNvSpPr/>
          <p:nvPr/>
        </p:nvSpPr>
        <p:spPr>
          <a:xfrm>
            <a:off x="2415997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5" name="agenda-texto-2"/>
          <p:cNvSpPr txBox="1"/>
          <p:nvPr/>
        </p:nvSpPr>
        <p:spPr>
          <a:xfrm>
            <a:off x="2415997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</a:rPr>
              <a:t>2. Revisão da literatura</a:t>
            </a:r>
            <a:endParaRPr lang="en-US" sz="1100" dirty="0"/>
          </a:p>
        </p:txBody>
      </p:sp>
      <p:sp>
        <p:nvSpPr>
          <p:cNvPr id="6" name="agenda-3"/>
          <p:cNvSpPr/>
          <p:nvPr/>
        </p:nvSpPr>
        <p:spPr>
          <a:xfrm>
            <a:off x="4283354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7" name="agenda-texto-3"/>
          <p:cNvSpPr txBox="1"/>
          <p:nvPr/>
        </p:nvSpPr>
        <p:spPr>
          <a:xfrm>
            <a:off x="4283354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</a:rPr>
              <a:t>3. Metodologia</a:t>
            </a:r>
            <a:endParaRPr lang="en-US" sz="1100" dirty="0"/>
          </a:p>
        </p:txBody>
      </p:sp>
      <p:sp>
        <p:nvSpPr>
          <p:cNvPr id="8" name="agenda-4"/>
          <p:cNvSpPr/>
          <p:nvPr/>
        </p:nvSpPr>
        <p:spPr>
          <a:xfrm>
            <a:off x="6150712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9" name="agenda-texto-4"/>
          <p:cNvSpPr txBox="1"/>
          <p:nvPr/>
        </p:nvSpPr>
        <p:spPr>
          <a:xfrm>
            <a:off x="6150712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</a:rPr>
              <a:t>4. Resultados</a:t>
            </a:r>
            <a:endParaRPr lang="en-US" sz="1100" dirty="0"/>
          </a:p>
        </p:txBody>
      </p:sp>
      <p:sp>
        <p:nvSpPr>
          <p:cNvPr id="10" name="agenda-5"/>
          <p:cNvSpPr/>
          <p:nvPr/>
        </p:nvSpPr>
        <p:spPr>
          <a:xfrm>
            <a:off x="8018069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102A43"/>
          </a:solidFill>
          <a:ln w="9525">
            <a:solidFill>
              <a:srgbClr val="102A43"/>
            </a:solidFill>
            <a:prstDash val="solid"/>
          </a:ln>
        </p:spPr>
      </p:sp>
      <p:sp>
        <p:nvSpPr>
          <p:cNvPr id="11" name="agenda-texto-5"/>
          <p:cNvSpPr txBox="1"/>
          <p:nvPr/>
        </p:nvSpPr>
        <p:spPr>
          <a:xfrm>
            <a:off x="8018069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5. Sistema</a:t>
            </a:r>
            <a:endParaRPr lang="en-US" sz="1100" dirty="0"/>
          </a:p>
        </p:txBody>
      </p:sp>
      <p:sp>
        <p:nvSpPr>
          <p:cNvPr id="12" name="agenda-6"/>
          <p:cNvSpPr/>
          <p:nvPr/>
        </p:nvSpPr>
        <p:spPr>
          <a:xfrm>
            <a:off x="9885426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13" name="agenda-texto-6"/>
          <p:cNvSpPr txBox="1"/>
          <p:nvPr/>
        </p:nvSpPr>
        <p:spPr>
          <a:xfrm>
            <a:off x="9885426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96A3"/>
                </a:solidFill>
              </a:rPr>
              <a:t>6. Conclusões</a:t>
            </a:r>
            <a:endParaRPr lang="en-US" sz="1100" dirty="0"/>
          </a:p>
        </p:txBody>
      </p:sp>
      <p:sp>
        <p:nvSpPr>
          <p:cNvPr id="14" name="Text 0"/>
          <p:cNvSpPr/>
          <p:nvPr>
            <p:ph idx="100" type="title" hasCustomPrompt="1"/>
          </p:nvPr>
        </p:nvSpPr>
        <p:spPr>
          <a:xfrm>
            <a:off x="548640" y="749808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02A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Reserva B – Mapa por província</a:t>
            </a:r>
            <a:endParaRPr lang="en-US" sz="2800" dirty="0"/>
          </a:p>
        </p:txBody>
      </p:sp>
      <p:pic>
        <p:nvPicPr>
          <p:cNvPr id="15" name="captura" descr="fig3_8_map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566041" y="1645920"/>
            <a:ext cx="5059614" cy="3931920"/>
          </a:xfrm>
          <a:prstGeom prst="rect">
            <a:avLst/>
          </a:prstGeom>
        </p:spPr>
      </p:pic>
      <p:sp>
        <p:nvSpPr>
          <p:cNvPr id="16" name="legenda"/>
          <p:cNvSpPr txBox="1"/>
          <p:nvPr/>
        </p:nvSpPr>
        <p:spPr>
          <a:xfrm>
            <a:off x="548640" y="562356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Figura 9 – Mapa por província com cartão de Benguela (últimos 90 dias)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i="1" dirty="0">
                <a:solidFill>
                  <a:srgbClr val="5B6B7F"/>
                </a:solidFill>
              </a:rPr>
              <a:t>Nota: dados fictícios ou contas de exemplo; não descrevem pessoas reais.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genda-1"/>
          <p:cNvSpPr/>
          <p:nvPr/>
        </p:nvSpPr>
        <p:spPr>
          <a:xfrm>
            <a:off x="548640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3" name="agenda-texto-1"/>
          <p:cNvSpPr txBox="1"/>
          <p:nvPr/>
        </p:nvSpPr>
        <p:spPr>
          <a:xfrm>
            <a:off x="548640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</a:rPr>
              <a:t>1. Introdução</a:t>
            </a:r>
            <a:endParaRPr lang="en-US" sz="1100" dirty="0"/>
          </a:p>
        </p:txBody>
      </p:sp>
      <p:sp>
        <p:nvSpPr>
          <p:cNvPr id="4" name="agenda-2"/>
          <p:cNvSpPr/>
          <p:nvPr/>
        </p:nvSpPr>
        <p:spPr>
          <a:xfrm>
            <a:off x="2415997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5" name="agenda-texto-2"/>
          <p:cNvSpPr txBox="1"/>
          <p:nvPr/>
        </p:nvSpPr>
        <p:spPr>
          <a:xfrm>
            <a:off x="2415997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</a:rPr>
              <a:t>2. Revisão da literatura</a:t>
            </a:r>
            <a:endParaRPr lang="en-US" sz="1100" dirty="0"/>
          </a:p>
        </p:txBody>
      </p:sp>
      <p:sp>
        <p:nvSpPr>
          <p:cNvPr id="6" name="agenda-3"/>
          <p:cNvSpPr/>
          <p:nvPr/>
        </p:nvSpPr>
        <p:spPr>
          <a:xfrm>
            <a:off x="4283354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7" name="agenda-texto-3"/>
          <p:cNvSpPr txBox="1"/>
          <p:nvPr/>
        </p:nvSpPr>
        <p:spPr>
          <a:xfrm>
            <a:off x="4283354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</a:rPr>
              <a:t>3. Metodologia</a:t>
            </a:r>
            <a:endParaRPr lang="en-US" sz="1100" dirty="0"/>
          </a:p>
        </p:txBody>
      </p:sp>
      <p:sp>
        <p:nvSpPr>
          <p:cNvPr id="8" name="agenda-4"/>
          <p:cNvSpPr/>
          <p:nvPr/>
        </p:nvSpPr>
        <p:spPr>
          <a:xfrm>
            <a:off x="6150712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9" name="agenda-texto-4"/>
          <p:cNvSpPr txBox="1"/>
          <p:nvPr/>
        </p:nvSpPr>
        <p:spPr>
          <a:xfrm>
            <a:off x="6150712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</a:rPr>
              <a:t>4. Resultados</a:t>
            </a:r>
            <a:endParaRPr lang="en-US" sz="1100" dirty="0"/>
          </a:p>
        </p:txBody>
      </p:sp>
      <p:sp>
        <p:nvSpPr>
          <p:cNvPr id="10" name="agenda-5"/>
          <p:cNvSpPr/>
          <p:nvPr/>
        </p:nvSpPr>
        <p:spPr>
          <a:xfrm>
            <a:off x="8018069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102A43"/>
          </a:solidFill>
          <a:ln w="9525">
            <a:solidFill>
              <a:srgbClr val="102A43"/>
            </a:solidFill>
            <a:prstDash val="solid"/>
          </a:ln>
        </p:spPr>
      </p:sp>
      <p:sp>
        <p:nvSpPr>
          <p:cNvPr id="11" name="agenda-texto-5"/>
          <p:cNvSpPr txBox="1"/>
          <p:nvPr/>
        </p:nvSpPr>
        <p:spPr>
          <a:xfrm>
            <a:off x="8018069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5. Sistema</a:t>
            </a:r>
            <a:endParaRPr lang="en-US" sz="1100" dirty="0"/>
          </a:p>
        </p:txBody>
      </p:sp>
      <p:sp>
        <p:nvSpPr>
          <p:cNvPr id="12" name="agenda-6"/>
          <p:cNvSpPr/>
          <p:nvPr/>
        </p:nvSpPr>
        <p:spPr>
          <a:xfrm>
            <a:off x="9885426" y="219456"/>
            <a:ext cx="1757629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13" name="agenda-texto-6"/>
          <p:cNvSpPr txBox="1"/>
          <p:nvPr/>
        </p:nvSpPr>
        <p:spPr>
          <a:xfrm>
            <a:off x="9885426" y="219456"/>
            <a:ext cx="17576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96A3"/>
                </a:solidFill>
              </a:rPr>
              <a:t>6. Conclusões</a:t>
            </a:r>
            <a:endParaRPr lang="en-US" sz="1100" dirty="0"/>
          </a:p>
        </p:txBody>
      </p:sp>
      <p:sp>
        <p:nvSpPr>
          <p:cNvPr id="14" name="Text 0"/>
          <p:cNvSpPr/>
          <p:nvPr>
            <p:ph idx="100" type="title" hasCustomPrompt="1"/>
          </p:nvPr>
        </p:nvSpPr>
        <p:spPr>
          <a:xfrm>
            <a:off x="548640" y="749808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02A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Reserva C – Recuperação do acesso</a:t>
            </a:r>
            <a:endParaRPr lang="en-US" sz="2800" dirty="0"/>
          </a:p>
        </p:txBody>
      </p:sp>
      <p:pic>
        <p:nvPicPr>
          <p:cNvPr id="15" name="captura" descr="fig3_12_recuperaca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46533" y="1645920"/>
            <a:ext cx="5298630" cy="3931920"/>
          </a:xfrm>
          <a:prstGeom prst="rect">
            <a:avLst/>
          </a:prstGeom>
        </p:spPr>
      </p:pic>
      <p:sp>
        <p:nvSpPr>
          <p:cNvPr id="16" name="legenda"/>
          <p:cNvSpPr txBox="1"/>
          <p:nvPr/>
        </p:nvSpPr>
        <p:spPr>
          <a:xfrm>
            <a:off x="548640" y="562356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Figura 10 – Recuperação do acesso sem correio electrónico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i="1" dirty="0">
                <a:solidFill>
                  <a:srgbClr val="5B6B7F"/>
                </a:solidFill>
              </a:rPr>
              <a:t>Nota: dados fictícios ou contas de exemplo; não descrevem pessoas reais.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Defesa UAN">
  <a:themeElements>
    <a:clrScheme name="Defesa UAN">
      <a:dk1>
        <a:srgbClr val="1B2733"/>
      </a:dk1>
      <a:lt1>
        <a:srgbClr val="FFFFFF"/>
      </a:lt1>
      <a:dk2>
        <a:srgbClr val="102A43"/>
      </a:dk2>
      <a:lt2>
        <a:srgbClr val="EEF2F6"/>
      </a:lt2>
      <a:accent1>
        <a:srgbClr val="102A43"/>
      </a:accent1>
      <a:accent2>
        <a:srgbClr val="C8102E"/>
      </a:accent2>
      <a:accent3>
        <a:srgbClr val="E8B931"/>
      </a:accent3>
      <a:accent4>
        <a:srgbClr val="2E6F9E"/>
      </a:accent4>
      <a:accent5>
        <a:srgbClr val="5B6B7F"/>
      </a:accent5>
      <a:accent6>
        <a:srgbClr val="178A5F"/>
      </a:accent6>
      <a:hlink>
        <a:srgbClr val="2E6F9E"/>
      </a:hlink>
      <a:folHlink>
        <a:srgbClr val="5B6B7F"/>
      </a:folHlink>
    </a:clrScheme>
    <a:fontScheme name="Defesa UAN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Monitoramento inteligente de ameaças em redes sociais em Angola</dc:title>
  <dc:subject>Defesa de dissertação de mestrado, UAN, 2026</dc:subject>
  <dc:creator>Manuel Gonga Muinga</dc:creator>
  <cp:lastModifiedBy>Manuel Gonga Muinga</cp:lastModifiedBy>
  <cp:revision>1</cp:revision>
  <dcterms:created xsi:type="dcterms:W3CDTF">2026-10-24T15:54:29Z</dcterms:created>
  <dcterms:modified xsi:type="dcterms:W3CDTF">2026-10-24T15:54:29Z</dcterms:modified>
</cp:coreProperties>
</file>