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ce288be-b6c1-285c-23e8-123e495d995e}">
          <p14:sldIdLst>
            <p14:sldId id="256"/>
            <p14:sldId id="257"/>
          </p14:sldIdLst>
        </p14:section>
        <p14:section name="Introdução" id="{25e6835f-6ef8-b66a-9461-c793e8906d56}">
          <p14:sldIdLst>
            <p14:sldId id="258"/>
            <p14:sldId id="259"/>
          </p14:sldIdLst>
        </p14:section>
        <p14:section name="Revisão da literatura" id="{3eed537e-5aed-8c94-4337-25344f667966}">
          <p14:sldIdLst>
            <p14:sldId id="260"/>
          </p14:sldIdLst>
        </p14:section>
        <p14:section name="Metodologia" id="{a677c6a7-976f-f000-7a1f-222f31a2a3c3}">
          <p14:sldIdLst>
            <p14:sldId id="261"/>
            <p14:sldId id="262"/>
            <p14:sldId id="263"/>
          </p14:sldIdLst>
        </p14:section>
        <p14:section name="Resultados" id="{521dc923-22b1-a1ee-a84b-1eddbec10fcc}">
          <p14:sldIdLst>
            <p14:sldId id="264"/>
            <p14:sldId id="265"/>
            <p14:sldId id="266"/>
            <p14:sldId id="267"/>
          </p14:sldIdLst>
        </p14:section>
        <p14:section name="Sistema" id="{22b89001-3ae1-244f-a861-3416b1cf15f8}">
          <p14:sldIdLst>
            <p14:sldId id="268"/>
            <p14:sldId id="269"/>
          </p14:sldIdLst>
        </p14:section>
        <p14:section name="Conclusões" id="{17121ae2-4fbe-2c29-4301-012760c83646}">
          <p14:sldIdLst>
            <p14:sldId id="270"/>
            <p14:sldId id="271"/>
            <p14:sldId id="272"/>
          </p14:sldIdLst>
        </p14:section>
        <p14:section name="Reserva" id="{af9104ac-d0ef-52b7-4c18-c56e6a8ee166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Publicações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FA3B8"/>
              </a:solidFill>
              <a:effectLst/>
            </c:spPr>
          </c:dPt>
          <c:dPt>
            <c:idx val="1"/>
            <c:bubble3D val="0"/>
            <c:spPr>
              <a:solidFill>
                <a:srgbClr val="C8102E"/>
              </a:solidFill>
              <a:effectLst/>
            </c:spPr>
          </c:dPt>
          <c:dPt>
            <c:idx val="2"/>
            <c:bubble3D val="0"/>
            <c:spPr>
              <a:solidFill>
                <a:srgbClr val="E8B931"/>
              </a:solidFill>
              <a:effectLst/>
            </c:spPr>
          </c:dPt>
          <c:dPt>
            <c:idx val="3"/>
            <c:bubble3D val="0"/>
            <c:spPr>
              <a:solidFill>
                <a:srgbClr val="2E6F9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Normal</c:v>
                </c:pt>
                <c:pt idx="1">
                  <c:v>Mobilização Hostil</c:v>
                </c:pt>
                <c:pt idx="2">
                  <c:v>Desinformação</c:v>
                </c:pt>
                <c:pt idx="3">
                  <c:v>Discurso de Ódio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1664</c:v>
                </c:pt>
                <c:pt idx="1">
                  <c:v>364</c:v>
                </c:pt>
                <c:pt idx="2">
                  <c:v>326</c:v>
                </c:pt>
                <c:pt idx="3">
                  <c:v>283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solidFill>
                <a:srgbClr val="1B27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F1-macro</c:v>
                </c:pt>
              </c:strCache>
            </c:strRef>
          </c:tx>
          <c:spPr>
            <a:solidFill>
              <a:srgbClr val="8FA3B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3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3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6F9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2A4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SVM</c:v>
                  </c:pt>
                  <c:pt idx="1">
                    <c:v>Floresta Aleatória</c:v>
                  </c:pt>
                  <c:pt idx="2">
                    <c:v>Bi-LSTM</c:v>
                  </c:pt>
                  <c:pt idx="3">
                    <c:v>BERTimbau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0.633</c:v>
                </c:pt>
                <c:pt idx="1">
                  <c:v>0.659</c:v>
                </c:pt>
                <c:pt idx="2">
                  <c:v>0.66</c:v>
                </c:pt>
                <c:pt idx="3">
                  <c:v>0.807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400" u="none">
                  <a:solidFill>
                    <a:srgbClr val="1B2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8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F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B7F"/>
                    </a:solidFill>
                    <a:latin typeface="+mn-lt"/>
                  </a:rPr>
                  <a:t>F1-macro (teste, n = 3 987)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Corpus público (n = 3 632)</c:v>
                </c:pt>
              </c:strCache>
            </c:strRef>
          </c:tx>
          <c:spPr>
            <a:solidFill>
              <a:srgbClr val="2E6F9E"/>
            </a:solidFill>
            <a:effectLst/>
          </c:spPr>
          <c:invertIfNegative val="0"/>
          <c:dLbls>
            <c:numFmt formatCode="0.00;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Normal</c:v>
                  </c:pt>
                  <c:pt idx="1">
                    <c:v>Desinformação</c:v>
                  </c:pt>
                  <c:pt idx="2">
                    <c:v>Discurso de Ódio</c:v>
                  </c:pt>
                  <c:pt idx="3">
                    <c:v>Mobilização Hostil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0.963</c:v>
                </c:pt>
                <c:pt idx="1">
                  <c:v>0.992</c:v>
                </c:pt>
                <c:pt idx="2">
                  <c:v>0.802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Piloto angolano (n = 355)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0;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Normal</c:v>
                  </c:pt>
                  <c:pt idx="1">
                    <c:v>Desinformação</c:v>
                  </c:pt>
                  <c:pt idx="2">
                    <c:v>Discurso de Ódio</c:v>
                  </c:pt>
                  <c:pt idx="3">
                    <c:v>Mobilização Hostil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0.825</c:v>
                </c:pt>
                <c:pt idx="1">
                  <c:v>0.235</c:v>
                </c:pt>
                <c:pt idx="2">
                  <c:v>0.518</c:v>
                </c:pt>
                <c:pt idx="3">
                  <c:v>0.554</c:v>
                </c:pt>
              </c:numCache>
            </c:numRef>
          </c:val>
        </c:ser>
        <c:dLbls>
          <c:numFmt formatCode="0.00;;;" sourceLinked="0"/>
          <c:txPr>
            <a:bodyPr/>
            <a:lstStyle/>
            <a:p>
              <a:pPr>
                <a:defRPr b="0" i="0" strike="noStrike" sz="1200" u="none">
                  <a:solidFill>
                    <a:srgbClr val="1B2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8EF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27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BERTimbau</c:v>
                </c:pt>
              </c:strCache>
            </c:strRef>
          </c:tx>
          <c:spPr>
            <a:solidFill>
              <a:srgbClr val="102A43"/>
            </a:solidFill>
            <a:ln w="31750" cap="flat">
              <a:solidFill>
                <a:srgbClr val="102A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02A43"/>
              </a:solidFill>
              <a:ln w="9525" cap="flat">
                <a:solidFill>
                  <a:srgbClr val="102A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  <c:pt idx="6">
                    <c:v>60%</c:v>
                  </c:pt>
                  <c:pt idx="7">
                    <c:v>70%</c:v>
                  </c:pt>
                  <c:pt idx="8">
                    <c:v>80%</c:v>
                  </c:pt>
                  <c:pt idx="9">
                    <c:v>90%</c:v>
                  </c:pt>
                  <c:pt idx="10">
                    <c:v>100%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34.9</c:v>
                </c:pt>
                <c:pt idx="2">
                  <c:v>68.1</c:v>
                </c:pt>
                <c:pt idx="3">
                  <c:v>89.3</c:v>
                </c:pt>
                <c:pt idx="4">
                  <c:v>96.6</c:v>
                </c:pt>
                <c:pt idx="5">
                  <c:v>99</c:v>
                </c:pt>
                <c:pt idx="6">
                  <c:v>99.6</c:v>
                </c:pt>
                <c:pt idx="7">
                  <c:v>99.8</c:v>
                </c:pt>
                <c:pt idx="8">
                  <c:v>99.9</c:v>
                </c:pt>
                <c:pt idx="9">
                  <c:v>100</c:v>
                </c:pt>
                <c:pt idx="10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Bi-LSTM</c:v>
                </c:pt>
              </c:strCache>
            </c:strRef>
          </c:tx>
          <c:spPr>
            <a:solidFill>
              <a:srgbClr val="2E6F9E"/>
            </a:solidFill>
            <a:ln w="31750" cap="flat">
              <a:solidFill>
                <a:srgbClr val="2E6F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6F9E"/>
              </a:solidFill>
              <a:ln w="9525" cap="flat">
                <a:solidFill>
                  <a:srgbClr val="2E6F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  <c:pt idx="6">
                    <c:v>60%</c:v>
                  </c:pt>
                  <c:pt idx="7">
                    <c:v>70%</c:v>
                  </c:pt>
                  <c:pt idx="8">
                    <c:v>80%</c:v>
                  </c:pt>
                  <c:pt idx="9">
                    <c:v>90%</c:v>
                  </c:pt>
                  <c:pt idx="10">
                    <c:v>100%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32</c:v>
                </c:pt>
                <c:pt idx="2">
                  <c:v>56.9</c:v>
                </c:pt>
                <c:pt idx="3">
                  <c:v>73.7</c:v>
                </c:pt>
                <c:pt idx="4">
                  <c:v>82.2</c:v>
                </c:pt>
                <c:pt idx="5">
                  <c:v>88.8</c:v>
                </c:pt>
                <c:pt idx="6">
                  <c:v>92.9</c:v>
                </c:pt>
                <c:pt idx="7">
                  <c:v>96</c:v>
                </c:pt>
                <c:pt idx="8">
                  <c:v>97.7</c:v>
                </c:pt>
                <c:pt idx="9">
                  <c:v>99.2</c:v>
                </c:pt>
                <c:pt idx="10">
                  <c:v>100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Floresta Aleatória</c:v>
                </c:pt>
              </c:strCache>
            </c:strRef>
          </c:tx>
          <c:spPr>
            <a:solidFill>
              <a:srgbClr val="E8B931"/>
            </a:solidFill>
            <a:ln w="31750" cap="flat">
              <a:solidFill>
                <a:srgbClr val="E8B93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8B931"/>
              </a:solidFill>
              <a:ln w="9525" cap="flat">
                <a:solidFill>
                  <a:srgbClr val="E8B93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  <c:pt idx="6">
                    <c:v>60%</c:v>
                  </c:pt>
                  <c:pt idx="7">
                    <c:v>70%</c:v>
                  </c:pt>
                  <c:pt idx="8">
                    <c:v>80%</c:v>
                  </c:pt>
                  <c:pt idx="9">
                    <c:v>90%</c:v>
                  </c:pt>
                  <c:pt idx="10">
                    <c:v>100%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32.9</c:v>
                </c:pt>
                <c:pt idx="2">
                  <c:v>57.2</c:v>
                </c:pt>
                <c:pt idx="3">
                  <c:v>73.7</c:v>
                </c:pt>
                <c:pt idx="4">
                  <c:v>82.6</c:v>
                </c:pt>
                <c:pt idx="5">
                  <c:v>88.5</c:v>
                </c:pt>
                <c:pt idx="6">
                  <c:v>91.9</c:v>
                </c:pt>
                <c:pt idx="7">
                  <c:v>94.1</c:v>
                </c:pt>
                <c:pt idx="8">
                  <c:v>96.2</c:v>
                </c:pt>
                <c:pt idx="9">
                  <c:v>98.7</c:v>
                </c:pt>
                <c:pt idx="10">
                  <c:v>100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Ordem aleatória</c:v>
                </c:pt>
              </c:strCache>
            </c:strRef>
          </c:tx>
          <c:spPr>
            <a:solidFill>
              <a:srgbClr val="B8C4D1"/>
            </a:solidFill>
            <a:ln w="31750" cap="flat">
              <a:solidFill>
                <a:srgbClr val="B8C4D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C4D1"/>
              </a:solidFill>
              <a:ln w="9525" cap="flat">
                <a:solidFill>
                  <a:srgbClr val="B8C4D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  <c:pt idx="6">
                    <c:v>60%</c:v>
                  </c:pt>
                  <c:pt idx="7">
                    <c:v>70%</c:v>
                  </c:pt>
                  <c:pt idx="8">
                    <c:v>80%</c:v>
                  </c:pt>
                  <c:pt idx="9">
                    <c:v>90%</c:v>
                  </c:pt>
                  <c:pt idx="10">
                    <c:v>100%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F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B7F"/>
                    </a:solidFill>
                    <a:latin typeface="+mn-lt"/>
                  </a:rPr>
                  <a:t>Fracção da fila revista, por prioridade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8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F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B7F"/>
                    </a:solidFill>
                    <a:latin typeface="+mn-lt"/>
                  </a:rPr>
                  <a:t>Ameaças encontradas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7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0:30 (relógio no fim: 0:30 de 15:00).
Cumprimentar o Presidente do Júri, os membros do júri, os orientadores e o público. Apresentar o título e o enquadramento: dissertação de mestrado em Engenharia e Ciência de Dados. Anunciar que a exposição dura 15 minutos e inclui uma demonstração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0:30 (relógio no fim: 1:00 de 15:00).
Apresentar a estrutura: seis partes. Indicar que a parte maior é a do sistema, com demonstração ao vivo, e que no topo de cada diapositivo se vê em que parte estamos.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0:50 (relógio no fim: 1:50 de 15:00).
O fenómeno tem escala: 17,6 milhões de utilizadores da Internet e 5,5 milhões de identidades em redes sociais. Dois episódios mostram o peso político: a campanha «2022 Vais Gostar», que passou das redes para a rua, e os protestos de Agosto de 2025. O problema para as estruturas de segurança é o volume: não é possível ler tudo, e as ferramentas comerciais não foram pensadas para o português de Angola.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0:55 (relógio no fim: 2:45 de 15:00).
A pergunta de partida e as quatro hipóteses, cada uma com critério quantitativo. H1 compara algoritmos; H2 mede tempo; H3 antecedência; H4 a queda em conteúdo angolano. Ler devagar a pergunta.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1:00 (relógio no fim: 3:45 de 15:00).
Três conclusões da literatura. Os sistemas internacionais (MediFor, Palantir, EU DisinfoLab) não estão disponíveis ou criam dependência externa. Os recursos de PLN em português são brasileiros, e a desinformação vem de notícias completas. Os classificadores generalizam mal entre domínios e variedades, e manter um humano no circuito exige contramedidas contra o viés de automação.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0:40 (relógio no fim: 4:25 de 15:00).
Paradigma pragmático e aplicado, abordagem quantitativa. Três fases: dados, modelos e sistema. As revisões feitas no sistema podem voltar a alimentar o treino.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0:50 (relógio no fim: 5:15 de 15:00).
O corpus angolano: 2 637 publicações públicas, sobretudo comentários do YouTube pela interface oficial, anotadas por três anotadores com κ de Fleiss de 0,718, acordo substancial. Nos desacordos, prevalece a categoria mais grave. Notar que a Mobilização Hostil só existe no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0:45 (relógio no fim: 6:00 de 15:00).
O piloto, por si só, é pequeno. Juntou-se a três corpora públicos brasileiros, num total de 26 859 registos. Quatro modelos de três gerações. Protocolo definido antes de ver o teste: F1-macro com IC por bootstrap e McNemar com Bonferroni. Atenção: 91% do teste é brasileiro, por isso a H4 separa os dois domínios.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0:55 (relógio no fim: 6:55 de 15:00).
O BERTimbau obteve F1-macro de 0,807, com intervalo que não se sobrepõe aos outros; a diferença é de 14,6 a 17,4 p.p., com p &lt; 10^-47. O Bi-LSTM não se distingue da Floresta Aleatória: por isso a H1 fica parcialmente confirmada. A explicação provável é o pré-treino.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0:55 (relógio no fim: 7:50 de 15:00).
Este é o resultado central. No corpus público o F1-macro é 0,919; no piloto angolano cai para 0,533: 38,6 pontos. A maior queda é na Desinformação, de 0,99 para 0,24: o modelo aprendeu o estilo das notícias do Fake.br, não o fenómeno. A estimativa realista para Angola é 0,53, e é essa que o sistema mostra ao analista.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0:40 (relógio no fim: 8:30 de 15:00).
Como o sistema usa as probabilidades para ordenar a fila, medi também o esforço de revisão. Com o BERTimbau, rever um quarto da fila encontra 80% das ameaças. Mas a ordem reflecte a confiança e não a gravidade: a Mobilização Hostil fica a meio da fila. E 11,8% das ameaças ficam entre os itens que o modelo considera Normais: é isso que justifica a amostra de controlo.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0:45 (relógio no fim: 9:15 de 15:00).
A H2 foi medida com o protótipo num computador modesto, sem GPU: 0,63 segundos por publicação. Com a gravação por sublotes, as primeiras publicações chegam à fila em 36 segundos, e todas em menos de 60 segundos em recolhas até cerca de 64 publicações. A H3 não pôde ser testada por falta de um corpus datado.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0:45 (relógio no fim: 10:00 de 15:00).
Os resultados ditaram o desenho: o modelo não decide, ordena. Arquitectura leve, num único servidor, software livre e sem dependência da Internet. Salvaguardas: anonimização à entrada, sem perfis, revisão humana obrigatória, auditoria. Passo agora para 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3:15 (relógio no fim: 13:15 de 15:00).
ANTES DA SESSÃO: arrancar o servidor com «python uan.py servir --demonstracao», entrar como demo.analista num separador e como demo.supervisor noutro. Ao chegar a este diapositivo, mudar para o navegador (Alt+Tab).
Roteiro com tempos:
1) Panorama (0:20): o que foi recolhido e sinalizado.
2) Fila (0:50): ler uma publicação, decidir com a tecla, desfazer com U; mostrar as probabilidades e o realce do lugar; referir a revisão cega.
3) Alertas e mapa (0:50): sino, mapa com cartão de uma província, reprodução semana a semana.
4) Sobre o modelo (0:25): o desempenho em Angola, 0,53, está à vista do analista.
5) Fontes e contas (0:30): recolha automática com a estimativa da quota; ligação «Esqueceu-se da palavra-passe?».
Se a demonstração falhar, usar os diapositivos de reserva A, B e C, no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0:50 (relógio no fim: 14:05 de 15:00).
Síntese das hipóteses. H1 parcialmente confirmada; H2 confirmada com condições; H3 não testada; H4 confirmada com reservas. Dizer com clareza o que não foi demonstrado: a utilidade da fila com analistas reais e a antecipação.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0:40 (relógio no fim: 14:45 de 15:00).
Três conclusões e as recomendações principais. Fechar com a mensagem: o investimento que mais rende é em dados angolanos anotados e em avaliação no domínio real; o modelo é uma sugestão, não um veredicto.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0:15 (relógio no fim: 15:00 de 15:00).
Agradecer e passar a palavra ao Presidente do Júri. Os diapositivos seguintes são de reserva, para a demonstração ou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Diapositivo de reserva: usar se a demonstração ao vivo falhar ou para responder 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Diapositivo de reserva: usar se a demonstração ao vivo falhar ou para responder 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Diapositivo de reserva: usar se a demonstração ao vivo falhar ou para responder 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</a:t>
            </a: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 Gonga Muinga · Defesa de dissertação · UAN,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ndo-logos"/>
          <p:cNvSpPr/>
          <p:nvPr/>
        </p:nvSpPr>
        <p:spPr>
          <a:xfrm>
            <a:off x="548640" y="411480"/>
            <a:ext cx="21031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logo-UAN" descr="logo_u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02920"/>
            <a:ext cx="758952" cy="777240"/>
          </a:xfrm>
          <a:prstGeom prst="rect">
            <a:avLst/>
          </a:prstGeom>
        </p:spPr>
      </p:pic>
      <p:pic>
        <p:nvPicPr>
          <p:cNvPr id="4" name="logo-FE" descr="logo_f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502920"/>
            <a:ext cx="740664" cy="777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2880360" y="502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UNIVERSIDADE AGOSTINHO NETO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FACULDADE DE ENGENHARIA</a:t>
            </a:r>
            <a:endParaRPr lang="en-US" sz="1400" dirty="0"/>
          </a:p>
        </p:txBody>
      </p:sp>
      <p:sp>
        <p:nvSpPr>
          <p:cNvPr id="6" name="titulo"/>
          <p:cNvSpPr txBox="1"/>
          <p:nvPr/>
        </p:nvSpPr>
        <p:spPr>
          <a:xfrm>
            <a:off x="548640" y="178308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Monitoramento inteligente de ameaças em redes sociais em Angola para o apoio à defesa e segurança nacional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42900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B931"/>
                </a:solidFill>
              </a:rPr>
              <a:t>Dissertação para obtenção do grau de Mestre em Engenharia e Ciência de Dados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16052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B8C4D1"/>
                </a:solidFill>
              </a:rPr>
              <a:t>Mestrando: </a:t>
            </a:r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Manuel Gonga Muinga, Engenheiro Electrotécnico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B8C4D1"/>
                </a:solidFill>
              </a:rPr>
              <a:t>Orientador: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Professor Doutor Joaquim Fortes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B8C4D1"/>
                </a:solidFill>
              </a:rPr>
              <a:t>Co-orientador: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Professor Doutor Judice Cumbunga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Luanda, 2026</a:t>
            </a:r>
            <a:endParaRPr lang="en-US" sz="1600" dirty="0"/>
          </a:p>
        </p:txBody>
      </p:sp>
    </p:spTree>
  </p:cSld>
  <p:clrMapOvr>
    <a:masterClrMapping/>
  </p:clrMapOvr>
  <p:transition spd="med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agenda-cartao-1"/>
          <p:cNvSpPr/>
          <p:nvPr/>
        </p:nvSpPr>
        <p:spPr>
          <a:xfrm>
            <a:off x="548640" y="173736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201168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89280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Introdução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Contexto, problema, pergunta e hipóteses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98348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6F9E"/>
                </a:solidFill>
              </a:rPr>
              <a:t>1:45</a:t>
            </a:r>
            <a:endParaRPr lang="en-US" sz="1600" dirty="0"/>
          </a:p>
        </p:txBody>
      </p:sp>
      <p:sp>
        <p:nvSpPr>
          <p:cNvPr id="9" name="agenda-cartao-2"/>
          <p:cNvSpPr/>
          <p:nvPr/>
        </p:nvSpPr>
        <p:spPr>
          <a:xfrm>
            <a:off x="6172200" y="173736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201168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89280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Revisão da literatura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que se sabe e a lacuna para Angola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060704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6F9E"/>
                </a:solidFill>
              </a:rPr>
              <a:t>1:00</a:t>
            </a:r>
            <a:endParaRPr lang="en-US" sz="1600" dirty="0"/>
          </a:p>
        </p:txBody>
      </p:sp>
      <p:sp>
        <p:nvSpPr>
          <p:cNvPr id="14" name="agenda-cartao-3"/>
          <p:cNvSpPr/>
          <p:nvPr/>
        </p:nvSpPr>
        <p:spPr>
          <a:xfrm>
            <a:off x="548640" y="315468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77240" y="342900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600200" y="331012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Metodologia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Desenho, corpus angolano, corpus híbrido e modelos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983480" y="35204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6F9E"/>
                </a:solidFill>
              </a:rPr>
              <a:t>2:15</a:t>
            </a:r>
            <a:endParaRPr lang="en-US" sz="1600" dirty="0"/>
          </a:p>
        </p:txBody>
      </p:sp>
      <p:sp>
        <p:nvSpPr>
          <p:cNvPr id="19" name="agenda-cartao-4"/>
          <p:cNvSpPr/>
          <p:nvPr/>
        </p:nvSpPr>
        <p:spPr>
          <a:xfrm>
            <a:off x="6172200" y="315468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0800" y="342900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7223760" y="331012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Resultados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Comparação de modelos, lacuna de domínio, fila e tempo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0607040" y="35204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6F9E"/>
                </a:solidFill>
              </a:rPr>
              <a:t>3:15</a:t>
            </a:r>
            <a:endParaRPr lang="en-US" sz="1600" dirty="0"/>
          </a:p>
        </p:txBody>
      </p:sp>
      <p:sp>
        <p:nvSpPr>
          <p:cNvPr id="24" name="agenda-cartao-5"/>
          <p:cNvSpPr/>
          <p:nvPr/>
        </p:nvSpPr>
        <p:spPr>
          <a:xfrm>
            <a:off x="548640" y="457200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77240" y="484632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4846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1600200" y="472744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Sistema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Arquitectura e demonstração ao vivo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4983480" y="4937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4:00</a:t>
            </a:r>
            <a:endParaRPr lang="en-US" sz="1600" dirty="0"/>
          </a:p>
        </p:txBody>
      </p:sp>
      <p:sp>
        <p:nvSpPr>
          <p:cNvPr id="29" name="agenda-cartao-6"/>
          <p:cNvSpPr/>
          <p:nvPr/>
        </p:nvSpPr>
        <p:spPr>
          <a:xfrm>
            <a:off x="6172200" y="457200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0" y="484632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0" y="4846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6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7223760" y="472744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Conclusões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Hipóteses, conclusões e recomendações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10607040" y="4937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6F9E"/>
                </a:solidFill>
              </a:rPr>
              <a:t>1:30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Exposição: 15 minutos (artigo 17.º do Regulamento de Trabalhos de Fim de Curso da UAN). Os tempos à direita somam 14:45; os 15 segundos restantes cobrem a passagem para a demonstração.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Milhões de angolanos nas redes, poucos analistas para as ler</a:t>
            </a:r>
            <a:endParaRPr lang="en-US" sz="2800" dirty="0"/>
          </a:p>
        </p:txBody>
      </p:sp>
      <p:sp>
        <p:nvSpPr>
          <p:cNvPr id="16" name="estatistica-1"/>
          <p:cNvSpPr/>
          <p:nvPr/>
        </p:nvSpPr>
        <p:spPr>
          <a:xfrm>
            <a:off x="548640" y="1783080"/>
            <a:ext cx="2148840" cy="2377440"/>
          </a:xfrm>
          <a:prstGeom prst="roundRect">
            <a:avLst>
              <a:gd name="adj" fmla="val 340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196596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2A43"/>
                </a:solidFill>
              </a:rPr>
              <a:t>17,6 M</a:t>
            </a:r>
            <a:endParaRPr lang="en-US" sz="38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283464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utilizadores da Internet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44,8% da população</a:t>
            </a:r>
            <a:endParaRPr lang="en-US" sz="1400" dirty="0"/>
          </a:p>
        </p:txBody>
      </p:sp>
      <p:sp>
        <p:nvSpPr>
          <p:cNvPr id="19" name="estatistica-2"/>
          <p:cNvSpPr/>
          <p:nvPr/>
        </p:nvSpPr>
        <p:spPr>
          <a:xfrm>
            <a:off x="2880360" y="1783080"/>
            <a:ext cx="2148840" cy="2377440"/>
          </a:xfrm>
          <a:prstGeom prst="roundRect">
            <a:avLst>
              <a:gd name="adj" fmla="val 340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196596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102E"/>
                </a:solidFill>
              </a:rPr>
              <a:t>5,50 M</a:t>
            </a:r>
            <a:endParaRPr lang="en-US" sz="3800" dirty="0"/>
          </a:p>
        </p:txBody>
      </p:sp>
      <p:sp>
        <p:nvSpPr>
          <p:cNvPr id="21" name="Text 18"/>
          <p:cNvSpPr txBox="1"/>
          <p:nvPr/>
        </p:nvSpPr>
        <p:spPr>
          <a:xfrm>
            <a:off x="3017520" y="283464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identidades em redes sociais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14,0% da população</a:t>
            </a:r>
            <a:endParaRPr lang="en-US" sz="1400" dirty="0"/>
          </a:p>
        </p:txBody>
      </p:sp>
      <p:sp>
        <p:nvSpPr>
          <p:cNvPr id="22" name="estatistica-3"/>
          <p:cNvSpPr/>
          <p:nvPr/>
        </p:nvSpPr>
        <p:spPr>
          <a:xfrm>
            <a:off x="5212080" y="1783080"/>
            <a:ext cx="2148840" cy="2377440"/>
          </a:xfrm>
          <a:prstGeom prst="roundRect">
            <a:avLst>
              <a:gd name="adj" fmla="val 340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49240" y="196596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2A43"/>
                </a:solidFill>
              </a:rPr>
              <a:t>30,6 M</a:t>
            </a:r>
            <a:endParaRPr lang="en-US" sz="38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283464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ligações móveis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o telemóvel é o acesso principal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2519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Fonte: Kemp (2025), dados de Outubro de 2025.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726680" y="178308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02A43"/>
                </a:solidFill>
              </a:rPr>
              <a:t>Da rede para a rua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campanha «2022 Vais Gostar» começou nas redes e terminou em manifestações em várias províncias (Hassane, 2021).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Nos protestos de Agosto de 2025 circularam conteúdos sintéticos para influenciar a narrativa (Cintra, 2025).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 limite é humano: há mais publicações do que analistas, e as ferramentas comerciais não foram feitas para o português de Angola.</a:t>
            </a:r>
            <a:endParaRPr lang="en-US" sz="1400" dirty="0"/>
          </a:p>
        </p:txBody>
      </p:sp>
      <p:sp>
        <p:nvSpPr>
          <p:cNvPr id="27" name="icone-circulo"/>
          <p:cNvSpPr/>
          <p:nvPr/>
        </p:nvSpPr>
        <p:spPr>
          <a:xfrm>
            <a:off x="548640" y="4892040"/>
            <a:ext cx="685800" cy="68580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8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5063490"/>
            <a:ext cx="342900" cy="34290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463040" y="48920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Ideia central: um sistema que ajude o analista a decidir o que ler primeiro, sem decidir por ele.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de partida e hipóteses</a:t>
            </a:r>
            <a:endParaRPr lang="en-US" sz="2800" dirty="0"/>
          </a:p>
        </p:txBody>
      </p:sp>
      <p:sp>
        <p:nvSpPr>
          <p:cNvPr id="16" name="pergunta"/>
          <p:cNvSpPr/>
          <p:nvPr/>
        </p:nvSpPr>
        <p:spPr>
          <a:xfrm>
            <a:off x="548640" y="169164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16916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Em que medida um sistema baseado em aprendizagem automática consegue apoiar, de forma fiável e juridicamente responsável, a triagem de publicações ameaçadoras em redes sociais angolanas?</a:t>
            </a:r>
            <a:endParaRPr lang="en-US" sz="1700" dirty="0"/>
          </a:p>
        </p:txBody>
      </p:sp>
      <p:sp>
        <p:nvSpPr>
          <p:cNvPr id="18" name="hipotese-H1"/>
          <p:cNvSpPr/>
          <p:nvPr/>
        </p:nvSpPr>
        <p:spPr>
          <a:xfrm>
            <a:off x="548640" y="297180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15468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H1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1600200" y="310896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Os modelos profundos superam os clássicos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ΔF1-macro ≥ 5 p.p. e p &lt; 0,05 (McNemar com Bonferroni)</a:t>
            </a:r>
            <a:endParaRPr lang="en-US" sz="1600" dirty="0"/>
          </a:p>
        </p:txBody>
      </p:sp>
      <p:sp>
        <p:nvSpPr>
          <p:cNvPr id="21" name="hipotese-H2"/>
          <p:cNvSpPr/>
          <p:nvPr/>
        </p:nvSpPr>
        <p:spPr>
          <a:xfrm>
            <a:off x="6172200" y="297180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55080" y="315468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H2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7223760" y="310896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Cada publicação é processada em menos de 60 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Importação, anonimização, classificação e entrada na fila</a:t>
            </a:r>
            <a:endParaRPr lang="en-US" sz="1600" dirty="0"/>
          </a:p>
        </p:txBody>
      </p:sp>
      <p:sp>
        <p:nvSpPr>
          <p:cNvPr id="24" name="hipotese-H3"/>
          <p:cNvSpPr/>
          <p:nvPr/>
        </p:nvSpPr>
        <p:spPr>
          <a:xfrm>
            <a:off x="548640" y="43891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1520" y="45720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H3</a:t>
            </a:r>
            <a:endParaRPr lang="en-US" sz="2800" dirty="0"/>
          </a:p>
        </p:txBody>
      </p:sp>
      <p:sp>
        <p:nvSpPr>
          <p:cNvPr id="26" name="Text 23"/>
          <p:cNvSpPr txBox="1"/>
          <p:nvPr/>
        </p:nvSpPr>
        <p:spPr>
          <a:xfrm>
            <a:off x="1600200" y="452628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Antecedência de pelo menos 48 horas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Face a eventos de segurança documentados</a:t>
            </a:r>
            <a:endParaRPr lang="en-US" sz="1600" dirty="0"/>
          </a:p>
        </p:txBody>
      </p:sp>
      <p:sp>
        <p:nvSpPr>
          <p:cNvPr id="27" name="hipotese-H4"/>
          <p:cNvSpPr/>
          <p:nvPr/>
        </p:nvSpPr>
        <p:spPr>
          <a:xfrm>
            <a:off x="6172200" y="43891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55080" y="45720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H4</a:t>
            </a:r>
            <a:endParaRPr lang="en-US" sz="2800" dirty="0"/>
          </a:p>
        </p:txBody>
      </p:sp>
      <p:sp>
        <p:nvSpPr>
          <p:cNvPr id="29" name="Text 26"/>
          <p:cNvSpPr txBox="1"/>
          <p:nvPr/>
        </p:nvSpPr>
        <p:spPr>
          <a:xfrm>
            <a:off x="7223760" y="452628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O desempenho cai em conteúdo angolano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ΔF1-macro ≥ 5 p.p. face aos corpora públicos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literatura deixa uma lacuna para Angola</a:t>
            </a:r>
            <a:endParaRPr lang="en-US" sz="2800" dirty="0"/>
          </a:p>
        </p:txBody>
      </p:sp>
      <p:sp>
        <p:nvSpPr>
          <p:cNvPr id="16" name="lacuna-1"/>
          <p:cNvSpPr/>
          <p:nvPr/>
        </p:nvSpPr>
        <p:spPr>
          <a:xfrm>
            <a:off x="548640" y="173736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icone-circulo"/>
          <p:cNvSpPr/>
          <p:nvPr/>
        </p:nvSpPr>
        <p:spPr>
          <a:xfrm>
            <a:off x="777240" y="1965960"/>
            <a:ext cx="731520" cy="7315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8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4884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" y="2834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Sistemas existentes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3246120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Programas e plataformas internacionais sem português de Angola ou com dependência de fornecedores externos (Defense Advanced Research Projects Agency, 2016; Palantir Technologies, 2021).</a:t>
            </a:r>
            <a:endParaRPr lang="en-US" sz="1300" dirty="0"/>
          </a:p>
        </p:txBody>
      </p:sp>
      <p:sp>
        <p:nvSpPr>
          <p:cNvPr id="21" name="lacuna-2"/>
          <p:cNvSpPr/>
          <p:nvPr/>
        </p:nvSpPr>
        <p:spPr>
          <a:xfrm>
            <a:off x="3364992" y="173736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icone-circulo"/>
          <p:cNvSpPr/>
          <p:nvPr/>
        </p:nvSpPr>
        <p:spPr>
          <a:xfrm>
            <a:off x="3593592" y="1965960"/>
            <a:ext cx="731520" cy="7315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3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6472" y="2148840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593592" y="2834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Recursos brasileiros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593592" y="3246120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BERTimbau, ToLD-BR, HateBR e Fake.br são brasileiros; a desinformação disponível são notícias completas (Souza et al., 2020; Monteiro et al., 2018).</a:t>
            </a:r>
            <a:endParaRPr lang="en-US" sz="1300" dirty="0"/>
          </a:p>
        </p:txBody>
      </p:sp>
      <p:sp>
        <p:nvSpPr>
          <p:cNvPr id="26" name="lacuna-3"/>
          <p:cNvSpPr/>
          <p:nvPr/>
        </p:nvSpPr>
        <p:spPr>
          <a:xfrm>
            <a:off x="6181344" y="173736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7" name="icone-circulo"/>
          <p:cNvSpPr/>
          <p:nvPr/>
        </p:nvSpPr>
        <p:spPr>
          <a:xfrm>
            <a:off x="6409944" y="1965960"/>
            <a:ext cx="731520" cy="7315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28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2148840"/>
            <a:ext cx="365760" cy="3657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409944" y="2834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Generalização fraca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6409944" y="3246120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Os classificadores de conteúdo nocivo perdem desempenho fora do domínio de treino e aprendem atalhos (Fortuna et al., 2021; Geirhos et al., 2020).</a:t>
            </a:r>
            <a:endParaRPr lang="en-US" sz="1300" dirty="0"/>
          </a:p>
        </p:txBody>
      </p:sp>
      <p:sp>
        <p:nvSpPr>
          <p:cNvPr id="31" name="lacuna-4"/>
          <p:cNvSpPr/>
          <p:nvPr/>
        </p:nvSpPr>
        <p:spPr>
          <a:xfrm>
            <a:off x="8997696" y="173736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2" name="icone-circulo"/>
          <p:cNvSpPr/>
          <p:nvPr/>
        </p:nvSpPr>
        <p:spPr>
          <a:xfrm>
            <a:off x="9226296" y="1965960"/>
            <a:ext cx="731520" cy="7315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33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176" y="2148840"/>
            <a:ext cx="365760" cy="36576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226296" y="2834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O humano no circuito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9226296" y="3246120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Rever não basta: complacência e viés de automação exigem revisão cega e amostras de controlo (Parasuraman &amp; Manzey, 2010).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548640" y="54864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Lacuna: não existe uma medida do desempenho destes modelos em conteúdo angolano, nem um sistema de triagem desenhado em função das suas limitações.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em três fases: dados, modelos e sistema</a:t>
            </a:r>
            <a:endParaRPr lang="en-US" sz="2800" dirty="0"/>
          </a:p>
        </p:txBody>
      </p:sp>
      <p:pic>
        <p:nvPicPr>
          <p:cNvPr id="16" name="figura-desenho" descr="fig3_1_desen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645920"/>
            <a:ext cx="6903720" cy="4123944"/>
          </a:xfrm>
          <a:prstGeom prst="rect">
            <a:avLst/>
          </a:prstGeom>
        </p:spPr>
      </p:pic>
      <p:sp>
        <p:nvSpPr>
          <p:cNvPr id="17" name="legenda"/>
          <p:cNvSpPr txBox="1"/>
          <p:nvPr/>
        </p:nvSpPr>
        <p:spPr>
          <a:xfrm>
            <a:off x="1463040" y="5806440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1 – Desenho da investigação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732520" y="1783080"/>
            <a:ext cx="2926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Paradigma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Pragmático e aplicado; abordagem quantitativa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Testes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H1 e H4 com métricas e testes estatísticos; H2 e H3 com o sistema em funcionamento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Ética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Só conteúdo público, anonimização à entrada, Lei n.º 22/11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angolano: 2 637 publicações e três anotadores</a:t>
            </a:r>
            <a:endParaRPr lang="en-US" sz="2800" dirty="0"/>
          </a:p>
        </p:txBody>
      </p:sp>
      <p:graphicFrame>
        <p:nvGraphicFramePr>
          <p:cNvPr id="16" name="grafico-corpus" descr=""/>
          <p:cNvGraphicFramePr/>
          <p:nvPr/>
        </p:nvGraphicFramePr>
        <p:xfrm>
          <a:off x="548640" y="1600200"/>
          <a:ext cx="51206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legenda"/>
          <p:cNvSpPr txBox="1"/>
          <p:nvPr/>
        </p:nvSpPr>
        <p:spPr>
          <a:xfrm>
            <a:off x="548640" y="5715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2 – Distribuição das etiquetas finais do corpus angolano</a:t>
            </a:r>
            <a:endParaRPr lang="en-US" sz="1000" dirty="0"/>
          </a:p>
        </p:txBody>
      </p:sp>
      <p:sp>
        <p:nvSpPr>
          <p:cNvPr id="18" name="kappa"/>
          <p:cNvSpPr/>
          <p:nvPr/>
        </p:nvSpPr>
        <p:spPr>
          <a:xfrm>
            <a:off x="6080760" y="173736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63640" y="182880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2A43"/>
                </a:solidFill>
              </a:rPr>
              <a:t>0,718</a:t>
            </a:r>
            <a:endParaRPr lang="en-US" sz="40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κ de Fleiss: acordo substancial</a:t>
            </a:r>
            <a:endParaRPr lang="en-US" sz="4000" dirty="0"/>
          </a:p>
        </p:txBody>
      </p:sp>
      <p:sp>
        <p:nvSpPr>
          <p:cNvPr id="20" name="origem"/>
          <p:cNvSpPr/>
          <p:nvPr/>
        </p:nvSpPr>
        <p:spPr>
          <a:xfrm>
            <a:off x="8641080" y="1737360"/>
            <a:ext cx="2999232" cy="1920240"/>
          </a:xfrm>
          <a:prstGeom prst="roundRect">
            <a:avLst>
              <a:gd name="adj" fmla="val 381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823960" y="1828800"/>
            <a:ext cx="2697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2A43"/>
                </a:solidFill>
              </a:rPr>
              <a:t>86%</a:t>
            </a:r>
            <a:endParaRPr lang="en-US" sz="40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comentários do YouTube pela interface oficial</a:t>
            </a:r>
            <a:endParaRPr lang="en-US" sz="40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388620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Autores anonimizados antes de gravar (pseudónimo HMAC)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Desacordo: prevalece a categoria mais grave; 11,3% das ameaças vêm de um só voto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Lotes enriquecidos por tema e por léxico usados só no treino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híbrido de 26 859 registos e quatro modelos comparados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Tabela 1 – Composição do corpus híbrido por fonte</a:t>
            </a:r>
            <a:endParaRPr lang="en-US" sz="1100" dirty="0"/>
          </a:p>
        </p:txBody>
      </p:sp>
      <p:graphicFrame>
        <p:nvGraphicFramePr>
          <p:cNvPr id="9" name="tabela-corp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Fonte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Origem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Registos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ToLD-BR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Twitter, Brasil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12 709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Fake.br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Notícias, Brasil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7 199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HateBR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Instagram, Brasil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4 378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</a:rPr>
                        <a:t>Piloto angolano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</a:rPr>
                        <a:t>YouTube e outros, Angola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</a:rPr>
                        <a:t>2 573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733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733"/>
                          </a:solidFill>
                        </a:rPr>
                        <a:t>26 859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4864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valores após deduplicação. Divisão estratificada 70/15/15; teste com 3 987 itens.</a:t>
            </a:r>
            <a:endParaRPr lang="en-US" sz="1000" dirty="0"/>
          </a:p>
        </p:txBody>
      </p:sp>
      <p:sp>
        <p:nvSpPr>
          <p:cNvPr id="19" name="modelo-1"/>
          <p:cNvSpPr/>
          <p:nvPr/>
        </p:nvSpPr>
        <p:spPr>
          <a:xfrm>
            <a:off x="6492240" y="1691640"/>
            <a:ext cx="5148072" cy="621792"/>
          </a:xfrm>
          <a:prstGeom prst="roundRect">
            <a:avLst>
              <a:gd name="adj" fmla="val 11765"/>
            </a:avLst>
          </a:prstGeom>
          <a:solidFill>
            <a:srgbClr val="8FA3B8"/>
          </a:solidFill>
          <a:ln w="12700">
            <a:solidFill>
              <a:srgbClr val="8FA3B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75120" y="169164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SVM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  TF-IDF</a:t>
            </a:r>
            <a:endParaRPr lang="en-US" sz="1600" dirty="0"/>
          </a:p>
        </p:txBody>
      </p:sp>
      <p:sp>
        <p:nvSpPr>
          <p:cNvPr id="21" name="modelo-2"/>
          <p:cNvSpPr/>
          <p:nvPr/>
        </p:nvSpPr>
        <p:spPr>
          <a:xfrm>
            <a:off x="6492240" y="2441448"/>
            <a:ext cx="5148072" cy="621792"/>
          </a:xfrm>
          <a:prstGeom prst="roundRect">
            <a:avLst>
              <a:gd name="adj" fmla="val 11765"/>
            </a:avLst>
          </a:prstGeom>
          <a:solidFill>
            <a:srgbClr val="8FA3B8"/>
          </a:solidFill>
          <a:ln w="12700">
            <a:solidFill>
              <a:srgbClr val="8FA3B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441448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Floresta Aleatória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  TF-IDF</a:t>
            </a:r>
            <a:endParaRPr lang="en-US" sz="1600" dirty="0"/>
          </a:p>
        </p:txBody>
      </p:sp>
      <p:sp>
        <p:nvSpPr>
          <p:cNvPr id="23" name="modelo-3"/>
          <p:cNvSpPr/>
          <p:nvPr/>
        </p:nvSpPr>
        <p:spPr>
          <a:xfrm>
            <a:off x="6492240" y="3191256"/>
            <a:ext cx="5148072" cy="621792"/>
          </a:xfrm>
          <a:prstGeom prst="roundRect">
            <a:avLst>
              <a:gd name="adj" fmla="val 11765"/>
            </a:avLst>
          </a:prstGeom>
          <a:solidFill>
            <a:srgbClr val="2E6F9E"/>
          </a:solidFill>
          <a:ln w="12700">
            <a:solidFill>
              <a:srgbClr val="2E6F9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675120" y="3191256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Bi-LSTM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  Sequência</a:t>
            </a:r>
            <a:endParaRPr lang="en-US" sz="1600" dirty="0"/>
          </a:p>
        </p:txBody>
      </p:sp>
      <p:sp>
        <p:nvSpPr>
          <p:cNvPr id="25" name="modelo-4"/>
          <p:cNvSpPr/>
          <p:nvPr/>
        </p:nvSpPr>
        <p:spPr>
          <a:xfrm>
            <a:off x="6492240" y="3941064"/>
            <a:ext cx="5148072" cy="621792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75120" y="3941064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BERTimbau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  Transformer pré-treinado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6492240" y="4754880"/>
            <a:ext cx="5148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Protocolo fixado antes do teste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F1-macro com IC 95% por bootstrap; McNemar com correcção de Bonferroni; variantes escolhidas na validação.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BERTimbau supera os restantes modelos em 15 a 17 pontos</a:t>
            </a:r>
            <a:endParaRPr lang="en-US" sz="2800" dirty="0"/>
          </a:p>
        </p:txBody>
      </p:sp>
      <p:graphicFrame>
        <p:nvGraphicFramePr>
          <p:cNvPr id="16" name="grafico-modelos" descr=""/>
          <p:cNvGraphicFramePr/>
          <p:nvPr/>
        </p:nvGraphicFramePr>
        <p:xfrm>
          <a:off x="548640" y="1600200"/>
          <a:ext cx="67665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legenda"/>
          <p:cNvSpPr txBox="1"/>
          <p:nvPr/>
        </p:nvSpPr>
        <p:spPr>
          <a:xfrm>
            <a:off x="548640" y="57607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3 – F1-macro dos quatro modelos no conjunto de teste</a:t>
            </a:r>
            <a:endParaRPr lang="en-US" sz="1000" dirty="0"/>
          </a:p>
        </p:txBody>
      </p:sp>
      <p:sp>
        <p:nvSpPr>
          <p:cNvPr id="18" name="ic"/>
          <p:cNvSpPr/>
          <p:nvPr/>
        </p:nvSpPr>
        <p:spPr>
          <a:xfrm>
            <a:off x="7680960" y="1737360"/>
            <a:ext cx="3959352" cy="1325880"/>
          </a:xfrm>
          <a:prstGeom prst="roundRect">
            <a:avLst>
              <a:gd name="adj" fmla="val 5517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863840" y="178308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A43"/>
                </a:solidFill>
              </a:rPr>
              <a:t>0,807</a:t>
            </a:r>
            <a:endParaRPr lang="en-US" sz="3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BERTimbau, IC 95% de 0,774 a 0,838</a:t>
            </a:r>
            <a:endParaRPr lang="en-US" sz="3400" dirty="0"/>
          </a:p>
        </p:txBody>
      </p:sp>
      <p:sp>
        <p:nvSpPr>
          <p:cNvPr id="20" name="mcnemar"/>
          <p:cNvSpPr/>
          <p:nvPr/>
        </p:nvSpPr>
        <p:spPr>
          <a:xfrm>
            <a:off x="7680960" y="3246120"/>
            <a:ext cx="3959352" cy="1143000"/>
          </a:xfrm>
          <a:prstGeom prst="roundRect">
            <a:avLst>
              <a:gd name="adj" fmla="val 64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863840" y="329184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A43"/>
                </a:solidFill>
              </a:rPr>
              <a:t>p &lt; 10⁻⁴⁷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McNemar com Bonferroni, nos três pares</a:t>
            </a:r>
            <a:endParaRPr lang="en-US" sz="2600" dirty="0"/>
          </a:p>
        </p:txBody>
      </p:sp>
      <p:sp>
        <p:nvSpPr>
          <p:cNvPr id="22" name="h1"/>
          <p:cNvSpPr/>
          <p:nvPr/>
        </p:nvSpPr>
        <p:spPr>
          <a:xfrm>
            <a:off x="7680960" y="4572000"/>
            <a:ext cx="3959352" cy="1097280"/>
          </a:xfrm>
          <a:prstGeom prst="roundRect">
            <a:avLst>
              <a:gd name="adj" fmla="val 6667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863840" y="461772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</a:rPr>
              <a:t>H1 parcialmente confirmada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Bi-LSTM não se distingue da Floresta Aleatória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conteúdo angolano o F1-macro cai 38,6 pontos (H4)</a:t>
            </a:r>
            <a:endParaRPr lang="en-US" sz="2800" dirty="0"/>
          </a:p>
        </p:txBody>
      </p:sp>
      <p:graphicFrame>
        <p:nvGraphicFramePr>
          <p:cNvPr id="16" name="grafico-h4" descr=""/>
          <p:cNvGraphicFramePr/>
          <p:nvPr/>
        </p:nvGraphicFramePr>
        <p:xfrm>
          <a:off x="548640" y="160020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legenda"/>
          <p:cNvSpPr txBox="1"/>
          <p:nvPr/>
        </p:nvSpPr>
        <p:spPr>
          <a:xfrm>
            <a:off x="548640" y="57607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4 – F1 do BERTimbau por categoria: corpus público e piloto angolano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o corpus público não tem Mobilização Hostil.</a:t>
            </a:r>
            <a:endParaRPr lang="en-US" sz="1000" dirty="0"/>
          </a:p>
        </p:txBody>
      </p:sp>
      <p:sp>
        <p:nvSpPr>
          <p:cNvPr id="18" name="queda"/>
          <p:cNvSpPr/>
          <p:nvPr/>
        </p:nvSpPr>
        <p:spPr>
          <a:xfrm>
            <a:off x="7818120" y="1737360"/>
            <a:ext cx="3822192" cy="1554480"/>
          </a:xfrm>
          <a:prstGeom prst="roundRect">
            <a:avLst>
              <a:gd name="adj" fmla="val 470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01000" y="178308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</a:rPr>
              <a:t>0,919 → 0,533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F1-macro: público → angolano (IC sem sobreposição)</a:t>
            </a:r>
            <a:endParaRPr lang="en-US" sz="3000" dirty="0"/>
          </a:p>
        </p:txBody>
      </p:sp>
      <p:sp>
        <p:nvSpPr>
          <p:cNvPr id="20" name="Text 16"/>
          <p:cNvSpPr txBox="1"/>
          <p:nvPr/>
        </p:nvSpPr>
        <p:spPr>
          <a:xfrm>
            <a:off x="7818120" y="3520440"/>
            <a:ext cx="382219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Desinformação: 0,99 → 0,24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modelo aprendeu o estilo das notícias do Fake.br, não o fenómeno (aprendizagem de atalhos).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</a:rPr>
              <a:t>H4 confirmada, com reservas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Piloto pequeno (n = 355); não separa língua, plataforma e registo.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fila encontra 80% das ameaças em 25% da leitura</a:t>
            </a:r>
            <a:endParaRPr lang="en-US" sz="2800" dirty="0"/>
          </a:p>
        </p:txBody>
      </p:sp>
      <p:graphicFrame>
        <p:nvGraphicFramePr>
          <p:cNvPr id="16" name="grafico-esforco" descr=""/>
          <p:cNvGraphicFramePr/>
          <p:nvPr/>
        </p:nvGraphicFramePr>
        <p:xfrm>
          <a:off x="548640" y="160020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legenda"/>
          <p:cNvSpPr txBox="1"/>
          <p:nvPr/>
        </p:nvSpPr>
        <p:spPr>
          <a:xfrm>
            <a:off x="548640" y="5760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5 – Curva de esforço de revisão no conjunto de teste</a:t>
            </a:r>
            <a:endParaRPr lang="en-US" sz="1000" dirty="0"/>
          </a:p>
        </p:txBody>
      </p:sp>
      <p:sp>
        <p:nvSpPr>
          <p:cNvPr id="18" name="ponto-1"/>
          <p:cNvSpPr/>
          <p:nvPr/>
        </p:nvSpPr>
        <p:spPr>
          <a:xfrm>
            <a:off x="7818120" y="1691640"/>
            <a:ext cx="3822192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955280" y="1691640"/>
            <a:ext cx="1325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A43"/>
                </a:solidFill>
              </a:rPr>
              <a:t>25%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9326880" y="169164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 fila revista encontra 80% das ameaças (BERTimbau)</a:t>
            </a:r>
            <a:endParaRPr lang="en-US" sz="1200" dirty="0"/>
          </a:p>
        </p:txBody>
      </p:sp>
      <p:sp>
        <p:nvSpPr>
          <p:cNvPr id="21" name="ponto-2"/>
          <p:cNvSpPr/>
          <p:nvPr/>
        </p:nvSpPr>
        <p:spPr>
          <a:xfrm>
            <a:off x="7818120" y="3063240"/>
            <a:ext cx="3822192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955280" y="3063240"/>
            <a:ext cx="1325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</a:rPr>
              <a:t>927.ª</a:t>
            </a:r>
            <a:endParaRPr lang="en-US" sz="2600" dirty="0"/>
          </a:p>
        </p:txBody>
      </p:sp>
      <p:sp>
        <p:nvSpPr>
          <p:cNvPr id="23" name="Text 19"/>
          <p:cNvSpPr txBox="1"/>
          <p:nvPr/>
        </p:nvSpPr>
        <p:spPr>
          <a:xfrm>
            <a:off x="9326880" y="306324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posição mediana da Mobilização Hostil: a ordem segue a confiança, não a gravidade</a:t>
            </a:r>
            <a:endParaRPr lang="en-US" sz="1200" dirty="0"/>
          </a:p>
        </p:txBody>
      </p:sp>
      <p:sp>
        <p:nvSpPr>
          <p:cNvPr id="24" name="ponto-3"/>
          <p:cNvSpPr/>
          <p:nvPr/>
        </p:nvSpPr>
        <p:spPr>
          <a:xfrm>
            <a:off x="7818120" y="4434840"/>
            <a:ext cx="3822192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955280" y="4434840"/>
            <a:ext cx="1325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A7400"/>
                </a:solidFill>
              </a:rPr>
              <a:t>11,8%</a:t>
            </a:r>
            <a:endParaRPr lang="en-US" sz="2600" dirty="0"/>
          </a:p>
        </p:txBody>
      </p:sp>
      <p:sp>
        <p:nvSpPr>
          <p:cNvPr id="26" name="Text 22"/>
          <p:cNvSpPr txBox="1"/>
          <p:nvPr/>
        </p:nvSpPr>
        <p:spPr>
          <a:xfrm>
            <a:off x="9326880" y="443484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das ameaças ficam entre os Normais: daí a amostra de controlo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publicação é processada em 0,63 s, sem GPU (H2)</a:t>
            </a:r>
            <a:endParaRPr lang="en-US" sz="2800" dirty="0"/>
          </a:p>
        </p:txBody>
      </p:sp>
      <p:sp>
        <p:nvSpPr>
          <p:cNvPr id="16" name="h2-1"/>
          <p:cNvSpPr/>
          <p:nvPr/>
        </p:nvSpPr>
        <p:spPr>
          <a:xfrm>
            <a:off x="548640" y="178308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icone-circulo"/>
          <p:cNvSpPr/>
          <p:nvPr/>
        </p:nvSpPr>
        <p:spPr>
          <a:xfrm>
            <a:off x="777240" y="2011680"/>
            <a:ext cx="685800" cy="68580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8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2183130"/>
            <a:ext cx="342900" cy="342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2A43"/>
                </a:solidFill>
              </a:rPr>
              <a:t>0,63 s</a:t>
            </a:r>
            <a:endParaRPr lang="en-US" sz="3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35204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 publicação: importação, anonimização, classificação e gravação</a:t>
            </a:r>
            <a:endParaRPr lang="en-US" sz="1300" dirty="0"/>
          </a:p>
        </p:txBody>
      </p:sp>
      <p:sp>
        <p:nvSpPr>
          <p:cNvPr id="21" name="h2-2"/>
          <p:cNvSpPr/>
          <p:nvPr/>
        </p:nvSpPr>
        <p:spPr>
          <a:xfrm>
            <a:off x="4297680" y="178308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icone-circulo"/>
          <p:cNvSpPr/>
          <p:nvPr/>
        </p:nvSpPr>
        <p:spPr>
          <a:xfrm>
            <a:off x="4526280" y="2011680"/>
            <a:ext cx="685800" cy="68580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3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730" y="2183130"/>
            <a:ext cx="342900" cy="3429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526280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2A43"/>
                </a:solidFill>
              </a:rPr>
              <a:t>36 s</a:t>
            </a:r>
            <a:endParaRPr lang="en-US" sz="3600" dirty="0"/>
          </a:p>
        </p:txBody>
      </p:sp>
      <p:sp>
        <p:nvSpPr>
          <p:cNvPr id="25" name="Text 20"/>
          <p:cNvSpPr txBox="1"/>
          <p:nvPr/>
        </p:nvSpPr>
        <p:spPr>
          <a:xfrm>
            <a:off x="4526280" y="35204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até as primeiras publicações chegarem à fila, com gravação por sublotes</a:t>
            </a:r>
            <a:endParaRPr lang="en-US" sz="1300" dirty="0"/>
          </a:p>
        </p:txBody>
      </p:sp>
      <p:sp>
        <p:nvSpPr>
          <p:cNvPr id="26" name="h2-3"/>
          <p:cNvSpPr/>
          <p:nvPr/>
        </p:nvSpPr>
        <p:spPr>
          <a:xfrm>
            <a:off x="8046720" y="178308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7" name="icone-circulo"/>
          <p:cNvSpPr/>
          <p:nvPr/>
        </p:nvSpPr>
        <p:spPr>
          <a:xfrm>
            <a:off x="8275320" y="2011680"/>
            <a:ext cx="685800" cy="68580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8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6770" y="2183130"/>
            <a:ext cx="342900" cy="3429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275320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2A43"/>
                </a:solidFill>
              </a:rPr>
              <a:t>≤ 64</a:t>
            </a:r>
            <a:endParaRPr lang="en-US" sz="3600" dirty="0"/>
          </a:p>
        </p:txBody>
      </p:sp>
      <p:sp>
        <p:nvSpPr>
          <p:cNvPr id="30" name="Text 24"/>
          <p:cNvSpPr txBox="1"/>
          <p:nvPr/>
        </p:nvSpPr>
        <p:spPr>
          <a:xfrm>
            <a:off x="8275320" y="35204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publicações por recolha para todas chegarem em menos de 60 s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4572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</a:rPr>
              <a:t>Ensaio: 198 comentários reais, 3 repetições, processador Intel N100 com 8 GB de RAM.</a:t>
            </a:r>
            <a:endParaRPr lang="en-US" sz="1100" dirty="0"/>
          </a:p>
        </p:txBody>
      </p:sp>
      <p:sp>
        <p:nvSpPr>
          <p:cNvPr id="32" name="h2-decisao"/>
          <p:cNvSpPr/>
          <p:nvPr/>
        </p:nvSpPr>
        <p:spPr>
          <a:xfrm>
            <a:off x="548640" y="502920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E6F2EC"/>
          </a:solidFill>
          <a:ln w="12700">
            <a:solidFill>
              <a:srgbClr val="E6F2EC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50292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8A5F"/>
                </a:solidFill>
              </a:rPr>
              <a:t>H2: confirmada com condições</a:t>
            </a:r>
            <a:endParaRPr lang="en-US" sz="1600" dirty="0"/>
          </a:p>
        </p:txBody>
      </p:sp>
      <p:sp>
        <p:nvSpPr>
          <p:cNvPr id="34" name="h3-decisao"/>
          <p:cNvSpPr/>
          <p:nvPr/>
        </p:nvSpPr>
        <p:spPr>
          <a:xfrm>
            <a:off x="6199632" y="502920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428232" y="50292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F"/>
                </a:solidFill>
              </a:rPr>
              <a:t>H3: não testada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(sem corpus datado em torno de eventos)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leve, num único servidor, com o analista no centro</a:t>
            </a:r>
            <a:endParaRPr lang="en-US" sz="2800" dirty="0"/>
          </a:p>
        </p:txBody>
      </p:sp>
      <p:pic>
        <p:nvPicPr>
          <p:cNvPr id="16" name="figura-arquitectura" descr="fig3_3_arquite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184648" cy="4078224"/>
          </a:xfrm>
          <a:prstGeom prst="rect">
            <a:avLst/>
          </a:prstGeom>
        </p:spPr>
      </p:pic>
      <p:sp>
        <p:nvSpPr>
          <p:cNvPr id="17" name="legenda"/>
          <p:cNvSpPr txBox="1"/>
          <p:nvPr/>
        </p:nvSpPr>
        <p:spPr>
          <a:xfrm>
            <a:off x="548640" y="5760720"/>
            <a:ext cx="5184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6 – Arquitectura em camadas do sistema</a:t>
            </a:r>
            <a:endParaRPr lang="en-US" sz="1000" dirty="0"/>
          </a:p>
        </p:txBody>
      </p:sp>
      <p:sp>
        <p:nvSpPr>
          <p:cNvPr id="18" name="icone-circulo"/>
          <p:cNvSpPr/>
          <p:nvPr/>
        </p:nvSpPr>
        <p:spPr>
          <a:xfrm>
            <a:off x="6172200" y="1682496"/>
            <a:ext cx="530352" cy="5303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9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4788" y="1815084"/>
            <a:ext cx="265176" cy="26517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858000" y="16459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Anonimização à entrada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Pseudónimo HMAC; telefones, endereços e menções mascarados</a:t>
            </a:r>
            <a:endParaRPr lang="en-US" sz="1400" dirty="0"/>
          </a:p>
        </p:txBody>
      </p:sp>
      <p:sp>
        <p:nvSpPr>
          <p:cNvPr id="21" name="icone-circulo"/>
          <p:cNvSpPr/>
          <p:nvPr/>
        </p:nvSpPr>
        <p:spPr>
          <a:xfrm>
            <a:off x="6172200" y="2368296"/>
            <a:ext cx="530352" cy="5303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2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788" y="2500884"/>
            <a:ext cx="265176" cy="26517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858000" y="23317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Sem perfis de pessoas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Publicações e agregados por categoria, período e província</a:t>
            </a:r>
            <a:endParaRPr lang="en-US" sz="1400" dirty="0"/>
          </a:p>
        </p:txBody>
      </p:sp>
      <p:sp>
        <p:nvSpPr>
          <p:cNvPr id="24" name="icone-circulo"/>
          <p:cNvSpPr/>
          <p:nvPr/>
        </p:nvSpPr>
        <p:spPr>
          <a:xfrm>
            <a:off x="6172200" y="3054096"/>
            <a:ext cx="530352" cy="53035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25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4788" y="3186684"/>
            <a:ext cx="265176" cy="26517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858000" y="30175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Decisão sempre humana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Fila por analista, revisão cega e amostra de controlo</a:t>
            </a:r>
            <a:endParaRPr lang="en-US" sz="1400" dirty="0"/>
          </a:p>
        </p:txBody>
      </p:sp>
      <p:sp>
        <p:nvSpPr>
          <p:cNvPr id="27" name="icone-circulo"/>
          <p:cNvSpPr/>
          <p:nvPr/>
        </p:nvSpPr>
        <p:spPr>
          <a:xfrm>
            <a:off x="6172200" y="3739896"/>
            <a:ext cx="530352" cy="5303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8" name="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4788" y="3872484"/>
            <a:ext cx="265176" cy="26517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858000" y="37033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Contas e auditoria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Palavras-passe derivadas, recuperação sem e-mail, tudo registado</a:t>
            </a:r>
            <a:endParaRPr lang="en-US" sz="1400" dirty="0"/>
          </a:p>
        </p:txBody>
      </p:sp>
      <p:sp>
        <p:nvSpPr>
          <p:cNvPr id="30" name="icone-circulo"/>
          <p:cNvSpPr/>
          <p:nvPr/>
        </p:nvSpPr>
        <p:spPr>
          <a:xfrm>
            <a:off x="6172200" y="4425696"/>
            <a:ext cx="530352" cy="5303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31" name="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4788" y="4558284"/>
            <a:ext cx="265176" cy="265176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858000" y="43891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Funciona sem Internet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Sem bibliotecas nem serviços externos; recolha automática</a:t>
            </a:r>
            <a:endParaRPr lang="en-US" sz="1400" dirty="0"/>
          </a:p>
        </p:txBody>
      </p:sp>
      <p:sp>
        <p:nvSpPr>
          <p:cNvPr id="33" name="icone-circulo"/>
          <p:cNvSpPr/>
          <p:nvPr/>
        </p:nvSpPr>
        <p:spPr>
          <a:xfrm>
            <a:off x="6172200" y="5111496"/>
            <a:ext cx="530352" cy="5303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34" name="i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4788" y="5244084"/>
            <a:ext cx="265176" cy="26517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58000" y="50749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121 testes automáticos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Todos aprovados na versão final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 do sistema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548640" y="1719072"/>
            <a:ext cx="548640" cy="5486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280160" y="1645920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Panorama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 que foi recolhido e o que o modelo sinalizou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0" y="164592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0:20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2505456"/>
            <a:ext cx="548640" cy="5486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2432304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Fila de revisão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Decidir com as teclas 1 a 4, desfazer, revisão cega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303520" y="2432304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0:50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3218688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Alertas e mapa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Sino em tempo real, mapa por província, evolução semanal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5303520" y="3218688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0:50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548640" y="4078224"/>
            <a:ext cx="548640" cy="5486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4078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005072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Sobre o modelo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 desempenho em Angola visível para o analista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5303520" y="4005072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0:25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548640" y="4864608"/>
            <a:ext cx="548640" cy="5486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4791456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Fontes e contas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Recolha automática, quota do YouTube, recuperação do acesso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5303520" y="4791456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0:30</a:t>
            </a:r>
            <a:endParaRPr lang="en-US" sz="1500" dirty="0"/>
          </a:p>
        </p:txBody>
      </p:sp>
      <p:pic>
        <p:nvPicPr>
          <p:cNvPr id="36" name="captura-fila" descr="fig3_7_pai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691640"/>
            <a:ext cx="5102352" cy="2715768"/>
          </a:xfrm>
          <a:prstGeom prst="rect">
            <a:avLst/>
          </a:prstGeom>
        </p:spPr>
      </p:pic>
      <p:sp>
        <p:nvSpPr>
          <p:cNvPr id="37" name="legenda"/>
          <p:cNvSpPr txBox="1"/>
          <p:nvPr/>
        </p:nvSpPr>
        <p:spPr>
          <a:xfrm>
            <a:off x="6537960" y="4462272"/>
            <a:ext cx="5102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7 – Fila de revisão no modo de demonstração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dados fictícios e classificador simulado.</a:t>
            </a:r>
            <a:endParaRPr lang="en-US" sz="1000" dirty="0"/>
          </a:p>
        </p:txBody>
      </p:sp>
      <p:sp>
        <p:nvSpPr>
          <p:cNvPr id="38" name="comando"/>
          <p:cNvSpPr/>
          <p:nvPr/>
        </p:nvSpPr>
        <p:spPr>
          <a:xfrm>
            <a:off x="6537960" y="5166360"/>
            <a:ext cx="5102352" cy="685800"/>
          </a:xfrm>
          <a:prstGeom prst="roundRect">
            <a:avLst>
              <a:gd name="adj" fmla="val 10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720840" y="51663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9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uan.py servir --demonstracao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No navegador: http://127.0.0.1:8000</a:t>
            </a:r>
            <a:endParaRPr lang="en-US" sz="1300" dirty="0"/>
          </a:p>
        </p:txBody>
      </p:sp>
      <p:sp>
        <p:nvSpPr>
          <p:cNvPr id="40" name="Text 36"/>
          <p:cNvSpPr txBox="1"/>
          <p:nvPr/>
        </p:nvSpPr>
        <p:spPr>
          <a:xfrm>
            <a:off x="548640" y="5623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</a:rPr>
              <a:t>Duração total: 3:15, incluindo a passagem para o navegador e o regresso.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Verificação das hipóteses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1600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Tabela 2 – Verificação formal das hipóteses de investigação</a:t>
            </a:r>
            <a:endParaRPr lang="en-US" sz="1100" dirty="0"/>
          </a:p>
        </p:txBody>
      </p:sp>
      <p:graphicFrame>
        <p:nvGraphicFramePr>
          <p:cNvPr id="16" name="tabela-hipotes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846320"/>
                <a:gridCol w="2587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Hipótese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Evidência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Decisão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H1. Modelos profundos superam os clássicos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BERTimbau +14,6 a +17,4 p.p., p &lt; 10⁻⁴⁷; Bi-LSTM igual à Floresta Aleatória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A7400"/>
                          </a:solidFill>
                        </a:rPr>
                        <a:t>Parcialmente confirmada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H2. Menos de 60 s por publicação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0,63 s em CPU; primeiras na fila em 36 s; todas em &lt; 60 s até 64 por recolha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78A5F"/>
                          </a:solidFill>
                        </a:rPr>
                        <a:t>Confirmada com condições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H3. Antecedência ≥ 48 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Sem corpus datado em torno de eventos nem divisão cronológica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B7F"/>
                          </a:solidFill>
                        </a:rPr>
                        <a:t>Não testada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H4. Queda ≥ 5 p.p. em conteúdo angolano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F1-macro 0,919 → 0,533 (−38,6 p.p.); κ 0,88 → 0,44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</a:rPr>
                        <a:t>Confirmada, com reservas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C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48640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Fonte: Capítulo 4 da dissertação.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ordena o trabalho; o analista decide</a:t>
            </a:r>
            <a:endParaRPr lang="en-US" sz="2800" dirty="0"/>
          </a:p>
        </p:txBody>
      </p:sp>
      <p:sp>
        <p:nvSpPr>
          <p:cNvPr id="16" name="conclusoes"/>
          <p:cNvSpPr/>
          <p:nvPr/>
        </p:nvSpPr>
        <p:spPr>
          <a:xfrm>
            <a:off x="548640" y="1691640"/>
            <a:ext cx="5440680" cy="4069080"/>
          </a:xfrm>
          <a:prstGeom prst="roundRect">
            <a:avLst>
              <a:gd name="adj" fmla="val 1798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Conclusões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2331720"/>
            <a:ext cx="4937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Só o BERTimbau serve como classificador principal, com vantagem estatisticamente sólida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O desempenho não se transfere intacto para Angola: a estimativa realista é 0,53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Um sistema de triagem com revisão humana, auditável e de baixo custo é viável com software livre</a:t>
            </a:r>
            <a:endParaRPr lang="en-US" sz="1700" dirty="0"/>
          </a:p>
        </p:txBody>
      </p:sp>
      <p:sp>
        <p:nvSpPr>
          <p:cNvPr id="19" name="recomendacoes"/>
          <p:cNvSpPr/>
          <p:nvPr/>
        </p:nvSpPr>
        <p:spPr>
          <a:xfrm>
            <a:off x="6199632" y="1691640"/>
            <a:ext cx="5440680" cy="4069080"/>
          </a:xfrm>
          <a:prstGeom prst="roundRect">
            <a:avLst>
              <a:gd name="adj" fmla="val 179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73952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931"/>
                </a:solidFill>
              </a:rPr>
              <a:t>Recomendações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473952" y="2331720"/>
            <a:ext cx="4937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</a:rPr>
              <a:t>Avaliar a fila com analistas reais (revisão cega e amostra de controlo)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</a:rPr>
              <a:t>Obter parecer jurídico antes de qualquer uso institucional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</a:rPr>
              <a:t>Ampliar o corpus angolano e medir sempre em Angola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</a:rPr>
              <a:t>Adaptar o modelo ao domínio e ordenar a fila por gravidade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Obrigado pela atenção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B931"/>
                </a:solidFill>
              </a:rPr>
              <a:t>Estou disponível para as perguntas e comentários do Júri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4D1"/>
                </a:solidFill>
              </a:rPr>
              <a:t>Manuel Gonga Muinga · Mestrado em Engenharia e Ciência de Dados · Universidade Agostinho Neto, Faculdade de Engenharia · Luanda, 2026</a:t>
            </a:r>
            <a:endParaRPr lang="en-US" sz="1200" dirty="0"/>
          </a:p>
        </p:txBody>
      </p:sp>
    </p:spTree>
  </p:cSld>
  <p:clrMapOvr>
    <a:masterClrMapping/>
  </p:clrMapOvr>
  <p:transition spd="med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A – Fila de revisão</a:t>
            </a:r>
            <a:endParaRPr lang="en-US" sz="2800" dirty="0"/>
          </a:p>
        </p:txBody>
      </p:sp>
      <p:pic>
        <p:nvPicPr>
          <p:cNvPr id="15" name="captura" descr="fig3_7_pai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7978" y="1645920"/>
            <a:ext cx="7375740" cy="3931920"/>
          </a:xfrm>
          <a:prstGeom prst="rect">
            <a:avLst/>
          </a:prstGeom>
        </p:spPr>
      </p:pic>
      <p:sp>
        <p:nvSpPr>
          <p:cNvPr id="16" name="legenda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8 – Fila de revisão: sugestão, probabilidades e decisão por teclado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dados fictícios ou contas de exemplo; não descrevem pessoas reais.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B – Mapa por província</a:t>
            </a:r>
            <a:endParaRPr lang="en-US" sz="2800" dirty="0"/>
          </a:p>
        </p:txBody>
      </p:sp>
      <p:pic>
        <p:nvPicPr>
          <p:cNvPr id="15" name="captura" descr="fig3_8_m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041" y="1645920"/>
            <a:ext cx="5059614" cy="3931920"/>
          </a:xfrm>
          <a:prstGeom prst="rect">
            <a:avLst/>
          </a:prstGeom>
        </p:spPr>
      </p:pic>
      <p:sp>
        <p:nvSpPr>
          <p:cNvPr id="16" name="legenda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9 – Mapa por província com cartão de Benguela (últimos 90 dias)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dados fictícios ou contas de exemplo; não descrevem pessoas reais.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C – Recuperação do acesso</a:t>
            </a:r>
            <a:endParaRPr lang="en-US" sz="2800" dirty="0"/>
          </a:p>
        </p:txBody>
      </p:sp>
      <p:pic>
        <p:nvPicPr>
          <p:cNvPr id="15" name="captura" descr="fig3_12_recupe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6533" y="1645920"/>
            <a:ext cx="5298630" cy="3931920"/>
          </a:xfrm>
          <a:prstGeom prst="rect">
            <a:avLst/>
          </a:prstGeom>
        </p:spPr>
      </p:pic>
      <p:sp>
        <p:nvSpPr>
          <p:cNvPr id="16" name="legenda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10 – Recuperação do acesso sem correio electrónico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dados fictícios ou contas de exemplo; não descrevem pessoas reais.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fesa UAN">
  <a:themeElements>
    <a:clrScheme name="Defesa UAN">
      <a:dk1>
        <a:srgbClr val="1B2733"/>
      </a:dk1>
      <a:lt1>
        <a:srgbClr val="FFFFFF"/>
      </a:lt1>
      <a:dk2>
        <a:srgbClr val="102A43"/>
      </a:dk2>
      <a:lt2>
        <a:srgbClr val="EEF2F6"/>
      </a:lt2>
      <a:accent1>
        <a:srgbClr val="102A43"/>
      </a:accent1>
      <a:accent2>
        <a:srgbClr val="C8102E"/>
      </a:accent2>
      <a:accent3>
        <a:srgbClr val="E8B931"/>
      </a:accent3>
      <a:accent4>
        <a:srgbClr val="2E6F9E"/>
      </a:accent4>
      <a:accent5>
        <a:srgbClr val="5B6B7F"/>
      </a:accent5>
      <a:accent6>
        <a:srgbClr val="178A5F"/>
      </a:accent6>
      <a:hlink>
        <a:srgbClr val="2E6F9E"/>
      </a:hlink>
      <a:folHlink>
        <a:srgbClr val="5B6B7F"/>
      </a:folHlink>
    </a:clrScheme>
    <a:fontScheme name="Defesa UA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Monitoramento inteligente de ameaças em redes sociais em Angola</dc:title>
  <dc:subject>Defesa de dissertação de mestrado, UAN, 2026</dc:subject>
  <dc:creator>Manuel Gonga Muinga</dc:creator>
  <cp:lastModifiedBy>Manuel Gonga Muinga</cp:lastModifiedBy>
  <cp:revision>1</cp:revision>
  <dcterms:created xsi:type="dcterms:W3CDTF">2026-10-21T21:25:58Z</dcterms:created>
  <dcterms:modified xsi:type="dcterms:W3CDTF">2026-10-21T21:25:58Z</dcterms:modified>
</cp:coreProperties>
</file>