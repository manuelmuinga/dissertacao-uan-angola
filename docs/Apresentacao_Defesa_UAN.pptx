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65893e8-76a8-51ed-e8d4-6703d2c3c5a4}">
          <p14:sldIdLst>
            <p14:sldId id="256"/>
            <p14:sldId id="257"/>
          </p14:sldIdLst>
        </p14:section>
        <p14:section name="Introdução" id="{9b9e195b-c772-f9b3-bf41-4973622e2c35}">
          <p14:sldIdLst>
            <p14:sldId id="258"/>
            <p14:sldId id="259"/>
            <p14:sldId id="260"/>
          </p14:sldIdLst>
        </p14:section>
        <p14:section name="Revisão da literatura" id="{e11dc113-e914-2e49-3b9f-c2453ae44ef2}">
          <p14:sldIdLst>
            <p14:sldId id="261"/>
          </p14:sldIdLst>
        </p14:section>
        <p14:section name="Metodologia" id="{8edb41fd-ea69-66b2-4130-77b30df1b671}">
          <p14:sldIdLst>
            <p14:sldId id="262"/>
            <p14:sldId id="263"/>
            <p14:sldId id="264"/>
          </p14:sldIdLst>
        </p14:section>
        <p14:section name="Resultados" id="{105a8637-253d-7100-3c2e-f99200850288}">
          <p14:sldIdLst>
            <p14:sldId id="265"/>
            <p14:sldId id="266"/>
            <p14:sldId id="267"/>
            <p14:sldId id="268"/>
            <p14:sldId id="269"/>
          </p14:sldIdLst>
        </p14:section>
        <p14:section name="Sistema" id="{83db58ee-b8d6-341e-2bc0-e5ab891da144}">
          <p14:sldIdLst>
            <p14:sldId id="270"/>
            <p14:sldId id="271"/>
          </p14:sldIdLst>
        </p14:section>
        <p14:section name="Conclusões" id="{9b7c28c7-9832-a889-3819-45d3cb5f8307}">
          <p14:sldIdLst>
            <p14:sldId id="272"/>
            <p14:sldId id="273"/>
            <p14:sldId id="274"/>
            <p14:sldId id="275"/>
          </p14:sldIdLst>
        </p14:section>
        <p14:section name="Reserva" id="{795cbd46-03a0-0c0e-0424-25e437daadf6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Publicações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A3B8"/>
              </a:solidFill>
              <a:effectLst/>
            </c:spPr>
          </c:dPt>
          <c:dPt>
            <c:idx val="1"/>
            <c:bubble3D val="0"/>
            <c:spPr>
              <a:solidFill>
                <a:srgbClr val="C8102E"/>
              </a:solidFill>
              <a:effectLst/>
            </c:spPr>
          </c:dPt>
          <c:dPt>
            <c:idx val="2"/>
            <c:bubble3D val="0"/>
            <c:spPr>
              <a:solidFill>
                <a:srgbClr val="E8B931"/>
              </a:solidFill>
              <a:effectLst/>
            </c:spPr>
          </c:dPt>
          <c:dPt>
            <c:idx val="3"/>
            <c:bubble3D val="0"/>
            <c:spPr>
              <a:solidFill>
                <a:srgbClr val="2E6F9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Normal</c:v>
                </c:pt>
                <c:pt idx="1">
                  <c:v>Mobilização Hostil</c:v>
                </c:pt>
                <c:pt idx="2">
                  <c:v>Desinformação</c:v>
                </c:pt>
                <c:pt idx="3">
                  <c:v>Discurso de Ódio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1664</c:v>
                </c:pt>
                <c:pt idx="1">
                  <c:v>364</c:v>
                </c:pt>
                <c:pt idx="2">
                  <c:v>326</c:v>
                </c:pt>
                <c:pt idx="3">
                  <c:v>283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8FA3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F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2A4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SVM</c:v>
                  </c:pt>
                  <c:pt idx="1">
                    <c:v>Floresta Aleatória</c:v>
                  </c:pt>
                  <c:pt idx="2">
                    <c:v>Bi-LSTM</c:v>
                  </c:pt>
                  <c:pt idx="3">
                    <c:v>BERTimbau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0.633</c:v>
                </c:pt>
                <c:pt idx="1">
                  <c:v>0.659</c:v>
                </c:pt>
                <c:pt idx="2">
                  <c:v>0.66</c:v>
                </c:pt>
                <c:pt idx="3">
                  <c:v>0.807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4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F"/>
                    </a:solidFill>
                    <a:latin typeface="+mn-lt"/>
                  </a:rPr>
                  <a:t>F1-macro (teste, n = 3 987)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Corpus público (n = 3 632)</c:v>
                </c:pt>
              </c:strCache>
            </c:strRef>
          </c:tx>
          <c:spPr>
            <a:solidFill>
              <a:srgbClr val="2E6F9E"/>
            </a:solidFill>
            <a:effectLst/>
          </c:spPr>
          <c:invertIfNegative val="0"/>
          <c:dLbls>
            <c:numFmt formatCode="0.0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Normal</c:v>
                  </c:pt>
                  <c:pt idx="1">
                    <c:v>Desinformação</c:v>
                  </c:pt>
                  <c:pt idx="2">
                    <c:v>Discurso de Ódio</c:v>
                  </c:pt>
                  <c:pt idx="3">
                    <c:v>Mobilização Hostil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0.963</c:v>
                </c:pt>
                <c:pt idx="1">
                  <c:v>0.992</c:v>
                </c:pt>
                <c:pt idx="2">
                  <c:v>0.802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Piloto angolano (n = 355)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Normal</c:v>
                  </c:pt>
                  <c:pt idx="1">
                    <c:v>Desinformação</c:v>
                  </c:pt>
                  <c:pt idx="2">
                    <c:v>Discurso de Ódio</c:v>
                  </c:pt>
                  <c:pt idx="3">
                    <c:v>Mobilização Hostil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0.825</c:v>
                </c:pt>
                <c:pt idx="1">
                  <c:v>0.235</c:v>
                </c:pt>
                <c:pt idx="2">
                  <c:v>0.518</c:v>
                </c:pt>
                <c:pt idx="3">
                  <c:v>0.554</c:v>
                </c:pt>
              </c:numCache>
            </c:numRef>
          </c:val>
        </c:ser>
        <c:dLbls>
          <c:numFmt formatCode="0.00;;;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BERTimbau</c:v>
                </c:pt>
              </c:strCache>
            </c:strRef>
          </c:tx>
          <c:spPr>
            <a:solidFill>
              <a:srgbClr val="102A43"/>
            </a:solidFill>
            <a:ln w="31750" cap="flat">
              <a:solidFill>
                <a:srgbClr val="102A4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02A43"/>
              </a:solidFill>
              <a:ln w="9525" cap="flat">
                <a:solidFill>
                  <a:srgbClr val="102A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34.9</c:v>
                </c:pt>
                <c:pt idx="2">
                  <c:v>68.1</c:v>
                </c:pt>
                <c:pt idx="3">
                  <c:v>89.3</c:v>
                </c:pt>
                <c:pt idx="4">
                  <c:v>96.6</c:v>
                </c:pt>
                <c:pt idx="5">
                  <c:v>99</c:v>
                </c:pt>
                <c:pt idx="6">
                  <c:v>99.6</c:v>
                </c:pt>
                <c:pt idx="7">
                  <c:v>99.8</c:v>
                </c:pt>
                <c:pt idx="8">
                  <c:v>99.9</c:v>
                </c:pt>
                <c:pt idx="9">
                  <c:v>100</c:v>
                </c:pt>
                <c:pt idx="10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Bi-LSTM</c:v>
                </c:pt>
              </c:strCache>
            </c:strRef>
          </c:tx>
          <c:spPr>
            <a:solidFill>
              <a:srgbClr val="2E6F9E"/>
            </a:solidFill>
            <a:ln w="31750" cap="flat">
              <a:solidFill>
                <a:srgbClr val="2E6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6F9E"/>
              </a:solidFill>
              <a:ln w="9525" cap="flat">
                <a:solidFill>
                  <a:srgbClr val="2E6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32</c:v>
                </c:pt>
                <c:pt idx="2">
                  <c:v>56.9</c:v>
                </c:pt>
                <c:pt idx="3">
                  <c:v>73.7</c:v>
                </c:pt>
                <c:pt idx="4">
                  <c:v>82.2</c:v>
                </c:pt>
                <c:pt idx="5">
                  <c:v>88.8</c:v>
                </c:pt>
                <c:pt idx="6">
                  <c:v>92.9</c:v>
                </c:pt>
                <c:pt idx="7">
                  <c:v>96</c:v>
                </c:pt>
                <c:pt idx="8">
                  <c:v>97.7</c:v>
                </c:pt>
                <c:pt idx="9">
                  <c:v>99.2</c:v>
                </c:pt>
                <c:pt idx="10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Floresta Aleatória</c:v>
                </c:pt>
              </c:strCache>
            </c:strRef>
          </c:tx>
          <c:spPr>
            <a:solidFill>
              <a:srgbClr val="E8B931"/>
            </a:solidFill>
            <a:ln w="31750" cap="flat">
              <a:solidFill>
                <a:srgbClr val="E8B9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B931"/>
              </a:solidFill>
              <a:ln w="9525" cap="flat">
                <a:solidFill>
                  <a:srgbClr val="E8B9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32.9</c:v>
                </c:pt>
                <c:pt idx="2">
                  <c:v>57.2</c:v>
                </c:pt>
                <c:pt idx="3">
                  <c:v>73.7</c:v>
                </c:pt>
                <c:pt idx="4">
                  <c:v>82.6</c:v>
                </c:pt>
                <c:pt idx="5">
                  <c:v>88.5</c:v>
                </c:pt>
                <c:pt idx="6">
                  <c:v>91.9</c:v>
                </c:pt>
                <c:pt idx="7">
                  <c:v>94.1</c:v>
                </c:pt>
                <c:pt idx="8">
                  <c:v>96.2</c:v>
                </c:pt>
                <c:pt idx="9">
                  <c:v>98.7</c:v>
                </c:pt>
                <c:pt idx="10">
                  <c:v>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Ordem aleatória</c:v>
                </c:pt>
              </c:strCache>
            </c:strRef>
          </c:tx>
          <c:spPr>
            <a:solidFill>
              <a:srgbClr val="B8C4D1"/>
            </a:solidFill>
            <a:ln w="31750" cap="flat">
              <a:solidFill>
                <a:srgbClr val="B8C4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4D1"/>
              </a:solidFill>
              <a:ln w="9525" cap="flat">
                <a:solidFill>
                  <a:srgbClr val="B8C4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F"/>
                    </a:solidFill>
                    <a:latin typeface="+mn-lt"/>
                  </a:rPr>
                  <a:t>Fracção da fila revista, por prioridade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F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B7F"/>
                    </a:solidFill>
                    <a:latin typeface="+mn-lt"/>
                  </a:rPr>
                  <a:t>Ameaças encontradas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0:30 (relógio no fim: 0:30 de 20:00).
Cumprimentar o Presidente do Júri, os membros do júri, os orientadores e o público. Apresentar o título e o enquadramento: dissertação de mestrado em Engenharia e Ciência de Dados. Anunciar que a exposição dura 20 minutos e inclui uma demonstração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0:30 (relógio no fim: 1:00 de 20:00).
Apresentar a estrutura: seis partes. Indicar que a parte maior é a do sistema, com demonstração ao vivo, e que no topo de cada diapositivo se vê em que parte estamos.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1:00 (relógio no fim: 2:00 de 20:00).
O fenómeno tem escala: 17,6 milhões de utilizadores da Internet e 5,5 milhões de identidades em redes sociais. A campanha «2022 Vais Gostar» mostra o peso político: passou das redes para a rua, com manifestações em várias províncias. E a desinformação ganhou ferramentas novas, como deepfakes, bots e campanhas coordenadas. O problema para as estruturas de segurança é o volume: não é possível ler tudo, e as ferramentas comerciais não foram pensadas para o português de Angola.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1:00 (relógio no fim: 3:00 de 20:00).
A pergunta de partida e as quatro hipóteses, cada uma com critério quantitativo. H1 compara algoritmos; H2 mede tempo; H3 antecedência; H4 a queda em conteúdo angolano. Ler devagar 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0:45 (relógio no fim: 3:45 de 20:00).
O objectivo geral e os cinco objectivos específicos. Ligar cada um à hipótese que o testa: OE2 com a H1, OE3 com a H4, OE4 com a H2 e a H3. O OE1 (corpus) e o OE5 (quadro ético e legal) não têm hipótese: são de construção e normativos.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1:15 (relógio no fim: 5:00 de 20:00).
Três conclusões da literatura. Os sistemas internacionais (MediFor, Palantir, EU DisinfoLab) não estão disponíveis ou criam dependência externa. Os recursos de PLN em português são brasileiros, e a desinformação vem de notícias completas. Os classificadores generalizam mal entre domínios e variedades, e manter um humano no circuito exige contramedidas contra o viés de automação.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0:45 (relógio no fim: 5:45 de 20:00).
Paradigma pragmático e aplicado, abordagem quantitativa. Três fases: dados, modelos e sistema. As revisões feitas no sistema podem voltar a alimentar 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1:00 (relógio no fim: 6:45 de 20:00).
O corpus angolano: 2 637 publicações públicas, sobretudo comentários do YouTube pela interface oficial, anotadas por três anotadores com κ de Fleiss de 0,718, acordo substancial. Nos desacordos, prevalece a categoria mais grave. Notar que a Mobilização Hostil só existe no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1:00 (relógio no fim: 7:45 de 20:00).
O piloto, por si só, é pequeno. Juntou-se a três corpora públicos brasileiros, num total de 26 859 registos. Quatro modelos de três gerações. Protocolo definido antes de ver o teste: F1-macro com IC por bootstrap e McNemar com Bonferroni. Atenção: 91% do teste é brasileiro, por isso a H4 separa os dois domínios.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1:00 (relógio no fim: 8:45 de 20:00).
O BERTimbau obteve F1-macro de 0,807, com intervalo que não se sobrepõe aos outros; a diferença é de 14,6 a 17,4 p.p., com p &lt; 10^-47. O Bi-LSTM não se distingue da Floresta Aleatória e, repetido com três sementes, nunca a supera: por isso a H1 fica parcialmente confirmada. Uma explicação plausível, que o desenho não isola, é o pré-treino. A média do BERTimbau em três sementes é 0,797.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1:00 (relógio no fim: 9:45 de 20:00).
Este é o resultado central. No corpus público o F1-macro é 0,919; no piloto angolano cai para 0,533: 38,6 pontos. Sem a Mobilização Hostil a diferença mantém-se: 37,3 pontos, com IC de 30,6 a 44,7. Só com os comentários do YouTube sorteados o F1 é 0,535: os itens escolhidos por mim não explicam a lacuna. A maior queda é na Desinformação, de 0,99 para 0,24. Há duas explicações que os dados não separam: o modelo pode ter aprendido o estilo das notícias do Fake.br, ou as etiquetas do piloto são mais amplas. A estimativa realista para Angola é 0,53, e é essa que o sistema mostra ao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0:50 (relógio no fim: 10:35 de 20:00).
Como o sistema usa as probabilidades para ordenar a fila, medi também o esforço de revisão. Numa ordenação de todo o teste, com o BERTimbau, rever um quarto encontra 80% das ameaças. Mas a ordem reflecte a confiança e não a gravidade: a Mobilização Hostil fica a meio. E no piloto angolano é pior: é preciso rever 49% para o mesmo resultado, e 28,7% das ameaças ficam entre os itens que o modelo considera Normais, contra 11,8% no teste completo. É isso que justifica a amostra de controlo.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0:45 (relógio no fim: 11:20 de 20:00).
A H2 foi medida com o protótipo num computador modesto, sem GPU: 0,6 a 0,7 segundos por publicação. Com a gravação por sublotes, as primeiras publicações chegam à fila em 36 segundos, e todas em menos de 60 segundos em recolhas até cerca de 64 publicações. A H3 não pôde ser testada por falta de um corpus datado.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0:55 (relógio no fim: 12:15 de 20:00).
Antes do sistema, digo o que os resultados não permitem afirmar. O piloto é pequeno, sobretudo na Mobilização Hostil (47 exemplos de teste). 91% do teste é brasileiro. A desinformação disponível são notícias. Não separei língua, plataforma e registo. As etiquetas do piloto são mais amplas do que as dos corpora públicos. A utilidade para analistas e a antecipação não foram medidas. E o protótipo não teve auditoria de segurança independente.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1:00 (relógio no fim: 13:15 de 20:00).
Os resultados ditaram o desenho: o modelo não decide, ordena. Arquitectura leve, num único servidor, software livre e sem dependência da Internet. Salvaguardas: pseudonimização à entrada, sem perfis, revisão humana obrigatória, auditoria. Passo agora para 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4:00 (relógio no fim: 17:15 de 20:00).
ANTES DA SESSÃO: arrancar o servidor com arrancar_demonstracao.bat (ou «python uan.py servir --demonstracao»), entrar como demo.supervisor e carregar em Saltar na visita guiada. Ao chegar a este diapositivo, mudar para o navegador (Alt+Tab).
Roteiro com tempos:
1) Panorama (0:25): o que foi recolhido e sinalizado.
2) Fila e amostra de controlo (1:00): ler uma publicação, decidir com a tecla, desfazer com U; mostrar as probabilidades e o realce do lugar; referir a revisão cega; abrir a amostra de controlo.
3) Alertas e mapa (1:00): sino, mapa com cartão de uma província, reprodução semana a semana.
4) Sobre o modelo (0:30): o desempenho em Angola, 0,53, está à vista do analista.
5) Lotes e contas (0:40): cada recolha fica registada como lote; Sair e ligação «Esqueceu-se da palavra-passe?» (na demonstração a recolha automática está desligada).
Passagens para o navegador e de regresso: 0:25.
Se a demonstração falhar, passar o vídeo de reserva (3:24) ou os diapositivos de reserva A, B e C,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0:55 (relógio no fim: 18:10 de 20:00).
Síntese das hipóteses. H1 parcialmente confirmada; H2 confirmada com condições; H3 não testada; H4 confirmada com reservas. Dizer com clareza o que não foi demonstrado: a utilidade da fila com analistas reais e a antecipação.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0:45 (relógio no fim: 18:55 de 20:00).
Três conclusões e os quatro contributos. Mensagem central: o modelo ordena o trabalho, o analista decide; em Angola o desempenho realista é 0,53.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0:50 (relógio no fim: 19:45 de 20:00).
As recomendações, num capítulo próprio, separadas das conclusões como pedem as Normas da UAN. As três primeiras são condições para qualquer uso institucional; as outras três são trabalho futuro. Fechar com: o investimento que mais rende são dados angolanos anotados.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deste diapositivo: 0:15 (relógio no fim: 20:00 de 20:00).
Agradecer e passar a palavra ao Presidente do Júri. Os diapositivos seguintes são de reserva, para a demonstração ou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Diapositivo de reserva: usar se a demonstração ao vivo falhar ou para responder 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Diapositivo de reserva: usar se a demonstração ao vivo falhar ou para responder 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Diapositivo de reserva: usar se a demonstração ao vivo falhar ou para responder 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Gonga Muinga · Defesa de dissertação · UAN,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-logos"/>
          <p:cNvSpPr/>
          <p:nvPr/>
        </p:nvSpPr>
        <p:spPr>
          <a:xfrm>
            <a:off x="548640" y="41148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logo-UAN" descr="logo_u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758952" cy="777240"/>
          </a:xfrm>
          <a:prstGeom prst="rect">
            <a:avLst/>
          </a:prstGeom>
        </p:spPr>
      </p:pic>
      <p:pic>
        <p:nvPicPr>
          <p:cNvPr id="4" name="logo-FE" descr="logo_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502920"/>
            <a:ext cx="740664" cy="777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88036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UNIVERSIDADE AGOSTINHO NETO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FACULDADE DE ENGENHARIA</a:t>
            </a:r>
            <a:endParaRPr lang="en-US" sz="1400" dirty="0"/>
          </a:p>
        </p:txBody>
      </p:sp>
      <p:sp>
        <p:nvSpPr>
          <p:cNvPr id="6" name="titulo"/>
          <p:cNvSpPr txBox="1"/>
          <p:nvPr/>
        </p:nvSpPr>
        <p:spPr>
          <a:xfrm>
            <a:off x="548640" y="17830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Monitoramento inteligente de ameaças em redes sociais em Angola para o apoio à defesa e segurança nacional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429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B931"/>
                </a:solidFill>
              </a:rPr>
              <a:t>Dissertação para obtenção do grau de Mestre em Engenharia e Ciência de Dados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1605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8C4D1"/>
                </a:solidFill>
              </a:rPr>
              <a:t>Mestrando: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Manuel Gonga Muinga, Engenheiro Electrotécnico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8C4D1"/>
                </a:solidFill>
              </a:rPr>
              <a:t>Orientador: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Professor Doutor Joaquim Fortes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B8C4D1"/>
                </a:solidFill>
              </a:rPr>
              <a:t>Co-orientador: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Professor Doutor Judice Cumbunga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Luanda, 2026</a:t>
            </a:r>
            <a:endParaRPr lang="en-US" sz="1600" dirty="0"/>
          </a:p>
        </p:txBody>
      </p:sp>
    </p:spTree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agenda-cartao-1"/>
          <p:cNvSpPr/>
          <p:nvPr/>
        </p:nvSpPr>
        <p:spPr>
          <a:xfrm>
            <a:off x="548640" y="17373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92808"/>
            <a:ext cx="3429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Introdução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Contexto, pergunta, hipóteses e objectivos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6F9E"/>
                </a:solidFill>
              </a:rPr>
              <a:t>2:45</a:t>
            </a:r>
            <a:endParaRPr lang="en-US" sz="1600" dirty="0"/>
          </a:p>
        </p:txBody>
      </p:sp>
      <p:sp>
        <p:nvSpPr>
          <p:cNvPr id="9" name="agenda-cartao-2"/>
          <p:cNvSpPr/>
          <p:nvPr/>
        </p:nvSpPr>
        <p:spPr>
          <a:xfrm>
            <a:off x="6172200" y="17373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1892808"/>
            <a:ext cx="3429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Revisão da literatura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se sabe e a lacuna para Angola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060704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6F9E"/>
                </a:solidFill>
              </a:rPr>
              <a:t>1:15</a:t>
            </a:r>
            <a:endParaRPr lang="en-US" sz="1600" dirty="0"/>
          </a:p>
        </p:txBody>
      </p:sp>
      <p:sp>
        <p:nvSpPr>
          <p:cNvPr id="14" name="agenda-cartao-3"/>
          <p:cNvSpPr/>
          <p:nvPr/>
        </p:nvSpPr>
        <p:spPr>
          <a:xfrm>
            <a:off x="548640" y="31546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429000"/>
            <a:ext cx="640080" cy="6400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3310128"/>
            <a:ext cx="3429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Metodologia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Desenho, corpus angolano, corpus híbrido e modelos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6F9E"/>
                </a:solidFill>
              </a:rPr>
              <a:t>2:45</a:t>
            </a:r>
            <a:endParaRPr lang="en-US" sz="1600" dirty="0"/>
          </a:p>
        </p:txBody>
      </p:sp>
      <p:sp>
        <p:nvSpPr>
          <p:cNvPr id="19" name="agenda-cartao-4"/>
          <p:cNvSpPr/>
          <p:nvPr/>
        </p:nvSpPr>
        <p:spPr>
          <a:xfrm>
            <a:off x="6172200" y="31546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3429000"/>
            <a:ext cx="640080" cy="6400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310128"/>
            <a:ext cx="3429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Resultados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Modelos, lacuna de domínio, fila, tempo e limitações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60704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6F9E"/>
                </a:solidFill>
              </a:rPr>
              <a:t>4:30</a:t>
            </a:r>
            <a:endParaRPr lang="en-US" sz="1600" dirty="0"/>
          </a:p>
        </p:txBody>
      </p:sp>
      <p:sp>
        <p:nvSpPr>
          <p:cNvPr id="24" name="agenda-cartao-5"/>
          <p:cNvSpPr/>
          <p:nvPr/>
        </p:nvSpPr>
        <p:spPr>
          <a:xfrm>
            <a:off x="548640" y="4572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1600200" y="4727448"/>
            <a:ext cx="3429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Sistema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Arquitectura e demonstração ao vivo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983480" y="4937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102E"/>
                </a:solidFill>
              </a:rPr>
              <a:t>5:00</a:t>
            </a:r>
            <a:endParaRPr lang="en-US" sz="1600" dirty="0"/>
          </a:p>
        </p:txBody>
      </p:sp>
      <p:sp>
        <p:nvSpPr>
          <p:cNvPr id="29" name="agenda-cartao-6"/>
          <p:cNvSpPr/>
          <p:nvPr/>
        </p:nvSpPr>
        <p:spPr>
          <a:xfrm>
            <a:off x="6172200" y="4572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4846320"/>
            <a:ext cx="640080" cy="64008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4727448"/>
            <a:ext cx="3429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Conclusões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Hipóteses, conclusões e recomendações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0607040" y="4937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6F9E"/>
                </a:solidFill>
              </a:rPr>
              <a:t>2:45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Exposição: 20 minutos. A abertura (capa e agenda) ocupa 1:00 e as seis partes somam 19:00.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Milhões de angolanos nas redes, poucos analistas para as ler</a:t>
            </a:r>
            <a:endParaRPr lang="en-US" sz="2800" dirty="0"/>
          </a:p>
        </p:txBody>
      </p:sp>
      <p:sp>
        <p:nvSpPr>
          <p:cNvPr id="16" name="estatistica-1"/>
          <p:cNvSpPr/>
          <p:nvPr/>
        </p:nvSpPr>
        <p:spPr>
          <a:xfrm>
            <a:off x="548640" y="178308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19659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A43"/>
                </a:solidFill>
              </a:rPr>
              <a:t>17,6 M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28346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utilizadores da Internet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44,8% da população</a:t>
            </a:r>
            <a:endParaRPr lang="en-US" sz="1400" dirty="0"/>
          </a:p>
        </p:txBody>
      </p:sp>
      <p:sp>
        <p:nvSpPr>
          <p:cNvPr id="19" name="estatistica-2"/>
          <p:cNvSpPr/>
          <p:nvPr/>
        </p:nvSpPr>
        <p:spPr>
          <a:xfrm>
            <a:off x="2880360" y="178308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19659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</a:rPr>
              <a:t>5,50 M</a:t>
            </a:r>
            <a:endParaRPr lang="en-US" sz="3800" dirty="0"/>
          </a:p>
        </p:txBody>
      </p:sp>
      <p:sp>
        <p:nvSpPr>
          <p:cNvPr id="21" name="Text 18"/>
          <p:cNvSpPr txBox="1"/>
          <p:nvPr/>
        </p:nvSpPr>
        <p:spPr>
          <a:xfrm>
            <a:off x="3017520" y="28346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identidades em redes sociais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14,0% da população</a:t>
            </a:r>
            <a:endParaRPr lang="en-US" sz="1400" dirty="0"/>
          </a:p>
        </p:txBody>
      </p:sp>
      <p:sp>
        <p:nvSpPr>
          <p:cNvPr id="22" name="estatistica-3"/>
          <p:cNvSpPr/>
          <p:nvPr/>
        </p:nvSpPr>
        <p:spPr>
          <a:xfrm>
            <a:off x="5212080" y="178308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19659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A43"/>
                </a:solidFill>
              </a:rPr>
              <a:t>30,6 M</a:t>
            </a:r>
            <a:endParaRPr lang="en-US" sz="3800" dirty="0"/>
          </a:p>
        </p:txBody>
      </p:sp>
      <p:sp>
        <p:nvSpPr>
          <p:cNvPr id="24" name="Text 21"/>
          <p:cNvSpPr txBox="1"/>
          <p:nvPr/>
        </p:nvSpPr>
        <p:spPr>
          <a:xfrm>
            <a:off x="5349240" y="28346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ligações móveis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o telemóvel é o acesso principal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Fonte: Kemp (2025), dados de Outubro de 2025.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26680" y="17830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02A43"/>
                </a:solidFill>
              </a:rPr>
              <a:t>Da rede para a rua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campanha «2022 Vais Gostar» começou nas redes e terminou em manifestações em várias províncias (Hassane, 2021, pp. 37–38).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desinformação ganhou ferramentas novas: deepfakes, bots e campanhas coordenadas (Cintra, 2025, p. 101).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limite é humano: há mais publicações do que analistas, e as ferramentas comerciais não foram feitas para o português de Angola.</a:t>
            </a:r>
            <a:endParaRPr lang="en-US" sz="1400" dirty="0"/>
          </a:p>
        </p:txBody>
      </p:sp>
      <p:sp>
        <p:nvSpPr>
          <p:cNvPr id="27" name="icone-circulo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8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5063490"/>
            <a:ext cx="342900" cy="34290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463040" y="48920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Ideia central: um sistema que ajude o analista a decidir o que ler primeiro, sem decidir por ele.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de partida e hipóteses</a:t>
            </a:r>
            <a:endParaRPr lang="en-US" sz="2800" dirty="0"/>
          </a:p>
        </p:txBody>
      </p:sp>
      <p:sp>
        <p:nvSpPr>
          <p:cNvPr id="16" name="pergunta"/>
          <p:cNvSpPr/>
          <p:nvPr/>
        </p:nvSpPr>
        <p:spPr>
          <a:xfrm>
            <a:off x="548640" y="169164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1691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Em que medida um sistema baseado em aprendizagem automática consegue apoiar, de forma fiável e juridicamente responsável, a triagem de publicações ameaçadoras em redes sociais angolanas?</a:t>
            </a:r>
            <a:endParaRPr lang="en-US" sz="1700" dirty="0"/>
          </a:p>
        </p:txBody>
      </p:sp>
      <p:sp>
        <p:nvSpPr>
          <p:cNvPr id="18" name="hipotese-H1"/>
          <p:cNvSpPr/>
          <p:nvPr/>
        </p:nvSpPr>
        <p:spPr>
          <a:xfrm>
            <a:off x="548640" y="29718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1546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</a:rPr>
              <a:t>H1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31089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Os modelos profundos superam os clássicos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ΔF1-macro ≥ 5 p.p. e p &lt; 0,05 (McNemar com Bonferroni)</a:t>
            </a:r>
            <a:endParaRPr lang="en-US" sz="1600" dirty="0"/>
          </a:p>
        </p:txBody>
      </p:sp>
      <p:sp>
        <p:nvSpPr>
          <p:cNvPr id="21" name="hipotese-H2"/>
          <p:cNvSpPr/>
          <p:nvPr/>
        </p:nvSpPr>
        <p:spPr>
          <a:xfrm>
            <a:off x="6172200" y="29718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55080" y="31546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</a:rPr>
              <a:t>H2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1089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Cada publicação é processada em menos de 60 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Importação, anonimização, classificação e entrada na fila</a:t>
            </a:r>
            <a:endParaRPr lang="en-US" sz="1600" dirty="0"/>
          </a:p>
        </p:txBody>
      </p:sp>
      <p:sp>
        <p:nvSpPr>
          <p:cNvPr id="24" name="hipotese-H3"/>
          <p:cNvSpPr/>
          <p:nvPr/>
        </p:nvSpPr>
        <p:spPr>
          <a:xfrm>
            <a:off x="548640" y="43891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45720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</a:rPr>
              <a:t>H3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1600200" y="45262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Antecedência de pelo menos 48 horas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Face a eventos de segurança documentados</a:t>
            </a:r>
            <a:endParaRPr lang="en-US" sz="1600" dirty="0"/>
          </a:p>
        </p:txBody>
      </p:sp>
      <p:sp>
        <p:nvSpPr>
          <p:cNvPr id="27" name="hipotese-H4"/>
          <p:cNvSpPr/>
          <p:nvPr/>
        </p:nvSpPr>
        <p:spPr>
          <a:xfrm>
            <a:off x="6172200" y="43891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55080" y="45720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</a:rPr>
              <a:t>H4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7223760" y="45262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O desempenho cai em conteúdo angolano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ΔF1-macro ≥ 5 p.p. face aos corpora públicos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Objectivos: um sistema que se mede antes de se usar</a:t>
            </a:r>
            <a:endParaRPr lang="en-US" sz="2800" dirty="0"/>
          </a:p>
        </p:txBody>
      </p:sp>
      <p:sp>
        <p:nvSpPr>
          <p:cNvPr id="16" name="objectivo-geral"/>
          <p:cNvSpPr/>
          <p:nvPr/>
        </p:nvSpPr>
        <p:spPr>
          <a:xfrm>
            <a:off x="548640" y="169164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16916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931"/>
                </a:solidFill>
              </a:rPr>
              <a:t>Objectivo geral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Desenvolver e avaliar um sistema de apoio à triagem de publicações ameaçadoras em redes sociais angolanas, que combine um classificador adaptado ao português com revisão humana obrigatória e protecção de dados desde a concepção.</a:t>
            </a:r>
            <a:endParaRPr lang="en-US" sz="1500" dirty="0"/>
          </a:p>
        </p:txBody>
      </p:sp>
      <p:sp>
        <p:nvSpPr>
          <p:cNvPr id="18" name="objectivo-OE1"/>
          <p:cNvSpPr/>
          <p:nvPr/>
        </p:nvSpPr>
        <p:spPr>
          <a:xfrm>
            <a:off x="548640" y="3017520"/>
            <a:ext cx="2109155" cy="2743200"/>
          </a:xfrm>
          <a:prstGeom prst="roundRect">
            <a:avLst>
              <a:gd name="adj" fmla="val 346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15468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OE1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65760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Construir um corpus angolano anotado por três anotadores, com proveniência registada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5257800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sem hipótese</a:t>
            </a:r>
            <a:endParaRPr lang="en-US" sz="1200" dirty="0"/>
          </a:p>
        </p:txBody>
      </p:sp>
      <p:sp>
        <p:nvSpPr>
          <p:cNvPr id="22" name="objectivo-OE2"/>
          <p:cNvSpPr/>
          <p:nvPr/>
        </p:nvSpPr>
        <p:spPr>
          <a:xfrm>
            <a:off x="2794955" y="3017520"/>
            <a:ext cx="2109155" cy="2743200"/>
          </a:xfrm>
          <a:prstGeom prst="roundRect">
            <a:avLst>
              <a:gd name="adj" fmla="val 346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77835" y="315468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OE2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2977835" y="365760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Comparar SVM, Floresta Aleatória, Bi-LSTM e BERTimbau com testes estatísticos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977835" y="5257800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testado por H1</a:t>
            </a:r>
            <a:endParaRPr lang="en-US" sz="1200" dirty="0"/>
          </a:p>
        </p:txBody>
      </p:sp>
      <p:sp>
        <p:nvSpPr>
          <p:cNvPr id="26" name="objectivo-OE3"/>
          <p:cNvSpPr/>
          <p:nvPr/>
        </p:nvSpPr>
        <p:spPr>
          <a:xfrm>
            <a:off x="5041270" y="3017520"/>
            <a:ext cx="2109155" cy="2743200"/>
          </a:xfrm>
          <a:prstGeom prst="roundRect">
            <a:avLst>
              <a:gd name="adj" fmla="val 346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24150" y="315468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OE3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5224150" y="365760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Quantificar a perda de desempenho em conteúdo angolano e as suas causas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224150" y="5257800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testado por H4</a:t>
            </a:r>
            <a:endParaRPr lang="en-US" sz="1200" dirty="0"/>
          </a:p>
        </p:txBody>
      </p:sp>
      <p:sp>
        <p:nvSpPr>
          <p:cNvPr id="30" name="objectivo-OE4"/>
          <p:cNvSpPr/>
          <p:nvPr/>
        </p:nvSpPr>
        <p:spPr>
          <a:xfrm>
            <a:off x="7287585" y="3017520"/>
            <a:ext cx="2109155" cy="2743200"/>
          </a:xfrm>
          <a:prstGeom prst="roundRect">
            <a:avLst>
              <a:gd name="adj" fmla="val 346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70465" y="315468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OE4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7470465" y="365760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Desenvolver o protótipo de triagem e o protocolo da sua avaliação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470465" y="5257800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testado por H2, H3</a:t>
            </a:r>
            <a:endParaRPr lang="en-US" sz="1200" dirty="0"/>
          </a:p>
        </p:txBody>
      </p:sp>
      <p:sp>
        <p:nvSpPr>
          <p:cNvPr id="34" name="objectivo-OE5"/>
          <p:cNvSpPr/>
          <p:nvPr/>
        </p:nvSpPr>
        <p:spPr>
          <a:xfrm>
            <a:off x="9533900" y="3017520"/>
            <a:ext cx="2109155" cy="2743200"/>
          </a:xfrm>
          <a:prstGeom prst="roundRect">
            <a:avLst>
              <a:gd name="adj" fmla="val 346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716780" y="315468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OE5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9716780" y="365760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Propor um quadro de uso responsável conforme a Lei n.º 22/11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716780" y="5257800"/>
            <a:ext cx="1743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sem hipótese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literatura deixa uma lacuna para Angola</a:t>
            </a:r>
            <a:endParaRPr lang="en-US" sz="2800" dirty="0"/>
          </a:p>
        </p:txBody>
      </p:sp>
      <p:sp>
        <p:nvSpPr>
          <p:cNvPr id="16" name="lacuna-1"/>
          <p:cNvSpPr/>
          <p:nvPr/>
        </p:nvSpPr>
        <p:spPr>
          <a:xfrm>
            <a:off x="548640" y="173736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icone-circulo"/>
          <p:cNvSpPr/>
          <p:nvPr/>
        </p:nvSpPr>
        <p:spPr>
          <a:xfrm>
            <a:off x="777240" y="1965960"/>
            <a:ext cx="731520" cy="7315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8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2834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Sistemas existentes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324612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Programas e plataformas internacionais sem português de Angola ou com dependência de fornecedores externos (Defense Advanced Research Projects Agency, 2016; Palantir Technologies, 2024).</a:t>
            </a:r>
            <a:endParaRPr lang="en-US" sz="1300" dirty="0"/>
          </a:p>
        </p:txBody>
      </p:sp>
      <p:sp>
        <p:nvSpPr>
          <p:cNvPr id="21" name="lacuna-2"/>
          <p:cNvSpPr/>
          <p:nvPr/>
        </p:nvSpPr>
        <p:spPr>
          <a:xfrm>
            <a:off x="3364992" y="173736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icone-circulo"/>
          <p:cNvSpPr/>
          <p:nvPr/>
        </p:nvSpPr>
        <p:spPr>
          <a:xfrm>
            <a:off x="3593592" y="1965960"/>
            <a:ext cx="731520" cy="7315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3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1488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93592" y="2834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Recursos brasileiros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324612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BERTimbau, ToLD-BR, HateBR e Fake.br são brasileiros; a desinformação disponível são notícias completas (Souza et al., 2020; Monteiro et al., 2018).</a:t>
            </a:r>
            <a:endParaRPr lang="en-US" sz="1300" dirty="0"/>
          </a:p>
        </p:txBody>
      </p:sp>
      <p:sp>
        <p:nvSpPr>
          <p:cNvPr id="26" name="lacuna-3"/>
          <p:cNvSpPr/>
          <p:nvPr/>
        </p:nvSpPr>
        <p:spPr>
          <a:xfrm>
            <a:off x="6181344" y="173736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icone-circulo"/>
          <p:cNvSpPr/>
          <p:nvPr/>
        </p:nvSpPr>
        <p:spPr>
          <a:xfrm>
            <a:off x="6409944" y="1965960"/>
            <a:ext cx="731520" cy="7315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8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1488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409944" y="2834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Generalização fraca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409944" y="324612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 classificadores de conteúdo nocivo perdem desempenho fora do domínio de treino e aprendem atalhos (Fortuna et al., 2021; Geirhos et al., 2020).</a:t>
            </a:r>
            <a:endParaRPr lang="en-US" sz="1300" dirty="0"/>
          </a:p>
        </p:txBody>
      </p:sp>
      <p:sp>
        <p:nvSpPr>
          <p:cNvPr id="31" name="lacuna-4"/>
          <p:cNvSpPr/>
          <p:nvPr/>
        </p:nvSpPr>
        <p:spPr>
          <a:xfrm>
            <a:off x="8997696" y="173736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2" name="icone-circulo"/>
          <p:cNvSpPr/>
          <p:nvPr/>
        </p:nvSpPr>
        <p:spPr>
          <a:xfrm>
            <a:off x="9226296" y="1965960"/>
            <a:ext cx="731520" cy="7315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3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14884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226296" y="2834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O humano no circuito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9226296" y="324612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Rever não basta: complacência e viés de automação exigem revisão cega e amostras de controlo (Parasuraman &amp; Manzey, 2010).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Lacuna: não existe uma medida do desempenho destes modelos em conteúdo angolano, nem um sistema de triagem desenhado em função das suas limitações.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em três fases: dados, modelos e sistema</a:t>
            </a:r>
            <a:endParaRPr lang="en-US" sz="2800" dirty="0"/>
          </a:p>
        </p:txBody>
      </p:sp>
      <p:pic>
        <p:nvPicPr>
          <p:cNvPr id="16" name="figura-desenho" descr="fig3_1_desen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45920"/>
            <a:ext cx="6903720" cy="4123944"/>
          </a:xfrm>
          <a:prstGeom prst="rect">
            <a:avLst/>
          </a:prstGeom>
        </p:spPr>
      </p:pic>
      <p:sp>
        <p:nvSpPr>
          <p:cNvPr id="17" name="legenda"/>
          <p:cNvSpPr txBox="1"/>
          <p:nvPr/>
        </p:nvSpPr>
        <p:spPr>
          <a:xfrm>
            <a:off x="1463040" y="580644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1 – Desenho da investigação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732520" y="178308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Paradigma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Pragmático e aplicado; abordagem quantitativa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Testes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H1 e H4 com métricas e testes estatísticos; H2 e H3 com o sistema em funcionamento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Ética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conteúdo público, pseudonimização à entrada, Lei n.º 22/11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angolano: 2 637 publicações e três anotadores</a:t>
            </a:r>
            <a:endParaRPr lang="en-US" sz="2800" dirty="0"/>
          </a:p>
        </p:txBody>
      </p:sp>
      <p:graphicFrame>
        <p:nvGraphicFramePr>
          <p:cNvPr id="16" name="grafico-corpus" descr=""/>
          <p:cNvGraphicFramePr/>
          <p:nvPr/>
        </p:nvGraphicFramePr>
        <p:xfrm>
          <a:off x="548640" y="1600200"/>
          <a:ext cx="51206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legenda"/>
          <p:cNvSpPr txBox="1"/>
          <p:nvPr/>
        </p:nvSpPr>
        <p:spPr>
          <a:xfrm>
            <a:off x="548640" y="5715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2 – Distribuição das etiquetas finais do corpus angolano</a:t>
            </a:r>
            <a:endParaRPr lang="en-US" sz="1000" dirty="0"/>
          </a:p>
        </p:txBody>
      </p:sp>
      <p:sp>
        <p:nvSpPr>
          <p:cNvPr id="18" name="kappa"/>
          <p:cNvSpPr/>
          <p:nvPr/>
        </p:nvSpPr>
        <p:spPr>
          <a:xfrm>
            <a:off x="6080760" y="173736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63640" y="182880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A43"/>
                </a:solidFill>
              </a:rPr>
              <a:t>0,718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κ de Fleiss (n = 2 443): acordo substancial</a:t>
            </a:r>
            <a:endParaRPr lang="en-US" sz="4000" dirty="0"/>
          </a:p>
        </p:txBody>
      </p:sp>
      <p:sp>
        <p:nvSpPr>
          <p:cNvPr id="20" name="origem"/>
          <p:cNvSpPr/>
          <p:nvPr/>
        </p:nvSpPr>
        <p:spPr>
          <a:xfrm>
            <a:off x="8641080" y="1737360"/>
            <a:ext cx="2999232" cy="1920240"/>
          </a:xfrm>
          <a:prstGeom prst="roundRect">
            <a:avLst>
              <a:gd name="adj" fmla="val 381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823960" y="182880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A43"/>
                </a:solidFill>
              </a:rPr>
              <a:t>86%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comentários do YouTube pela interface oficial</a:t>
            </a:r>
            <a:endParaRPr lang="en-US" sz="4000" dirty="0"/>
          </a:p>
        </p:txBody>
      </p:sp>
      <p:sp>
        <p:nvSpPr>
          <p:cNvPr id="22" name="Text 18"/>
          <p:cNvSpPr txBox="1"/>
          <p:nvPr/>
        </p:nvSpPr>
        <p:spPr>
          <a:xfrm>
            <a:off x="6080760" y="388620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Autores pseudonimizados antes de gravar (HMAC)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Desacordo: prevalece a categoria mais grave; 11,3% das ameaças vêm de um só voto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Lotes enriquecidos por tema e por léxico usados só no treino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híbrido de 26 859 registos e quatro modelos comparados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Tabela 1 – Composição do corpus híbrido por fonte</a:t>
            </a:r>
            <a:endParaRPr lang="en-US" sz="1100" dirty="0"/>
          </a:p>
        </p:txBody>
      </p:sp>
      <p:graphicFrame>
        <p:nvGraphicFramePr>
          <p:cNvPr id="10" name="tabela-corp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Fonte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Origem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Registos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ToLD-BR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Twitter, Brasil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12 709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Fake.br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Notícias, Brasil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7 199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HateBR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Instagram, Brasil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4 378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Piloto angolano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YouTube e outros, Angola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</a:rPr>
                        <a:t>2 573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</a:rPr>
                        <a:t>26 859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Nota: valores após deduplicação. Divisão estratificada 70/15/15; teste com 3 987 itens.</a:t>
            </a:r>
            <a:endParaRPr lang="en-US" sz="1000" dirty="0"/>
          </a:p>
        </p:txBody>
      </p:sp>
      <p:sp>
        <p:nvSpPr>
          <p:cNvPr id="19" name="modelo-1"/>
          <p:cNvSpPr/>
          <p:nvPr/>
        </p:nvSpPr>
        <p:spPr>
          <a:xfrm>
            <a:off x="6492240" y="1691640"/>
            <a:ext cx="5148072" cy="621792"/>
          </a:xfrm>
          <a:prstGeom prst="roundRect">
            <a:avLst>
              <a:gd name="adj" fmla="val 11765"/>
            </a:avLst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75120" y="16916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SVM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TF-IDF</a:t>
            </a:r>
            <a:endParaRPr lang="en-US" sz="1600" dirty="0"/>
          </a:p>
        </p:txBody>
      </p:sp>
      <p:sp>
        <p:nvSpPr>
          <p:cNvPr id="21" name="modelo-2"/>
          <p:cNvSpPr/>
          <p:nvPr/>
        </p:nvSpPr>
        <p:spPr>
          <a:xfrm>
            <a:off x="6492240" y="2441448"/>
            <a:ext cx="5148072" cy="621792"/>
          </a:xfrm>
          <a:prstGeom prst="roundRect">
            <a:avLst>
              <a:gd name="adj" fmla="val 11765"/>
            </a:avLst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675120" y="244144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Floresta Aleatória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TF-IDF</a:t>
            </a:r>
            <a:endParaRPr lang="en-US" sz="1600" dirty="0"/>
          </a:p>
        </p:txBody>
      </p:sp>
      <p:sp>
        <p:nvSpPr>
          <p:cNvPr id="23" name="modelo-3"/>
          <p:cNvSpPr/>
          <p:nvPr/>
        </p:nvSpPr>
        <p:spPr>
          <a:xfrm>
            <a:off x="6492240" y="3191256"/>
            <a:ext cx="5148072" cy="621792"/>
          </a:xfrm>
          <a:prstGeom prst="roundRect">
            <a:avLst>
              <a:gd name="adj" fmla="val 11765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675120" y="319125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Bi-LSTM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Sequência</a:t>
            </a:r>
            <a:endParaRPr lang="en-US" sz="1600" dirty="0"/>
          </a:p>
        </p:txBody>
      </p:sp>
      <p:sp>
        <p:nvSpPr>
          <p:cNvPr id="25" name="modelo-4"/>
          <p:cNvSpPr/>
          <p:nvPr/>
        </p:nvSpPr>
        <p:spPr>
          <a:xfrm>
            <a:off x="6492240" y="3941064"/>
            <a:ext cx="5148072" cy="621792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675120" y="394106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BERTimbau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Transformer pré-treinado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6492240" y="4754880"/>
            <a:ext cx="5148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Protocolo fixado antes do teste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F1-macro com IC 95% por bootstrap; McNemar com correcção de Bonferroni; variantes escolhidas na validação.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BERTimbau supera os restantes modelos em 15 a 17 pontos</a:t>
            </a:r>
            <a:endParaRPr lang="en-US" sz="2800" dirty="0"/>
          </a:p>
        </p:txBody>
      </p:sp>
      <p:graphicFrame>
        <p:nvGraphicFramePr>
          <p:cNvPr id="16" name="grafico-modelos" descr=""/>
          <p:cNvGraphicFramePr/>
          <p:nvPr/>
        </p:nvGraphicFramePr>
        <p:xfrm>
          <a:off x="548640" y="160020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legenda"/>
          <p:cNvSpPr txBox="1"/>
          <p:nvPr/>
        </p:nvSpPr>
        <p:spPr>
          <a:xfrm>
            <a:off x="548640" y="5760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3 – F1-macro dos quatro modelos no conjunto de teste</a:t>
            </a:r>
            <a:endParaRPr lang="en-US" sz="1000" dirty="0"/>
          </a:p>
        </p:txBody>
      </p:sp>
      <p:sp>
        <p:nvSpPr>
          <p:cNvPr id="18" name="ic"/>
          <p:cNvSpPr/>
          <p:nvPr/>
        </p:nvSpPr>
        <p:spPr>
          <a:xfrm>
            <a:off x="7680960" y="1737360"/>
            <a:ext cx="3959352" cy="1325880"/>
          </a:xfrm>
          <a:prstGeom prst="roundRect">
            <a:avLst>
              <a:gd name="adj" fmla="val 55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863840" y="17830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A43"/>
                </a:solidFill>
              </a:rPr>
              <a:t>0,807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BERTimbau, IC 95% de 0,774 a 0,838; média de 3 sementes: 0,797</a:t>
            </a:r>
            <a:endParaRPr lang="en-US" sz="3400" dirty="0"/>
          </a:p>
        </p:txBody>
      </p:sp>
      <p:sp>
        <p:nvSpPr>
          <p:cNvPr id="20" name="mcnemar"/>
          <p:cNvSpPr/>
          <p:nvPr/>
        </p:nvSpPr>
        <p:spPr>
          <a:xfrm>
            <a:off x="7680960" y="3246120"/>
            <a:ext cx="3959352" cy="1143000"/>
          </a:xfrm>
          <a:prstGeom prst="roundRect">
            <a:avLst>
              <a:gd name="adj" fmla="val 64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863840" y="32918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p &lt; 10⁻⁴⁷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McNemar com Bonferroni, nos três pares</a:t>
            </a:r>
            <a:endParaRPr lang="en-US" sz="2600" dirty="0"/>
          </a:p>
        </p:txBody>
      </p:sp>
      <p:sp>
        <p:nvSpPr>
          <p:cNvPr id="22" name="h1"/>
          <p:cNvSpPr/>
          <p:nvPr/>
        </p:nvSpPr>
        <p:spPr>
          <a:xfrm>
            <a:off x="7680960" y="4572000"/>
            <a:ext cx="3959352" cy="1097280"/>
          </a:xfrm>
          <a:prstGeom prst="roundRect">
            <a:avLst>
              <a:gd name="adj" fmla="val 6667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863840" y="4617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</a:rPr>
              <a:t>H1 parcialmente confirmada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Bi-LSTM nunca supera a Floresta Aleatória (3 sementes)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conteúdo angolano o F1-macro cai 38,6 pontos (H4)</a:t>
            </a:r>
            <a:endParaRPr lang="en-US" sz="2800" dirty="0"/>
          </a:p>
        </p:txBody>
      </p:sp>
      <p:graphicFrame>
        <p:nvGraphicFramePr>
          <p:cNvPr id="16" name="grafico-h4" descr=""/>
          <p:cNvGraphicFramePr/>
          <p:nvPr/>
        </p:nvGraphicFramePr>
        <p:xfrm>
          <a:off x="548640" y="160020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legenda"/>
          <p:cNvSpPr txBox="1"/>
          <p:nvPr/>
        </p:nvSpPr>
        <p:spPr>
          <a:xfrm>
            <a:off x="548640" y="5760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4 – F1 do BERTimbau por categoria: corpus público e piloto angolano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Nota: o corpus público não tem Mobilização Hostil.</a:t>
            </a:r>
            <a:endParaRPr lang="en-US" sz="1000" dirty="0"/>
          </a:p>
        </p:txBody>
      </p:sp>
      <p:sp>
        <p:nvSpPr>
          <p:cNvPr id="18" name="queda"/>
          <p:cNvSpPr/>
          <p:nvPr/>
        </p:nvSpPr>
        <p:spPr>
          <a:xfrm>
            <a:off x="7818120" y="1737360"/>
            <a:ext cx="3822192" cy="1554480"/>
          </a:xfrm>
          <a:prstGeom prst="roundRect">
            <a:avLst>
              <a:gd name="adj" fmla="val 470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01000" y="1783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</a:rPr>
              <a:t>0,919 → 0,533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F1-macro: público → angolano (IC sem sobreposição)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7818120" y="3520440"/>
            <a:ext cx="38221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Desinformação: 0,99 → 0,24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Duas explicações que os dados não separam: estilo das notícias do Fake.br ou etiquetas mais amplas no piloto.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</a:rPr>
              <a:t>H4 confirmada, com reservas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Mobilização Hostil: −37,3 p.p. [30,6; 44,7]. Só YouTube sorteado: 0,535.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teste, 25% da ordenação encontra 80% das ameaças</a:t>
            </a:r>
            <a:endParaRPr lang="en-US" sz="2800" dirty="0"/>
          </a:p>
        </p:txBody>
      </p:sp>
      <p:graphicFrame>
        <p:nvGraphicFramePr>
          <p:cNvPr id="16" name="grafico-esforco" descr=""/>
          <p:cNvGraphicFramePr/>
          <p:nvPr/>
        </p:nvGraphicFramePr>
        <p:xfrm>
          <a:off x="548640" y="160020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legenda"/>
          <p:cNvSpPr txBox="1"/>
          <p:nvPr/>
        </p:nvSpPr>
        <p:spPr>
          <a:xfrm>
            <a:off x="548640" y="5760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5 – Curva de esforço numa ordenação de todo o conjunto de teste</a:t>
            </a:r>
            <a:endParaRPr lang="en-US" sz="1000" dirty="0"/>
          </a:p>
        </p:txBody>
      </p:sp>
      <p:sp>
        <p:nvSpPr>
          <p:cNvPr id="18" name="ponto-1"/>
          <p:cNvSpPr/>
          <p:nvPr/>
        </p:nvSpPr>
        <p:spPr>
          <a:xfrm>
            <a:off x="7818120" y="1691640"/>
            <a:ext cx="3822192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955280" y="16916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25%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9326880" y="16916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 ordenação revista encontra 80% das ameaças (BERTimbau, teste); no piloto, 49%</a:t>
            </a:r>
            <a:endParaRPr lang="en-US" sz="1200" dirty="0"/>
          </a:p>
        </p:txBody>
      </p:sp>
      <p:sp>
        <p:nvSpPr>
          <p:cNvPr id="21" name="ponto-2"/>
          <p:cNvSpPr/>
          <p:nvPr/>
        </p:nvSpPr>
        <p:spPr>
          <a:xfrm>
            <a:off x="7818120" y="3063240"/>
            <a:ext cx="3822192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955280" y="30632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</a:rPr>
              <a:t>927.ª</a:t>
            </a:r>
            <a:endParaRPr lang="en-US" sz="2600" dirty="0"/>
          </a:p>
        </p:txBody>
      </p:sp>
      <p:sp>
        <p:nvSpPr>
          <p:cNvPr id="23" name="Text 19"/>
          <p:cNvSpPr txBox="1"/>
          <p:nvPr/>
        </p:nvSpPr>
        <p:spPr>
          <a:xfrm>
            <a:off x="9326880" y="30632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posição mediana da Mobilização Hostil: a ordem segue a confiança, não a gravidade</a:t>
            </a:r>
            <a:endParaRPr lang="en-US" sz="1200" dirty="0"/>
          </a:p>
        </p:txBody>
      </p:sp>
      <p:sp>
        <p:nvSpPr>
          <p:cNvPr id="24" name="ponto-3"/>
          <p:cNvSpPr/>
          <p:nvPr/>
        </p:nvSpPr>
        <p:spPr>
          <a:xfrm>
            <a:off x="7818120" y="4434840"/>
            <a:ext cx="3822192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955280" y="44348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7400"/>
                </a:solidFill>
              </a:rPr>
              <a:t>28,7%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9326880" y="4434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 ameaças angolanas ficam entre os Normais (11,8% no teste): daí a amostra de controlo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publicação é processada em 0,6–0,7 s, sem GPU (H2)</a:t>
            </a:r>
            <a:endParaRPr lang="en-US" sz="2800" dirty="0"/>
          </a:p>
        </p:txBody>
      </p:sp>
      <p:sp>
        <p:nvSpPr>
          <p:cNvPr id="16" name="h2-1"/>
          <p:cNvSpPr/>
          <p:nvPr/>
        </p:nvSpPr>
        <p:spPr>
          <a:xfrm>
            <a:off x="548640" y="17830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icone-circulo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8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83130"/>
            <a:ext cx="342900" cy="342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</a:rPr>
              <a:t>0,6–0,7 s</a:t>
            </a:r>
            <a:endParaRPr lang="en-US" sz="36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publicação: importação, anonimização, classificação e gravação</a:t>
            </a:r>
            <a:endParaRPr lang="en-US" sz="1300" dirty="0"/>
          </a:p>
        </p:txBody>
      </p:sp>
      <p:sp>
        <p:nvSpPr>
          <p:cNvPr id="21" name="h2-2"/>
          <p:cNvSpPr/>
          <p:nvPr/>
        </p:nvSpPr>
        <p:spPr>
          <a:xfrm>
            <a:off x="4297680" y="17830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icone-circulo"/>
          <p:cNvSpPr/>
          <p:nvPr/>
        </p:nvSpPr>
        <p:spPr>
          <a:xfrm>
            <a:off x="4526280" y="2011680"/>
            <a:ext cx="685800" cy="6858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3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218313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52628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</a:rPr>
              <a:t>36 s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452628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até as primeiras publicações chegarem à fila, com gravação por sublotes</a:t>
            </a:r>
            <a:endParaRPr lang="en-US" sz="1300" dirty="0"/>
          </a:p>
        </p:txBody>
      </p:sp>
      <p:sp>
        <p:nvSpPr>
          <p:cNvPr id="26" name="h2-3"/>
          <p:cNvSpPr/>
          <p:nvPr/>
        </p:nvSpPr>
        <p:spPr>
          <a:xfrm>
            <a:off x="8046720" y="17830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icone-circulo"/>
          <p:cNvSpPr/>
          <p:nvPr/>
        </p:nvSpPr>
        <p:spPr>
          <a:xfrm>
            <a:off x="8275320" y="2011680"/>
            <a:ext cx="685800" cy="6858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8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2183130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27532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</a:rPr>
              <a:t>≤ 64</a:t>
            </a:r>
            <a:endParaRPr lang="en-US" sz="3600" dirty="0"/>
          </a:p>
        </p:txBody>
      </p:sp>
      <p:sp>
        <p:nvSpPr>
          <p:cNvPr id="30" name="Text 24"/>
          <p:cNvSpPr txBox="1"/>
          <p:nvPr/>
        </p:nvSpPr>
        <p:spPr>
          <a:xfrm>
            <a:off x="827532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publicações por recolha para todas chegarem em menos de 60 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</a:rPr>
              <a:t>Ensaio: 198 comentários reais, 3 repetições, processador Intel N100 com 8 GB de RAM.</a:t>
            </a:r>
            <a:endParaRPr lang="en-US" sz="1100" dirty="0"/>
          </a:p>
        </p:txBody>
      </p:sp>
      <p:sp>
        <p:nvSpPr>
          <p:cNvPr id="32" name="h2-decisao"/>
          <p:cNvSpPr/>
          <p:nvPr/>
        </p:nvSpPr>
        <p:spPr>
          <a:xfrm>
            <a:off x="548640" y="50292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6F2EC"/>
          </a:solidFill>
          <a:ln w="12700">
            <a:solidFill>
              <a:srgbClr val="E6F2EC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77240" y="5029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8A5F"/>
                </a:solidFill>
              </a:rPr>
              <a:t>H2: confirmada com condições</a:t>
            </a:r>
            <a:endParaRPr lang="en-US" sz="1600" dirty="0"/>
          </a:p>
        </p:txBody>
      </p:sp>
      <p:sp>
        <p:nvSpPr>
          <p:cNvPr id="34" name="h3-decisao"/>
          <p:cNvSpPr/>
          <p:nvPr/>
        </p:nvSpPr>
        <p:spPr>
          <a:xfrm>
            <a:off x="6199632" y="50292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428232" y="5029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F"/>
                </a:solidFill>
              </a:rPr>
              <a:t>H3: não testada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(sem corpus datado em torno de eventos)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estes resultados não permitem afirmar</a:t>
            </a:r>
            <a:endParaRPr lang="en-US" sz="2800" dirty="0"/>
          </a:p>
        </p:txBody>
      </p:sp>
      <p:sp>
        <p:nvSpPr>
          <p:cNvPr id="16" name="limitacao-1"/>
          <p:cNvSpPr/>
          <p:nvPr/>
        </p:nvSpPr>
        <p:spPr>
          <a:xfrm>
            <a:off x="548640" y="17373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icone-circulo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8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114550"/>
            <a:ext cx="297180" cy="2971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08760" y="196596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Piloto pequeno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26974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355 itens de teste; a Mobilização Hostil tem 47, com IC do F1 de 0,42 a 0,66</a:t>
            </a:r>
            <a:endParaRPr lang="en-US" sz="1300" dirty="0"/>
          </a:p>
        </p:txBody>
      </p:sp>
      <p:sp>
        <p:nvSpPr>
          <p:cNvPr id="21" name="limitacao-2"/>
          <p:cNvSpPr/>
          <p:nvPr/>
        </p:nvSpPr>
        <p:spPr>
          <a:xfrm>
            <a:off x="4307738" y="17373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icone-circulo"/>
          <p:cNvSpPr/>
          <p:nvPr/>
        </p:nvSpPr>
        <p:spPr>
          <a:xfrm>
            <a:off x="4536338" y="1965960"/>
            <a:ext cx="594360" cy="594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3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928" y="211455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267858" y="196596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Teste dominado pelo Brasil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536338" y="26974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91% do teste é brasileiro; para Angola, a estimativa é 0,53</a:t>
            </a:r>
            <a:endParaRPr lang="en-US" sz="1300" dirty="0"/>
          </a:p>
        </p:txBody>
      </p:sp>
      <p:sp>
        <p:nvSpPr>
          <p:cNvPr id="26" name="limitacao-3"/>
          <p:cNvSpPr/>
          <p:nvPr/>
        </p:nvSpPr>
        <p:spPr>
          <a:xfrm>
            <a:off x="8066837" y="17373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icone-circulo"/>
          <p:cNvSpPr/>
          <p:nvPr/>
        </p:nvSpPr>
        <p:spPr>
          <a:xfrm>
            <a:off x="8295437" y="1965960"/>
            <a:ext cx="594360" cy="594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8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027" y="2114550"/>
            <a:ext cx="297180" cy="29718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026957" y="196596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Desinformação em notícias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295437" y="26974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única fonte pública são notícias completas, não comentários</a:t>
            </a:r>
            <a:endParaRPr lang="en-US" sz="1300" dirty="0"/>
          </a:p>
        </p:txBody>
      </p:sp>
      <p:sp>
        <p:nvSpPr>
          <p:cNvPr id="31" name="limitacao-4"/>
          <p:cNvSpPr/>
          <p:nvPr/>
        </p:nvSpPr>
        <p:spPr>
          <a:xfrm>
            <a:off x="548640" y="37947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2" name="icone-circulo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3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71950"/>
            <a:ext cx="297180" cy="29718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508760" y="402336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Causas não separadas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77240" y="4754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Língua, plataforma, registo e construto das etiquetas variam ao mesmo tempo</a:t>
            </a:r>
            <a:endParaRPr lang="en-US" sz="1300" dirty="0"/>
          </a:p>
        </p:txBody>
      </p:sp>
      <p:sp>
        <p:nvSpPr>
          <p:cNvPr id="36" name="limitacao-5"/>
          <p:cNvSpPr/>
          <p:nvPr/>
        </p:nvSpPr>
        <p:spPr>
          <a:xfrm>
            <a:off x="4307738" y="37947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7" name="icone-circulo"/>
          <p:cNvSpPr/>
          <p:nvPr/>
        </p:nvSpPr>
        <p:spPr>
          <a:xfrm>
            <a:off x="4536338" y="4023360"/>
            <a:ext cx="594360" cy="5943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38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928" y="4171950"/>
            <a:ext cx="297180" cy="29718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5267858" y="402336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Uso real por medir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4536338" y="4754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Utilidade da fila com analistas e antecipação (H3) por avaliar</a:t>
            </a:r>
            <a:endParaRPr lang="en-US" sz="1300" dirty="0"/>
          </a:p>
        </p:txBody>
      </p:sp>
      <p:sp>
        <p:nvSpPr>
          <p:cNvPr id="41" name="limitacao-6"/>
          <p:cNvSpPr/>
          <p:nvPr/>
        </p:nvSpPr>
        <p:spPr>
          <a:xfrm>
            <a:off x="8066837" y="37947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2" name="icone-circulo"/>
          <p:cNvSpPr/>
          <p:nvPr/>
        </p:nvSpPr>
        <p:spPr>
          <a:xfrm>
            <a:off x="8295437" y="4023360"/>
            <a:ext cx="594360" cy="594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43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027" y="4171950"/>
            <a:ext cx="297180" cy="29718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9026957" y="402336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Segurança sem auditoria</a:t>
            </a:r>
            <a:endParaRPr lang="en-US" sz="1600" dirty="0"/>
          </a:p>
        </p:txBody>
      </p:sp>
      <p:sp>
        <p:nvSpPr>
          <p:cNvPr id="45" name="Text 36"/>
          <p:cNvSpPr txBox="1"/>
          <p:nvPr/>
        </p:nvSpPr>
        <p:spPr>
          <a:xfrm>
            <a:off x="8295437" y="47548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Boas práticas seguidas, mas sem testes de intrusão independentes</a:t>
            </a:r>
            <a:endParaRPr lang="en-US" sz="1300" dirty="0"/>
          </a:p>
        </p:txBody>
      </p:sp>
      <p:sp>
        <p:nvSpPr>
          <p:cNvPr id="46" name="Text 37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Fonte: Secção 5.4 da dissertação.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leve, num único servidor, com o analista no centro</a:t>
            </a:r>
            <a:endParaRPr lang="en-US" sz="2800" dirty="0"/>
          </a:p>
        </p:txBody>
      </p:sp>
      <p:pic>
        <p:nvPicPr>
          <p:cNvPr id="16" name="figura-arquitectura" descr="fig3_3_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184648" cy="4078224"/>
          </a:xfrm>
          <a:prstGeom prst="rect">
            <a:avLst/>
          </a:prstGeom>
        </p:spPr>
      </p:pic>
      <p:sp>
        <p:nvSpPr>
          <p:cNvPr id="17" name="legenda"/>
          <p:cNvSpPr txBox="1"/>
          <p:nvPr/>
        </p:nvSpPr>
        <p:spPr>
          <a:xfrm>
            <a:off x="548640" y="5760720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6 – Arquitectura em camadas do sistema</a:t>
            </a:r>
            <a:endParaRPr lang="en-US" sz="1000" dirty="0"/>
          </a:p>
        </p:txBody>
      </p:sp>
      <p:sp>
        <p:nvSpPr>
          <p:cNvPr id="18" name="icone-circulo"/>
          <p:cNvSpPr/>
          <p:nvPr/>
        </p:nvSpPr>
        <p:spPr>
          <a:xfrm>
            <a:off x="6172200" y="1682496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788" y="1815084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58000" y="1645920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Pseudonimização à entrada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Pseudónimo HMAC; telefones, endereços e menções mascarados</a:t>
            </a:r>
            <a:endParaRPr lang="en-US" sz="1400" dirty="0"/>
          </a:p>
        </p:txBody>
      </p:sp>
      <p:sp>
        <p:nvSpPr>
          <p:cNvPr id="21" name="icone-circulo"/>
          <p:cNvSpPr/>
          <p:nvPr/>
        </p:nvSpPr>
        <p:spPr>
          <a:xfrm>
            <a:off x="6172200" y="2368296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2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88" y="2500884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0" y="2331720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Sem perfis de pessoas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Publicações e agregados por categoria, período e província</a:t>
            </a:r>
            <a:endParaRPr lang="en-US" sz="1400" dirty="0"/>
          </a:p>
        </p:txBody>
      </p:sp>
      <p:sp>
        <p:nvSpPr>
          <p:cNvPr id="24" name="icone-circulo"/>
          <p:cNvSpPr/>
          <p:nvPr/>
        </p:nvSpPr>
        <p:spPr>
          <a:xfrm>
            <a:off x="6172200" y="3054096"/>
            <a:ext cx="530352" cy="53035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5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3186684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58000" y="3017520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Decisão sempre humana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 por analista, revisão cega e amostra de controlo</a:t>
            </a:r>
            <a:endParaRPr lang="en-US" sz="1400" dirty="0"/>
          </a:p>
        </p:txBody>
      </p:sp>
      <p:sp>
        <p:nvSpPr>
          <p:cNvPr id="27" name="icone-circulo"/>
          <p:cNvSpPr/>
          <p:nvPr/>
        </p:nvSpPr>
        <p:spPr>
          <a:xfrm>
            <a:off x="6172200" y="3739896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8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788" y="3872484"/>
            <a:ext cx="265176" cy="26517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858000" y="3703320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Contas e auditoria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Palavras-passe derivadas, recuperação sem e-mail, tudo registado</a:t>
            </a:r>
            <a:endParaRPr lang="en-US" sz="1400" dirty="0"/>
          </a:p>
        </p:txBody>
      </p:sp>
      <p:sp>
        <p:nvSpPr>
          <p:cNvPr id="30" name="icone-circulo"/>
          <p:cNvSpPr/>
          <p:nvPr/>
        </p:nvSpPr>
        <p:spPr>
          <a:xfrm>
            <a:off x="6172200" y="4425696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31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788" y="4558284"/>
            <a:ext cx="265176" cy="26517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858000" y="4389120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Funciona sem Internet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 bibliotecas nem serviços externos; recolha automática</a:t>
            </a:r>
            <a:endParaRPr lang="en-US" sz="1400" dirty="0"/>
          </a:p>
        </p:txBody>
      </p:sp>
      <p:sp>
        <p:nvSpPr>
          <p:cNvPr id="33" name="icone-circulo"/>
          <p:cNvSpPr/>
          <p:nvPr/>
        </p:nvSpPr>
        <p:spPr>
          <a:xfrm>
            <a:off x="6172200" y="5111496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34" name="i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4788" y="5244084"/>
            <a:ext cx="265176" cy="26517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858000" y="5074920"/>
            <a:ext cx="4782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121 testes automáticos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Todos aprovados na versão final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do sistema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548640" y="1719072"/>
            <a:ext cx="548640" cy="5486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164592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Panorama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que foi recolhido e o que o modelo sinalizou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1645920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0:25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2505456"/>
            <a:ext cx="548640" cy="5486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2432304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Fila e amostra de controlo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Decidir com as teclas 1 a 4, desfazer, revisão cega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2432304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1:00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321868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Alertas e mapa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Sino em tempo real, mapa por província, evolução semanal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3218688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1:00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4078224"/>
            <a:ext cx="548640" cy="5486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4078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4005072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Sobre o modelo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desempenho em Angola visível para o analista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303520" y="4005072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0:30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864608"/>
            <a:ext cx="548640" cy="5486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4791456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Lotes e contas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Registo de cada recolha, recuperação do acesso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303520" y="4791456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0:40</a:t>
            </a:r>
            <a:endParaRPr lang="en-US" sz="1500" dirty="0"/>
          </a:p>
        </p:txBody>
      </p:sp>
      <p:pic>
        <p:nvPicPr>
          <p:cNvPr id="36" name="captura-fila" descr="fig3_7_pa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691640"/>
            <a:ext cx="5102352" cy="2715768"/>
          </a:xfrm>
          <a:prstGeom prst="rect">
            <a:avLst/>
          </a:prstGeom>
        </p:spPr>
      </p:pic>
      <p:sp>
        <p:nvSpPr>
          <p:cNvPr id="37" name="legenda"/>
          <p:cNvSpPr txBox="1"/>
          <p:nvPr/>
        </p:nvSpPr>
        <p:spPr>
          <a:xfrm>
            <a:off x="6537960" y="446227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7 – Fila de revisão no modo de demonstração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Nota: dados fictícios e classificador simulado.</a:t>
            </a:r>
            <a:endParaRPr lang="en-US" sz="1000" dirty="0"/>
          </a:p>
        </p:txBody>
      </p:sp>
      <p:sp>
        <p:nvSpPr>
          <p:cNvPr id="38" name="comando"/>
          <p:cNvSpPr/>
          <p:nvPr/>
        </p:nvSpPr>
        <p:spPr>
          <a:xfrm>
            <a:off x="6537960" y="5166360"/>
            <a:ext cx="5102352" cy="685800"/>
          </a:xfrm>
          <a:prstGeom prst="roundRect">
            <a:avLst>
              <a:gd name="adj" fmla="val 10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720840" y="5166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uan.py servir --demonstracao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navegador: http://127.0.0.1:8000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5623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</a:rPr>
              <a:t>Duração total: 4:00, incluindo 0:25 de passagem para o navegador e regresso.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das hipóteses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Tabela 2 – Verificação formal das hipóteses de investigação</a:t>
            </a:r>
            <a:endParaRPr lang="en-US" sz="1100" dirty="0"/>
          </a:p>
        </p:txBody>
      </p:sp>
      <p:graphicFrame>
        <p:nvGraphicFramePr>
          <p:cNvPr id="18" name="tabela-hipotes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846320"/>
                <a:gridCol w="2587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Hipótese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Evidência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Decisão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H1. Modelos profundos superam os clássicos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BERTimbau +14,6 a +17,4 p.p., p &lt; 10⁻⁴⁷; Bi-LSTM nunca supera a Floresta Aleatória (3 sementes)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7400"/>
                          </a:solidFill>
                        </a:rPr>
                        <a:t>Parcialmente confirmada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H2. Menos de 60 s por publicação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0,6–0,7 s em CPU; primeiras na fila em 36 s; todas em &lt; 60 s até 64 por recolha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78A5F"/>
                          </a:solidFill>
                        </a:rPr>
                        <a:t>Confirmada com condições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H3. Antecedência ≥ 48 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Sem corpus datado em torno de eventos nem divisão cronológica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B7F"/>
                          </a:solidFill>
                        </a:rPr>
                        <a:t>Não testada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H4. Queda ≥ 5 p.p. em conteúdo angolano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F1-macro 0,919 → 0,533 (−38,6 p.p.); κ 0,88 → 0,44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</a:rPr>
                        <a:t>Confirmada, com reservas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Fonte: Capítulo 4 da dissertação.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ordena o trabalho; o analista decide</a:t>
            </a:r>
            <a:endParaRPr lang="en-US" sz="2800" dirty="0"/>
          </a:p>
        </p:txBody>
      </p:sp>
      <p:sp>
        <p:nvSpPr>
          <p:cNvPr id="16" name="conclusoes"/>
          <p:cNvSpPr/>
          <p:nvPr/>
        </p:nvSpPr>
        <p:spPr>
          <a:xfrm>
            <a:off x="548640" y="1691640"/>
            <a:ext cx="5440680" cy="4069080"/>
          </a:xfrm>
          <a:prstGeom prst="roundRect">
            <a:avLst>
              <a:gd name="adj" fmla="val 179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Conclusões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2331720"/>
            <a:ext cx="4937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Só o BERTimbau serve como classificador principal, com vantagem estatisticamente sólida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O desempenho não se transfere intacto para Angola: a estimativa realista é 0,53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Um sistema de triagem com revisão humana, auditável e de baixo custo é viável com software livre</a:t>
            </a:r>
            <a:endParaRPr lang="en-US" sz="1700" dirty="0"/>
          </a:p>
        </p:txBody>
      </p:sp>
      <p:sp>
        <p:nvSpPr>
          <p:cNvPr id="19" name="contributos"/>
          <p:cNvSpPr/>
          <p:nvPr/>
        </p:nvSpPr>
        <p:spPr>
          <a:xfrm>
            <a:off x="6199632" y="1691640"/>
            <a:ext cx="5440680" cy="4069080"/>
          </a:xfrm>
          <a:prstGeom prst="roundRect">
            <a:avLst>
              <a:gd name="adj" fmla="val 179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73952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931"/>
                </a:solidFill>
              </a:rPr>
              <a:t>Contributos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73952" y="2331720"/>
            <a:ext cx="4937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Primeiro corpus angolano anotado nestas quatro categorias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Medida da lacuna de domínio, com intervalos de confiança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Avaliação que inclui calibração e esforço de revisão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Protótipo de código aberto com protecção de dados desde a concepção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Recomendações: validar primeiro, usar depois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6459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Condições para uso institucional</a:t>
            </a:r>
            <a:endParaRPr lang="en-US" sz="1500" dirty="0"/>
          </a:p>
        </p:txBody>
      </p:sp>
      <p:sp>
        <p:nvSpPr>
          <p:cNvPr id="17" name="recomendacao-1"/>
          <p:cNvSpPr/>
          <p:nvPr/>
        </p:nvSpPr>
        <p:spPr>
          <a:xfrm>
            <a:off x="548640" y="21031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2331720"/>
            <a:ext cx="594360" cy="5943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219456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Avaliar a fila com analistas reais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Precisão no topo da fila, κ analista–sistema e amostra de controlo</a:t>
            </a:r>
            <a:endParaRPr lang="en-US" sz="1500" dirty="0"/>
          </a:p>
        </p:txBody>
      </p:sp>
      <p:sp>
        <p:nvSpPr>
          <p:cNvPr id="21" name="recomendacao-2"/>
          <p:cNvSpPr/>
          <p:nvPr/>
        </p:nvSpPr>
        <p:spPr>
          <a:xfrm>
            <a:off x="548640" y="32918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520440"/>
            <a:ext cx="594360" cy="5943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508760" y="33832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Obter parecer jurídico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Lei n.º 22/11, termos das plataformas e limites constitucionais</a:t>
            </a:r>
            <a:endParaRPr lang="en-US" sz="1500" dirty="0"/>
          </a:p>
        </p:txBody>
      </p:sp>
      <p:sp>
        <p:nvSpPr>
          <p:cNvPr id="25" name="recomendacao-3"/>
          <p:cNvSpPr/>
          <p:nvPr/>
        </p:nvSpPr>
        <p:spPr>
          <a:xfrm>
            <a:off x="548640" y="448056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4709160"/>
            <a:ext cx="594360" cy="5943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508760" y="45720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Ampliar o corpus angolano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Medir sempre em Angola; mais Mobilização Hostil e Desinformação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199632" y="16459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Trabalho futuro</a:t>
            </a:r>
            <a:endParaRPr lang="en-US" sz="1500" dirty="0"/>
          </a:p>
        </p:txBody>
      </p:sp>
      <p:sp>
        <p:nvSpPr>
          <p:cNvPr id="30" name="recomendacao-4"/>
          <p:cNvSpPr/>
          <p:nvPr/>
        </p:nvSpPr>
        <p:spPr>
          <a:xfrm>
            <a:off x="6199632" y="21031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82512" y="2331720"/>
            <a:ext cx="594360" cy="594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82512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7159752" y="219456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Substituir a fonte de desinformação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Publicações curtas, de preferência angolanas</a:t>
            </a:r>
            <a:endParaRPr lang="en-US" sz="1500" dirty="0"/>
          </a:p>
        </p:txBody>
      </p:sp>
      <p:sp>
        <p:nvSpPr>
          <p:cNvPr id="34" name="recomendacao-5"/>
          <p:cNvSpPr/>
          <p:nvPr/>
        </p:nvSpPr>
        <p:spPr>
          <a:xfrm>
            <a:off x="6199632" y="32918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82512" y="3520440"/>
            <a:ext cx="594360" cy="594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2512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7159752" y="33832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Adaptar o modelo ao domínio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Pré-treino com comentários angolanos; comparar com Albertina PT-PT</a:t>
            </a:r>
            <a:endParaRPr lang="en-US" sz="1500" dirty="0"/>
          </a:p>
        </p:txBody>
      </p:sp>
      <p:sp>
        <p:nvSpPr>
          <p:cNvPr id="38" name="recomendacao-6"/>
          <p:cNvSpPr/>
          <p:nvPr/>
        </p:nvSpPr>
        <p:spPr>
          <a:xfrm>
            <a:off x="6199632" y="448056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82512" y="4709160"/>
            <a:ext cx="594360" cy="5943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382512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7159752" y="45720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Ordenar a fila por gravidade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Calibrar as probabilidades e aprender com a amostra de controlo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Fonte: Capítulo 6 da dissertação (oito recomendações; aqui as seis principais).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Obrigado pela atenção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B931"/>
                </a:solidFill>
              </a:rPr>
              <a:t>Estou disponível para as perguntas e comentários do Júri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1"/>
                </a:solidFill>
              </a:rPr>
              <a:t>Manuel Gonga Muinga · Mestrado em Engenharia e Ciência de Dados · Universidade Agostinho Neto, Faculdade de Engenharia · Luanda, 2026</a:t>
            </a:r>
            <a:endParaRPr lang="en-US" sz="1200" dirty="0"/>
          </a:p>
        </p:txBody>
      </p:sp>
    </p:spTree>
  </p:cSld>
  <p:clrMapOvr>
    <a:masterClrMapping/>
  </p:clrMapOvr>
  <p:transition spd="med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A – Fila de revisão</a:t>
            </a:r>
            <a:endParaRPr lang="en-US" sz="2800" dirty="0"/>
          </a:p>
        </p:txBody>
      </p:sp>
      <p:pic>
        <p:nvPicPr>
          <p:cNvPr id="15" name="captura" descr="fig3_7_pa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978" y="1645920"/>
            <a:ext cx="7375740" cy="3931920"/>
          </a:xfrm>
          <a:prstGeom prst="rect">
            <a:avLst/>
          </a:prstGeom>
        </p:spPr>
      </p:pic>
      <p:sp>
        <p:nvSpPr>
          <p:cNvPr id="16" name="legenda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8 – Fila de revisão: sugestão, probabilidades e decisão por teclado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Nota: dados fictícios ou contas de exemplo; não descrevem pessoas reais.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B – Mapa por província</a:t>
            </a:r>
            <a:endParaRPr lang="en-US" sz="2800" dirty="0"/>
          </a:p>
        </p:txBody>
      </p:sp>
      <p:pic>
        <p:nvPicPr>
          <p:cNvPr id="15" name="captura" descr="fig3_8_m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041" y="1645920"/>
            <a:ext cx="5059614" cy="3931920"/>
          </a:xfrm>
          <a:prstGeom prst="rect">
            <a:avLst/>
          </a:prstGeom>
        </p:spPr>
      </p:pic>
      <p:sp>
        <p:nvSpPr>
          <p:cNvPr id="16" name="legenda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9 – Mapa por província com cartão de Benguela (últimos 90 dias)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Nota: dados fictícios ou contas de exemplo; não descrevem pessoas reais.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1"/>
          <p:cNvSpPr/>
          <p:nvPr/>
        </p:nvSpPr>
        <p:spPr>
          <a:xfrm>
            <a:off x="548640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3" name="agenda-texto-1"/>
          <p:cNvSpPr txBox="1"/>
          <p:nvPr/>
        </p:nvSpPr>
        <p:spPr>
          <a:xfrm>
            <a:off x="548640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1. Introdução</a:t>
            </a:r>
            <a:endParaRPr lang="en-US" sz="1100" dirty="0"/>
          </a:p>
        </p:txBody>
      </p:sp>
      <p:sp>
        <p:nvSpPr>
          <p:cNvPr id="4" name="agenda-2"/>
          <p:cNvSpPr/>
          <p:nvPr/>
        </p:nvSpPr>
        <p:spPr>
          <a:xfrm>
            <a:off x="2415997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5" name="agenda-texto-2"/>
          <p:cNvSpPr txBox="1"/>
          <p:nvPr/>
        </p:nvSpPr>
        <p:spPr>
          <a:xfrm>
            <a:off x="2415997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2. Revisão da literatura</a:t>
            </a:r>
            <a:endParaRPr lang="en-US" sz="1100" dirty="0"/>
          </a:p>
        </p:txBody>
      </p:sp>
      <p:sp>
        <p:nvSpPr>
          <p:cNvPr id="6" name="agenda-3"/>
          <p:cNvSpPr/>
          <p:nvPr/>
        </p:nvSpPr>
        <p:spPr>
          <a:xfrm>
            <a:off x="4283354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7" name="agenda-texto-3"/>
          <p:cNvSpPr txBox="1"/>
          <p:nvPr/>
        </p:nvSpPr>
        <p:spPr>
          <a:xfrm>
            <a:off x="4283354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3. Metodologia</a:t>
            </a:r>
            <a:endParaRPr lang="en-US" sz="1100" dirty="0"/>
          </a:p>
        </p:txBody>
      </p:sp>
      <p:sp>
        <p:nvSpPr>
          <p:cNvPr id="8" name="agenda-4"/>
          <p:cNvSpPr/>
          <p:nvPr/>
        </p:nvSpPr>
        <p:spPr>
          <a:xfrm>
            <a:off x="6150712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9" name="agenda-texto-4"/>
          <p:cNvSpPr txBox="1"/>
          <p:nvPr/>
        </p:nvSpPr>
        <p:spPr>
          <a:xfrm>
            <a:off x="6150712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4. Resultados</a:t>
            </a:r>
            <a:endParaRPr lang="en-US" sz="1100" dirty="0"/>
          </a:p>
        </p:txBody>
      </p:sp>
      <p:sp>
        <p:nvSpPr>
          <p:cNvPr id="10" name="agenda-5"/>
          <p:cNvSpPr/>
          <p:nvPr/>
        </p:nvSpPr>
        <p:spPr>
          <a:xfrm>
            <a:off x="8018069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1" name="agenda-texto-5"/>
          <p:cNvSpPr txBox="1"/>
          <p:nvPr/>
        </p:nvSpPr>
        <p:spPr>
          <a:xfrm>
            <a:off x="8018069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Sistema</a:t>
            </a:r>
            <a:endParaRPr lang="en-US" sz="1100" dirty="0"/>
          </a:p>
        </p:txBody>
      </p:sp>
      <p:sp>
        <p:nvSpPr>
          <p:cNvPr id="12" name="agenda-6"/>
          <p:cNvSpPr/>
          <p:nvPr/>
        </p:nvSpPr>
        <p:spPr>
          <a:xfrm>
            <a:off x="9885426" y="219456"/>
            <a:ext cx="17576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13" name="agenda-texto-6"/>
          <p:cNvSpPr txBox="1"/>
          <p:nvPr/>
        </p:nvSpPr>
        <p:spPr>
          <a:xfrm>
            <a:off x="9885426" y="219456"/>
            <a:ext cx="1757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3"/>
                </a:solidFill>
              </a:rPr>
              <a:t>6. Conclusões</a:t>
            </a:r>
            <a:endParaRPr lang="en-US" sz="11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C – Recuperação do acesso</a:t>
            </a:r>
            <a:endParaRPr lang="en-US" sz="2800" dirty="0"/>
          </a:p>
        </p:txBody>
      </p:sp>
      <p:pic>
        <p:nvPicPr>
          <p:cNvPr id="15" name="captura" descr="fig3_12_recupe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533" y="1645920"/>
            <a:ext cx="5298630" cy="3931920"/>
          </a:xfrm>
          <a:prstGeom prst="rect">
            <a:avLst/>
          </a:prstGeom>
        </p:spPr>
      </p:pic>
      <p:sp>
        <p:nvSpPr>
          <p:cNvPr id="16" name="legenda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Figura 10 – Recuperação do acesso sem correio electrónico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Nota: dados fictícios ou contas de exemplo; não descrevem pessoas reais.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fesa UAN">
  <a:themeElements>
    <a:clrScheme name="Defesa UAN">
      <a:dk1>
        <a:srgbClr val="1B2733"/>
      </a:dk1>
      <a:lt1>
        <a:srgbClr val="FFFFFF"/>
      </a:lt1>
      <a:dk2>
        <a:srgbClr val="102A43"/>
      </a:dk2>
      <a:lt2>
        <a:srgbClr val="EEF2F6"/>
      </a:lt2>
      <a:accent1>
        <a:srgbClr val="102A43"/>
      </a:accent1>
      <a:accent2>
        <a:srgbClr val="C8102E"/>
      </a:accent2>
      <a:accent3>
        <a:srgbClr val="E8B931"/>
      </a:accent3>
      <a:accent4>
        <a:srgbClr val="2E6F9E"/>
      </a:accent4>
      <a:accent5>
        <a:srgbClr val="5B6B7F"/>
      </a:accent5>
      <a:accent6>
        <a:srgbClr val="178A5F"/>
      </a:accent6>
      <a:hlink>
        <a:srgbClr val="2E6F9E"/>
      </a:hlink>
      <a:folHlink>
        <a:srgbClr val="5B6B7F"/>
      </a:folHlink>
    </a:clrScheme>
    <a:fontScheme name="Defesa U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Monitoramento inteligente de ameaças em redes sociais em Angola</dc:title>
  <dc:subject>Defesa de dissertação de mestrado, UAN, 2026</dc:subject>
  <dc:creator>Manuel Gonga Muinga</dc:creator>
  <cp:lastModifiedBy>Manuel Gonga Muinga</cp:lastModifiedBy>
  <cp:revision>1</cp:revision>
  <dcterms:created xsi:type="dcterms:W3CDTF">2026-10-27T22:37:57Z</dcterms:created>
  <dcterms:modified xsi:type="dcterms:W3CDTF">2026-10-27T22:37:57Z</dcterms:modified>
</cp:coreProperties>
</file>